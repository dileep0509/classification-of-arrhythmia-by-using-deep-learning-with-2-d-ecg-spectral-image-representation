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400" y="-2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D57B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A83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D57B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A83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D57B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329" y="116840"/>
            <a:ext cx="216535" cy="2159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1305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0" y="257810"/>
                </a:lnTo>
                <a:lnTo>
                  <a:pt x="16510" y="257810"/>
                </a:lnTo>
                <a:lnTo>
                  <a:pt x="16510" y="165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0354" y="6223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256540" y="0"/>
                </a:moveTo>
                <a:lnTo>
                  <a:pt x="3175" y="0"/>
                </a:lnTo>
                <a:lnTo>
                  <a:pt x="0" y="3175"/>
                </a:lnTo>
                <a:lnTo>
                  <a:pt x="0" y="256540"/>
                </a:lnTo>
                <a:lnTo>
                  <a:pt x="1270" y="257810"/>
                </a:lnTo>
                <a:lnTo>
                  <a:pt x="4445" y="259079"/>
                </a:lnTo>
                <a:lnTo>
                  <a:pt x="6350" y="258445"/>
                </a:lnTo>
                <a:lnTo>
                  <a:pt x="83185" y="181610"/>
                </a:lnTo>
                <a:lnTo>
                  <a:pt x="83820" y="180340"/>
                </a:lnTo>
                <a:lnTo>
                  <a:pt x="83820" y="83820"/>
                </a:lnTo>
                <a:lnTo>
                  <a:pt x="180340" y="83820"/>
                </a:lnTo>
                <a:lnTo>
                  <a:pt x="181610" y="83185"/>
                </a:lnTo>
                <a:lnTo>
                  <a:pt x="258445" y="6350"/>
                </a:lnTo>
                <a:lnTo>
                  <a:pt x="259079" y="4445"/>
                </a:lnTo>
                <a:lnTo>
                  <a:pt x="257810" y="1270"/>
                </a:lnTo>
                <a:lnTo>
                  <a:pt x="256540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4329" y="9725660"/>
            <a:ext cx="216535" cy="21717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13055" y="9725660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09">
                <a:moveTo>
                  <a:pt x="258445" y="240030"/>
                </a:moveTo>
                <a:lnTo>
                  <a:pt x="16510" y="240030"/>
                </a:lnTo>
                <a:lnTo>
                  <a:pt x="16510" y="0"/>
                </a:lnTo>
                <a:lnTo>
                  <a:pt x="0" y="0"/>
                </a:lnTo>
                <a:lnTo>
                  <a:pt x="0" y="240030"/>
                </a:lnTo>
                <a:lnTo>
                  <a:pt x="0" y="257810"/>
                </a:lnTo>
                <a:lnTo>
                  <a:pt x="258445" y="257810"/>
                </a:lnTo>
                <a:lnTo>
                  <a:pt x="258445" y="24003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00354" y="9737089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4445" y="0"/>
                </a:moveTo>
                <a:lnTo>
                  <a:pt x="1270" y="1269"/>
                </a:lnTo>
                <a:lnTo>
                  <a:pt x="0" y="2539"/>
                </a:lnTo>
                <a:lnTo>
                  <a:pt x="0" y="255903"/>
                </a:lnTo>
                <a:lnTo>
                  <a:pt x="3175" y="259079"/>
                </a:lnTo>
                <a:lnTo>
                  <a:pt x="256540" y="259079"/>
                </a:lnTo>
                <a:lnTo>
                  <a:pt x="257810" y="257808"/>
                </a:lnTo>
                <a:lnTo>
                  <a:pt x="259079" y="254634"/>
                </a:lnTo>
                <a:lnTo>
                  <a:pt x="258445" y="252729"/>
                </a:lnTo>
                <a:lnTo>
                  <a:pt x="181610" y="175894"/>
                </a:lnTo>
                <a:lnTo>
                  <a:pt x="180340" y="175259"/>
                </a:lnTo>
                <a:lnTo>
                  <a:pt x="83820" y="175259"/>
                </a:lnTo>
                <a:lnTo>
                  <a:pt x="83820" y="78739"/>
                </a:lnTo>
                <a:lnTo>
                  <a:pt x="83185" y="77469"/>
                </a:lnTo>
                <a:lnTo>
                  <a:pt x="6350" y="634"/>
                </a:lnTo>
                <a:lnTo>
                  <a:pt x="4445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32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1305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77074" y="116840"/>
            <a:ext cx="216534" cy="21590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07707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241935" y="16510"/>
                </a:lnTo>
                <a:lnTo>
                  <a:pt x="241935" y="257810"/>
                </a:lnTo>
                <a:lnTo>
                  <a:pt x="258445" y="2578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089139" y="6223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255904" y="0"/>
                </a:moveTo>
                <a:lnTo>
                  <a:pt x="2539" y="0"/>
                </a:lnTo>
                <a:lnTo>
                  <a:pt x="1269" y="1270"/>
                </a:lnTo>
                <a:lnTo>
                  <a:pt x="0" y="4445"/>
                </a:lnTo>
                <a:lnTo>
                  <a:pt x="634" y="6350"/>
                </a:lnTo>
                <a:lnTo>
                  <a:pt x="77469" y="83185"/>
                </a:lnTo>
                <a:lnTo>
                  <a:pt x="78739" y="83820"/>
                </a:lnTo>
                <a:lnTo>
                  <a:pt x="175259" y="83820"/>
                </a:lnTo>
                <a:lnTo>
                  <a:pt x="175259" y="180340"/>
                </a:lnTo>
                <a:lnTo>
                  <a:pt x="175894" y="181610"/>
                </a:lnTo>
                <a:lnTo>
                  <a:pt x="252729" y="258445"/>
                </a:lnTo>
                <a:lnTo>
                  <a:pt x="254634" y="259079"/>
                </a:lnTo>
                <a:lnTo>
                  <a:pt x="257809" y="257810"/>
                </a:lnTo>
                <a:lnTo>
                  <a:pt x="259079" y="256540"/>
                </a:lnTo>
                <a:lnTo>
                  <a:pt x="259079" y="3175"/>
                </a:lnTo>
                <a:lnTo>
                  <a:pt x="258444" y="2540"/>
                </a:lnTo>
                <a:lnTo>
                  <a:pt x="257809" y="1270"/>
                </a:lnTo>
                <a:lnTo>
                  <a:pt x="256539" y="635"/>
                </a:lnTo>
                <a:lnTo>
                  <a:pt x="255904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77074" y="9725660"/>
            <a:ext cx="216534" cy="217170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7077075" y="9725024"/>
            <a:ext cx="258445" cy="258445"/>
          </a:xfrm>
          <a:custGeom>
            <a:avLst/>
            <a:gdLst/>
            <a:ahLst/>
            <a:cxnLst/>
            <a:rect l="l" t="t" r="r" b="b"/>
            <a:pathLst>
              <a:path w="258445" h="258445">
                <a:moveTo>
                  <a:pt x="258445" y="0"/>
                </a:moveTo>
                <a:lnTo>
                  <a:pt x="241935" y="0"/>
                </a:lnTo>
                <a:lnTo>
                  <a:pt x="241935" y="240665"/>
                </a:lnTo>
                <a:lnTo>
                  <a:pt x="0" y="240665"/>
                </a:lnTo>
                <a:lnTo>
                  <a:pt x="0" y="241935"/>
                </a:lnTo>
                <a:lnTo>
                  <a:pt x="0" y="258445"/>
                </a:lnTo>
                <a:lnTo>
                  <a:pt x="258445" y="258445"/>
                </a:lnTo>
                <a:lnTo>
                  <a:pt x="258445" y="241935"/>
                </a:lnTo>
                <a:lnTo>
                  <a:pt x="250190" y="241935"/>
                </a:lnTo>
                <a:lnTo>
                  <a:pt x="250190" y="241300"/>
                </a:lnTo>
                <a:lnTo>
                  <a:pt x="258445" y="24130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089139" y="9737089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254634" y="0"/>
                </a:moveTo>
                <a:lnTo>
                  <a:pt x="252729" y="634"/>
                </a:lnTo>
                <a:lnTo>
                  <a:pt x="175894" y="77469"/>
                </a:lnTo>
                <a:lnTo>
                  <a:pt x="175259" y="78739"/>
                </a:lnTo>
                <a:lnTo>
                  <a:pt x="175259" y="175259"/>
                </a:lnTo>
                <a:lnTo>
                  <a:pt x="78739" y="175259"/>
                </a:lnTo>
                <a:lnTo>
                  <a:pt x="77469" y="175894"/>
                </a:lnTo>
                <a:lnTo>
                  <a:pt x="634" y="252729"/>
                </a:lnTo>
                <a:lnTo>
                  <a:pt x="0" y="254634"/>
                </a:lnTo>
                <a:lnTo>
                  <a:pt x="1269" y="257808"/>
                </a:lnTo>
                <a:lnTo>
                  <a:pt x="2539" y="259079"/>
                </a:lnTo>
                <a:lnTo>
                  <a:pt x="255904" y="259079"/>
                </a:lnTo>
                <a:lnTo>
                  <a:pt x="259079" y="255903"/>
                </a:lnTo>
                <a:lnTo>
                  <a:pt x="259079" y="2539"/>
                </a:lnTo>
                <a:lnTo>
                  <a:pt x="257809" y="1269"/>
                </a:lnTo>
                <a:lnTo>
                  <a:pt x="254634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727709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731837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71500" y="116205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571500" y="74930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571500" y="9925049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571500" y="9966324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354330" y="116839"/>
            <a:ext cx="216535" cy="215900"/>
          </a:xfrm>
          <a:custGeom>
            <a:avLst/>
            <a:gdLst/>
            <a:ahLst/>
            <a:cxnLst/>
            <a:rect l="l" t="t" r="r" b="b"/>
            <a:pathLst>
              <a:path w="216534" h="215900">
                <a:moveTo>
                  <a:pt x="216535" y="0"/>
                </a:moveTo>
                <a:lnTo>
                  <a:pt x="0" y="0"/>
                </a:lnTo>
                <a:lnTo>
                  <a:pt x="0" y="16510"/>
                </a:lnTo>
                <a:lnTo>
                  <a:pt x="0" y="215900"/>
                </a:lnTo>
                <a:lnTo>
                  <a:pt x="16510" y="215900"/>
                </a:lnTo>
                <a:lnTo>
                  <a:pt x="16510" y="16510"/>
                </a:lnTo>
                <a:lnTo>
                  <a:pt x="216535" y="16510"/>
                </a:lnTo>
                <a:lnTo>
                  <a:pt x="21653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1305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0" y="257810"/>
                </a:lnTo>
                <a:lnTo>
                  <a:pt x="16510" y="257810"/>
                </a:lnTo>
                <a:lnTo>
                  <a:pt x="16510" y="165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354330" y="9725660"/>
            <a:ext cx="216535" cy="217170"/>
          </a:xfrm>
          <a:custGeom>
            <a:avLst/>
            <a:gdLst/>
            <a:ahLst/>
            <a:cxnLst/>
            <a:rect l="l" t="t" r="r" b="b"/>
            <a:pathLst>
              <a:path w="216534" h="217170">
                <a:moveTo>
                  <a:pt x="216535" y="200660"/>
                </a:moveTo>
                <a:lnTo>
                  <a:pt x="16510" y="200660"/>
                </a:lnTo>
                <a:lnTo>
                  <a:pt x="16510" y="0"/>
                </a:lnTo>
                <a:lnTo>
                  <a:pt x="0" y="0"/>
                </a:lnTo>
                <a:lnTo>
                  <a:pt x="0" y="200660"/>
                </a:lnTo>
                <a:lnTo>
                  <a:pt x="0" y="217170"/>
                </a:lnTo>
                <a:lnTo>
                  <a:pt x="216535" y="217170"/>
                </a:lnTo>
                <a:lnTo>
                  <a:pt x="216535" y="20066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313055" y="9725660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09">
                <a:moveTo>
                  <a:pt x="258445" y="240030"/>
                </a:moveTo>
                <a:lnTo>
                  <a:pt x="16510" y="240030"/>
                </a:lnTo>
                <a:lnTo>
                  <a:pt x="16510" y="0"/>
                </a:lnTo>
                <a:lnTo>
                  <a:pt x="0" y="0"/>
                </a:lnTo>
                <a:lnTo>
                  <a:pt x="0" y="240030"/>
                </a:lnTo>
                <a:lnTo>
                  <a:pt x="0" y="257810"/>
                </a:lnTo>
                <a:lnTo>
                  <a:pt x="258445" y="257810"/>
                </a:lnTo>
                <a:lnTo>
                  <a:pt x="258445" y="24003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35432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1305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7077075" y="116839"/>
            <a:ext cx="216535" cy="215900"/>
          </a:xfrm>
          <a:custGeom>
            <a:avLst/>
            <a:gdLst/>
            <a:ahLst/>
            <a:cxnLst/>
            <a:rect l="l" t="t" r="r" b="b"/>
            <a:pathLst>
              <a:path w="216534" h="215900">
                <a:moveTo>
                  <a:pt x="216535" y="0"/>
                </a:moveTo>
                <a:lnTo>
                  <a:pt x="0" y="0"/>
                </a:lnTo>
                <a:lnTo>
                  <a:pt x="0" y="16510"/>
                </a:lnTo>
                <a:lnTo>
                  <a:pt x="200025" y="16510"/>
                </a:lnTo>
                <a:lnTo>
                  <a:pt x="200025" y="215900"/>
                </a:lnTo>
                <a:lnTo>
                  <a:pt x="216535" y="215900"/>
                </a:lnTo>
                <a:lnTo>
                  <a:pt x="216535" y="16510"/>
                </a:lnTo>
                <a:lnTo>
                  <a:pt x="21653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707707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241935" y="16510"/>
                </a:lnTo>
                <a:lnTo>
                  <a:pt x="241935" y="257810"/>
                </a:lnTo>
                <a:lnTo>
                  <a:pt x="258445" y="2578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077075" y="9725660"/>
            <a:ext cx="216535" cy="217170"/>
          </a:xfrm>
          <a:custGeom>
            <a:avLst/>
            <a:gdLst/>
            <a:ahLst/>
            <a:cxnLst/>
            <a:rect l="l" t="t" r="r" b="b"/>
            <a:pathLst>
              <a:path w="216534" h="217170">
                <a:moveTo>
                  <a:pt x="216535" y="0"/>
                </a:moveTo>
                <a:lnTo>
                  <a:pt x="200025" y="0"/>
                </a:lnTo>
                <a:lnTo>
                  <a:pt x="200025" y="200660"/>
                </a:lnTo>
                <a:lnTo>
                  <a:pt x="0" y="200660"/>
                </a:lnTo>
                <a:lnTo>
                  <a:pt x="0" y="217170"/>
                </a:lnTo>
                <a:lnTo>
                  <a:pt x="216535" y="217170"/>
                </a:lnTo>
                <a:lnTo>
                  <a:pt x="216535" y="200660"/>
                </a:lnTo>
                <a:lnTo>
                  <a:pt x="21653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077075" y="9725024"/>
            <a:ext cx="258445" cy="258445"/>
          </a:xfrm>
          <a:custGeom>
            <a:avLst/>
            <a:gdLst/>
            <a:ahLst/>
            <a:cxnLst/>
            <a:rect l="l" t="t" r="r" b="b"/>
            <a:pathLst>
              <a:path w="258445" h="258445">
                <a:moveTo>
                  <a:pt x="258445" y="0"/>
                </a:moveTo>
                <a:lnTo>
                  <a:pt x="241935" y="0"/>
                </a:lnTo>
                <a:lnTo>
                  <a:pt x="241935" y="240665"/>
                </a:lnTo>
                <a:lnTo>
                  <a:pt x="0" y="240665"/>
                </a:lnTo>
                <a:lnTo>
                  <a:pt x="0" y="241935"/>
                </a:lnTo>
                <a:lnTo>
                  <a:pt x="0" y="258445"/>
                </a:lnTo>
                <a:lnTo>
                  <a:pt x="258445" y="258445"/>
                </a:lnTo>
                <a:lnTo>
                  <a:pt x="258445" y="241935"/>
                </a:lnTo>
                <a:lnTo>
                  <a:pt x="250190" y="241935"/>
                </a:lnTo>
                <a:lnTo>
                  <a:pt x="250190" y="241300"/>
                </a:lnTo>
                <a:lnTo>
                  <a:pt x="258445" y="24130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727709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731837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571500" y="116205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571500" y="74930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571500" y="9925049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571500" y="9966324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914399" y="1659890"/>
            <a:ext cx="5943600" cy="28575"/>
          </a:xfrm>
          <a:custGeom>
            <a:avLst/>
            <a:gdLst/>
            <a:ahLst/>
            <a:cxnLst/>
            <a:rect l="l" t="t" r="r" b="b"/>
            <a:pathLst>
              <a:path w="5943600" h="28575">
                <a:moveTo>
                  <a:pt x="5943600" y="0"/>
                </a:moveTo>
                <a:lnTo>
                  <a:pt x="0" y="0"/>
                </a:lnTo>
                <a:lnTo>
                  <a:pt x="0" y="28575"/>
                </a:lnTo>
                <a:lnTo>
                  <a:pt x="5943600" y="28575"/>
                </a:lnTo>
                <a:lnTo>
                  <a:pt x="5943600" y="0"/>
                </a:lnTo>
                <a:close/>
              </a:path>
            </a:pathLst>
          </a:custGeom>
          <a:solidFill>
            <a:srgbClr val="123A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3" name="bg object 5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9299" y="2310384"/>
            <a:ext cx="6210300" cy="37971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D57B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4329" y="116840"/>
            <a:ext cx="216535" cy="2159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1305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0" y="257810"/>
                </a:lnTo>
                <a:lnTo>
                  <a:pt x="16510" y="257810"/>
                </a:lnTo>
                <a:lnTo>
                  <a:pt x="16510" y="165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0354" y="6223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256540" y="0"/>
                </a:moveTo>
                <a:lnTo>
                  <a:pt x="3175" y="0"/>
                </a:lnTo>
                <a:lnTo>
                  <a:pt x="0" y="3175"/>
                </a:lnTo>
                <a:lnTo>
                  <a:pt x="0" y="256540"/>
                </a:lnTo>
                <a:lnTo>
                  <a:pt x="1270" y="257810"/>
                </a:lnTo>
                <a:lnTo>
                  <a:pt x="4445" y="259079"/>
                </a:lnTo>
                <a:lnTo>
                  <a:pt x="6350" y="258445"/>
                </a:lnTo>
                <a:lnTo>
                  <a:pt x="83185" y="181610"/>
                </a:lnTo>
                <a:lnTo>
                  <a:pt x="83820" y="180340"/>
                </a:lnTo>
                <a:lnTo>
                  <a:pt x="83820" y="83820"/>
                </a:lnTo>
                <a:lnTo>
                  <a:pt x="180340" y="83820"/>
                </a:lnTo>
                <a:lnTo>
                  <a:pt x="181610" y="83185"/>
                </a:lnTo>
                <a:lnTo>
                  <a:pt x="258445" y="6350"/>
                </a:lnTo>
                <a:lnTo>
                  <a:pt x="259079" y="4445"/>
                </a:lnTo>
                <a:lnTo>
                  <a:pt x="257810" y="1270"/>
                </a:lnTo>
                <a:lnTo>
                  <a:pt x="256540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4329" y="9725660"/>
            <a:ext cx="216535" cy="21717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13055" y="9725660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09">
                <a:moveTo>
                  <a:pt x="258445" y="240030"/>
                </a:moveTo>
                <a:lnTo>
                  <a:pt x="16510" y="240030"/>
                </a:lnTo>
                <a:lnTo>
                  <a:pt x="16510" y="0"/>
                </a:lnTo>
                <a:lnTo>
                  <a:pt x="0" y="0"/>
                </a:lnTo>
                <a:lnTo>
                  <a:pt x="0" y="240030"/>
                </a:lnTo>
                <a:lnTo>
                  <a:pt x="0" y="257810"/>
                </a:lnTo>
                <a:lnTo>
                  <a:pt x="258445" y="257810"/>
                </a:lnTo>
                <a:lnTo>
                  <a:pt x="258445" y="24003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00354" y="9737089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4445" y="0"/>
                </a:moveTo>
                <a:lnTo>
                  <a:pt x="1270" y="1269"/>
                </a:lnTo>
                <a:lnTo>
                  <a:pt x="0" y="2539"/>
                </a:lnTo>
                <a:lnTo>
                  <a:pt x="0" y="255903"/>
                </a:lnTo>
                <a:lnTo>
                  <a:pt x="3175" y="259079"/>
                </a:lnTo>
                <a:lnTo>
                  <a:pt x="256540" y="259079"/>
                </a:lnTo>
                <a:lnTo>
                  <a:pt x="257810" y="257808"/>
                </a:lnTo>
                <a:lnTo>
                  <a:pt x="259079" y="254634"/>
                </a:lnTo>
                <a:lnTo>
                  <a:pt x="258445" y="252729"/>
                </a:lnTo>
                <a:lnTo>
                  <a:pt x="181610" y="175894"/>
                </a:lnTo>
                <a:lnTo>
                  <a:pt x="180340" y="175259"/>
                </a:lnTo>
                <a:lnTo>
                  <a:pt x="83820" y="175259"/>
                </a:lnTo>
                <a:lnTo>
                  <a:pt x="83820" y="78739"/>
                </a:lnTo>
                <a:lnTo>
                  <a:pt x="83185" y="77469"/>
                </a:lnTo>
                <a:lnTo>
                  <a:pt x="6350" y="634"/>
                </a:lnTo>
                <a:lnTo>
                  <a:pt x="4445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32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1305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77074" y="116840"/>
            <a:ext cx="216534" cy="21590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07707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241935" y="16510"/>
                </a:lnTo>
                <a:lnTo>
                  <a:pt x="241935" y="257810"/>
                </a:lnTo>
                <a:lnTo>
                  <a:pt x="258445" y="2578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089139" y="62230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255904" y="0"/>
                </a:moveTo>
                <a:lnTo>
                  <a:pt x="2539" y="0"/>
                </a:lnTo>
                <a:lnTo>
                  <a:pt x="1269" y="1270"/>
                </a:lnTo>
                <a:lnTo>
                  <a:pt x="0" y="4445"/>
                </a:lnTo>
                <a:lnTo>
                  <a:pt x="634" y="6350"/>
                </a:lnTo>
                <a:lnTo>
                  <a:pt x="77469" y="83185"/>
                </a:lnTo>
                <a:lnTo>
                  <a:pt x="78739" y="83820"/>
                </a:lnTo>
                <a:lnTo>
                  <a:pt x="175259" y="83820"/>
                </a:lnTo>
                <a:lnTo>
                  <a:pt x="175259" y="180340"/>
                </a:lnTo>
                <a:lnTo>
                  <a:pt x="175894" y="181610"/>
                </a:lnTo>
                <a:lnTo>
                  <a:pt x="252729" y="258445"/>
                </a:lnTo>
                <a:lnTo>
                  <a:pt x="254634" y="259079"/>
                </a:lnTo>
                <a:lnTo>
                  <a:pt x="257809" y="257810"/>
                </a:lnTo>
                <a:lnTo>
                  <a:pt x="259079" y="256540"/>
                </a:lnTo>
                <a:lnTo>
                  <a:pt x="259079" y="3175"/>
                </a:lnTo>
                <a:lnTo>
                  <a:pt x="258444" y="2540"/>
                </a:lnTo>
                <a:lnTo>
                  <a:pt x="257809" y="1270"/>
                </a:lnTo>
                <a:lnTo>
                  <a:pt x="256539" y="635"/>
                </a:lnTo>
                <a:lnTo>
                  <a:pt x="255904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77074" y="9725660"/>
            <a:ext cx="216534" cy="217170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7077075" y="9725024"/>
            <a:ext cx="258445" cy="258445"/>
          </a:xfrm>
          <a:custGeom>
            <a:avLst/>
            <a:gdLst/>
            <a:ahLst/>
            <a:cxnLst/>
            <a:rect l="l" t="t" r="r" b="b"/>
            <a:pathLst>
              <a:path w="258445" h="258445">
                <a:moveTo>
                  <a:pt x="258445" y="0"/>
                </a:moveTo>
                <a:lnTo>
                  <a:pt x="241935" y="0"/>
                </a:lnTo>
                <a:lnTo>
                  <a:pt x="241935" y="240665"/>
                </a:lnTo>
                <a:lnTo>
                  <a:pt x="0" y="240665"/>
                </a:lnTo>
                <a:lnTo>
                  <a:pt x="0" y="241935"/>
                </a:lnTo>
                <a:lnTo>
                  <a:pt x="0" y="258445"/>
                </a:lnTo>
                <a:lnTo>
                  <a:pt x="258445" y="258445"/>
                </a:lnTo>
                <a:lnTo>
                  <a:pt x="258445" y="241935"/>
                </a:lnTo>
                <a:lnTo>
                  <a:pt x="250190" y="241935"/>
                </a:lnTo>
                <a:lnTo>
                  <a:pt x="250190" y="241300"/>
                </a:lnTo>
                <a:lnTo>
                  <a:pt x="258445" y="24130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089139" y="9737089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79">
                <a:moveTo>
                  <a:pt x="254634" y="0"/>
                </a:moveTo>
                <a:lnTo>
                  <a:pt x="252729" y="634"/>
                </a:lnTo>
                <a:lnTo>
                  <a:pt x="175894" y="77469"/>
                </a:lnTo>
                <a:lnTo>
                  <a:pt x="175259" y="78739"/>
                </a:lnTo>
                <a:lnTo>
                  <a:pt x="175259" y="175259"/>
                </a:lnTo>
                <a:lnTo>
                  <a:pt x="78739" y="175259"/>
                </a:lnTo>
                <a:lnTo>
                  <a:pt x="77469" y="175894"/>
                </a:lnTo>
                <a:lnTo>
                  <a:pt x="634" y="252729"/>
                </a:lnTo>
                <a:lnTo>
                  <a:pt x="0" y="254634"/>
                </a:lnTo>
                <a:lnTo>
                  <a:pt x="1269" y="257808"/>
                </a:lnTo>
                <a:lnTo>
                  <a:pt x="2539" y="259079"/>
                </a:lnTo>
                <a:lnTo>
                  <a:pt x="255904" y="259079"/>
                </a:lnTo>
                <a:lnTo>
                  <a:pt x="259079" y="255903"/>
                </a:lnTo>
                <a:lnTo>
                  <a:pt x="259079" y="2539"/>
                </a:lnTo>
                <a:lnTo>
                  <a:pt x="257809" y="1269"/>
                </a:lnTo>
                <a:lnTo>
                  <a:pt x="254634" y="0"/>
                </a:lnTo>
                <a:close/>
              </a:path>
            </a:pathLst>
          </a:custGeom>
          <a:solidFill>
            <a:srgbClr val="A28A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727709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731837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71500" y="116205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571500" y="74930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571500" y="9925049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571500" y="9966324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354330" y="116839"/>
            <a:ext cx="216535" cy="215900"/>
          </a:xfrm>
          <a:custGeom>
            <a:avLst/>
            <a:gdLst/>
            <a:ahLst/>
            <a:cxnLst/>
            <a:rect l="l" t="t" r="r" b="b"/>
            <a:pathLst>
              <a:path w="216534" h="215900">
                <a:moveTo>
                  <a:pt x="216535" y="0"/>
                </a:moveTo>
                <a:lnTo>
                  <a:pt x="0" y="0"/>
                </a:lnTo>
                <a:lnTo>
                  <a:pt x="0" y="16510"/>
                </a:lnTo>
                <a:lnTo>
                  <a:pt x="0" y="215900"/>
                </a:lnTo>
                <a:lnTo>
                  <a:pt x="16510" y="215900"/>
                </a:lnTo>
                <a:lnTo>
                  <a:pt x="16510" y="16510"/>
                </a:lnTo>
                <a:lnTo>
                  <a:pt x="216535" y="16510"/>
                </a:lnTo>
                <a:lnTo>
                  <a:pt x="21653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1305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0" y="257810"/>
                </a:lnTo>
                <a:lnTo>
                  <a:pt x="16510" y="257810"/>
                </a:lnTo>
                <a:lnTo>
                  <a:pt x="16510" y="165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354330" y="9725660"/>
            <a:ext cx="216535" cy="217170"/>
          </a:xfrm>
          <a:custGeom>
            <a:avLst/>
            <a:gdLst/>
            <a:ahLst/>
            <a:cxnLst/>
            <a:rect l="l" t="t" r="r" b="b"/>
            <a:pathLst>
              <a:path w="216534" h="217170">
                <a:moveTo>
                  <a:pt x="216535" y="200660"/>
                </a:moveTo>
                <a:lnTo>
                  <a:pt x="16510" y="200660"/>
                </a:lnTo>
                <a:lnTo>
                  <a:pt x="16510" y="0"/>
                </a:lnTo>
                <a:lnTo>
                  <a:pt x="0" y="0"/>
                </a:lnTo>
                <a:lnTo>
                  <a:pt x="0" y="200660"/>
                </a:lnTo>
                <a:lnTo>
                  <a:pt x="0" y="217170"/>
                </a:lnTo>
                <a:lnTo>
                  <a:pt x="216535" y="217170"/>
                </a:lnTo>
                <a:lnTo>
                  <a:pt x="216535" y="20066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313055" y="9725660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09">
                <a:moveTo>
                  <a:pt x="258445" y="240030"/>
                </a:moveTo>
                <a:lnTo>
                  <a:pt x="16510" y="240030"/>
                </a:lnTo>
                <a:lnTo>
                  <a:pt x="16510" y="0"/>
                </a:lnTo>
                <a:lnTo>
                  <a:pt x="0" y="0"/>
                </a:lnTo>
                <a:lnTo>
                  <a:pt x="0" y="240030"/>
                </a:lnTo>
                <a:lnTo>
                  <a:pt x="0" y="257810"/>
                </a:lnTo>
                <a:lnTo>
                  <a:pt x="258445" y="257810"/>
                </a:lnTo>
                <a:lnTo>
                  <a:pt x="258445" y="24003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35432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1305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7077075" y="116839"/>
            <a:ext cx="216535" cy="215900"/>
          </a:xfrm>
          <a:custGeom>
            <a:avLst/>
            <a:gdLst/>
            <a:ahLst/>
            <a:cxnLst/>
            <a:rect l="l" t="t" r="r" b="b"/>
            <a:pathLst>
              <a:path w="216534" h="215900">
                <a:moveTo>
                  <a:pt x="216535" y="0"/>
                </a:moveTo>
                <a:lnTo>
                  <a:pt x="0" y="0"/>
                </a:lnTo>
                <a:lnTo>
                  <a:pt x="0" y="16510"/>
                </a:lnTo>
                <a:lnTo>
                  <a:pt x="200025" y="16510"/>
                </a:lnTo>
                <a:lnTo>
                  <a:pt x="200025" y="215900"/>
                </a:lnTo>
                <a:lnTo>
                  <a:pt x="216535" y="215900"/>
                </a:lnTo>
                <a:lnTo>
                  <a:pt x="216535" y="16510"/>
                </a:lnTo>
                <a:lnTo>
                  <a:pt x="21653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7077075" y="74929"/>
            <a:ext cx="258445" cy="257810"/>
          </a:xfrm>
          <a:custGeom>
            <a:avLst/>
            <a:gdLst/>
            <a:ahLst/>
            <a:cxnLst/>
            <a:rect l="l" t="t" r="r" b="b"/>
            <a:pathLst>
              <a:path w="258445" h="257810">
                <a:moveTo>
                  <a:pt x="258445" y="0"/>
                </a:moveTo>
                <a:lnTo>
                  <a:pt x="0" y="0"/>
                </a:lnTo>
                <a:lnTo>
                  <a:pt x="0" y="16510"/>
                </a:lnTo>
                <a:lnTo>
                  <a:pt x="241935" y="16510"/>
                </a:lnTo>
                <a:lnTo>
                  <a:pt x="241935" y="257810"/>
                </a:lnTo>
                <a:lnTo>
                  <a:pt x="258445" y="257810"/>
                </a:lnTo>
                <a:lnTo>
                  <a:pt x="258445" y="1651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077075" y="9725660"/>
            <a:ext cx="216535" cy="217170"/>
          </a:xfrm>
          <a:custGeom>
            <a:avLst/>
            <a:gdLst/>
            <a:ahLst/>
            <a:cxnLst/>
            <a:rect l="l" t="t" r="r" b="b"/>
            <a:pathLst>
              <a:path w="216534" h="217170">
                <a:moveTo>
                  <a:pt x="216535" y="0"/>
                </a:moveTo>
                <a:lnTo>
                  <a:pt x="200025" y="0"/>
                </a:lnTo>
                <a:lnTo>
                  <a:pt x="200025" y="200660"/>
                </a:lnTo>
                <a:lnTo>
                  <a:pt x="0" y="200660"/>
                </a:lnTo>
                <a:lnTo>
                  <a:pt x="0" y="217170"/>
                </a:lnTo>
                <a:lnTo>
                  <a:pt x="216535" y="217170"/>
                </a:lnTo>
                <a:lnTo>
                  <a:pt x="216535" y="200660"/>
                </a:lnTo>
                <a:lnTo>
                  <a:pt x="21653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077075" y="9725024"/>
            <a:ext cx="258445" cy="258445"/>
          </a:xfrm>
          <a:custGeom>
            <a:avLst/>
            <a:gdLst/>
            <a:ahLst/>
            <a:cxnLst/>
            <a:rect l="l" t="t" r="r" b="b"/>
            <a:pathLst>
              <a:path w="258445" h="258445">
                <a:moveTo>
                  <a:pt x="258445" y="0"/>
                </a:moveTo>
                <a:lnTo>
                  <a:pt x="241935" y="0"/>
                </a:lnTo>
                <a:lnTo>
                  <a:pt x="241935" y="240665"/>
                </a:lnTo>
                <a:lnTo>
                  <a:pt x="0" y="240665"/>
                </a:lnTo>
                <a:lnTo>
                  <a:pt x="0" y="241935"/>
                </a:lnTo>
                <a:lnTo>
                  <a:pt x="0" y="258445"/>
                </a:lnTo>
                <a:lnTo>
                  <a:pt x="258445" y="258445"/>
                </a:lnTo>
                <a:lnTo>
                  <a:pt x="258445" y="241935"/>
                </a:lnTo>
                <a:lnTo>
                  <a:pt x="250190" y="241935"/>
                </a:lnTo>
                <a:lnTo>
                  <a:pt x="250190" y="241300"/>
                </a:lnTo>
                <a:lnTo>
                  <a:pt x="258445" y="241300"/>
                </a:lnTo>
                <a:lnTo>
                  <a:pt x="2584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7277099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7318374" y="333375"/>
            <a:ext cx="17145" cy="9391650"/>
          </a:xfrm>
          <a:custGeom>
            <a:avLst/>
            <a:gdLst/>
            <a:ahLst/>
            <a:cxnLst/>
            <a:rect l="l" t="t" r="r" b="b"/>
            <a:pathLst>
              <a:path w="17145" h="9391650">
                <a:moveTo>
                  <a:pt x="17145" y="0"/>
                </a:moveTo>
                <a:lnTo>
                  <a:pt x="0" y="0"/>
                </a:lnTo>
                <a:lnTo>
                  <a:pt x="0" y="9391650"/>
                </a:lnTo>
                <a:lnTo>
                  <a:pt x="17145" y="9391650"/>
                </a:lnTo>
                <a:lnTo>
                  <a:pt x="1714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571500" y="116205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571500" y="74930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4">
                <a:moveTo>
                  <a:pt x="6505575" y="0"/>
                </a:moveTo>
                <a:lnTo>
                  <a:pt x="0" y="0"/>
                </a:lnTo>
                <a:lnTo>
                  <a:pt x="0" y="17145"/>
                </a:lnTo>
                <a:lnTo>
                  <a:pt x="6505575" y="17145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571500" y="9925049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DDBE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571500" y="9966324"/>
            <a:ext cx="6505575" cy="17145"/>
          </a:xfrm>
          <a:custGeom>
            <a:avLst/>
            <a:gdLst/>
            <a:ahLst/>
            <a:cxnLst/>
            <a:rect l="l" t="t" r="r" b="b"/>
            <a:pathLst>
              <a:path w="6505575" h="17145">
                <a:moveTo>
                  <a:pt x="6505575" y="0"/>
                </a:moveTo>
                <a:lnTo>
                  <a:pt x="0" y="0"/>
                </a:lnTo>
                <a:lnTo>
                  <a:pt x="0" y="17144"/>
                </a:lnTo>
                <a:lnTo>
                  <a:pt x="6505575" y="17144"/>
                </a:lnTo>
                <a:lnTo>
                  <a:pt x="6505575" y="0"/>
                </a:lnTo>
                <a:close/>
              </a:path>
            </a:pathLst>
          </a:custGeom>
          <a:solidFill>
            <a:srgbClr val="C4A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883666"/>
            <a:ext cx="158750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D57B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0480" y="2029710"/>
            <a:ext cx="5777865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A835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www.geeksforgeeks.org/introduction-machine-learnin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works.com/help/deeplearning/ref/nnet.cnn.layer.convolution2dlay" TargetMode="External"/><Relationship Id="rId2" Type="http://schemas.openxmlformats.org/officeDocument/2006/relationships/hyperlink" Target="http://www.analyticsvidhya.com/blog/2021/05/convolutional-neural-networks-cn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sp>
          <p:nvSpPr>
            <p:cNvPr id="3" name="object 3"/>
            <p:cNvSpPr/>
            <p:nvPr/>
          </p:nvSpPr>
          <p:spPr>
            <a:xfrm>
              <a:off x="781049" y="3866514"/>
              <a:ext cx="38100" cy="447675"/>
            </a:xfrm>
            <a:custGeom>
              <a:avLst/>
              <a:gdLst/>
              <a:ahLst/>
              <a:cxnLst/>
              <a:rect l="l" t="t" r="r" b="b"/>
              <a:pathLst>
                <a:path w="38100" h="447675">
                  <a:moveTo>
                    <a:pt x="3810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38100" y="4476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D5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19149" y="3866514"/>
              <a:ext cx="6038850" cy="447675"/>
            </a:xfrm>
            <a:custGeom>
              <a:avLst/>
              <a:gdLst/>
              <a:ahLst/>
              <a:cxnLst/>
              <a:rect l="l" t="t" r="r" b="b"/>
              <a:pathLst>
                <a:path w="6038850" h="447675">
                  <a:moveTo>
                    <a:pt x="60388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6038850" y="447675"/>
                  </a:lnTo>
                  <a:lnTo>
                    <a:pt x="6038850" y="0"/>
                  </a:lnTo>
                  <a:close/>
                </a:path>
              </a:pathLst>
            </a:custGeom>
            <a:solidFill>
              <a:srgbClr val="D9E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1049" y="4314189"/>
              <a:ext cx="38100" cy="581025"/>
            </a:xfrm>
            <a:custGeom>
              <a:avLst/>
              <a:gdLst/>
              <a:ahLst/>
              <a:cxnLst/>
              <a:rect l="l" t="t" r="r" b="b"/>
              <a:pathLst>
                <a:path w="38100" h="581025">
                  <a:moveTo>
                    <a:pt x="38100" y="0"/>
                  </a:moveTo>
                  <a:lnTo>
                    <a:pt x="0" y="0"/>
                  </a:lnTo>
                  <a:lnTo>
                    <a:pt x="0" y="581025"/>
                  </a:lnTo>
                  <a:lnTo>
                    <a:pt x="38100" y="58102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D5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9149" y="4314189"/>
              <a:ext cx="6038850" cy="581025"/>
            </a:xfrm>
            <a:custGeom>
              <a:avLst/>
              <a:gdLst/>
              <a:ahLst/>
              <a:cxnLst/>
              <a:rect l="l" t="t" r="r" b="b"/>
              <a:pathLst>
                <a:path w="6038850" h="581025">
                  <a:moveTo>
                    <a:pt x="6038850" y="0"/>
                  </a:moveTo>
                  <a:lnTo>
                    <a:pt x="0" y="0"/>
                  </a:lnTo>
                  <a:lnTo>
                    <a:pt x="0" y="581025"/>
                  </a:lnTo>
                  <a:lnTo>
                    <a:pt x="6038850" y="581025"/>
                  </a:lnTo>
                  <a:lnTo>
                    <a:pt x="6038850" y="0"/>
                  </a:lnTo>
                  <a:close/>
                </a:path>
              </a:pathLst>
            </a:custGeom>
            <a:solidFill>
              <a:srgbClr val="D9E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1049" y="4895214"/>
              <a:ext cx="38100" cy="409575"/>
            </a:xfrm>
            <a:custGeom>
              <a:avLst/>
              <a:gdLst/>
              <a:ahLst/>
              <a:cxnLst/>
              <a:rect l="l" t="t" r="r" b="b"/>
              <a:pathLst>
                <a:path w="38100" h="409575">
                  <a:moveTo>
                    <a:pt x="38100" y="0"/>
                  </a:moveTo>
                  <a:lnTo>
                    <a:pt x="0" y="0"/>
                  </a:lnTo>
                  <a:lnTo>
                    <a:pt x="0" y="409575"/>
                  </a:lnTo>
                  <a:lnTo>
                    <a:pt x="38100" y="40957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1D5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9149" y="4895214"/>
              <a:ext cx="6038850" cy="409575"/>
            </a:xfrm>
            <a:custGeom>
              <a:avLst/>
              <a:gdLst/>
              <a:ahLst/>
              <a:cxnLst/>
              <a:rect l="l" t="t" r="r" b="b"/>
              <a:pathLst>
                <a:path w="6038850" h="409575">
                  <a:moveTo>
                    <a:pt x="6038850" y="0"/>
                  </a:moveTo>
                  <a:lnTo>
                    <a:pt x="0" y="0"/>
                  </a:lnTo>
                  <a:lnTo>
                    <a:pt x="0" y="409575"/>
                  </a:lnTo>
                  <a:lnTo>
                    <a:pt x="6038850" y="409575"/>
                  </a:lnTo>
                  <a:lnTo>
                    <a:pt x="6038850" y="0"/>
                  </a:lnTo>
                  <a:close/>
                </a:path>
              </a:pathLst>
            </a:custGeom>
            <a:solidFill>
              <a:srgbClr val="D9E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691510" y="2444242"/>
            <a:ext cx="232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SMARTINTERNZ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727961" y="3042030"/>
            <a:ext cx="4316095" cy="1891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u="heavy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GUIDED</a:t>
            </a:r>
            <a:r>
              <a:rPr sz="1600" u="heavy" spc="-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600" u="heavy" spc="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PROJECT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600">
              <a:latin typeface="Trebuchet MS"/>
              <a:cs typeface="Trebuchet MS"/>
            </a:endParaRPr>
          </a:p>
          <a:p>
            <a:pPr marL="12700" marR="5080" algn="ctr">
              <a:lnSpc>
                <a:spcPct val="128099"/>
              </a:lnSpc>
            </a:pPr>
            <a:r>
              <a:rPr sz="1800" dirty="0">
                <a:latin typeface="Trebuchet MS"/>
                <a:cs typeface="Trebuchet MS"/>
              </a:rPr>
              <a:t>Classification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Arrhythmia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by </a:t>
            </a:r>
            <a:r>
              <a:rPr sz="1800" dirty="0">
                <a:latin typeface="Trebuchet MS"/>
                <a:cs typeface="Trebuchet MS"/>
              </a:rPr>
              <a:t>using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deep </a:t>
            </a:r>
            <a:r>
              <a:rPr sz="1800" spc="-25" dirty="0">
                <a:latin typeface="Trebuchet MS"/>
                <a:cs typeface="Trebuchet MS"/>
              </a:rPr>
              <a:t>learning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with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65" dirty="0">
                <a:latin typeface="Trebuchet MS"/>
                <a:cs typeface="Trebuchet MS"/>
              </a:rPr>
              <a:t>2-</a:t>
            </a:r>
            <a:r>
              <a:rPr sz="1800" spc="75" dirty="0">
                <a:latin typeface="Trebuchet MS"/>
                <a:cs typeface="Trebuchet MS"/>
              </a:rPr>
              <a:t>D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50" dirty="0">
                <a:latin typeface="Trebuchet MS"/>
                <a:cs typeface="Trebuchet MS"/>
              </a:rPr>
              <a:t>ECG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Spectral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Image Representation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95596" y="6114669"/>
            <a:ext cx="2366645" cy="1968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ahoma"/>
                <a:cs typeface="Tahoma"/>
              </a:rPr>
              <a:t>Team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ID:</a:t>
            </a:r>
            <a:endParaRPr sz="1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5"/>
              </a:spcBef>
            </a:pPr>
            <a:r>
              <a:rPr sz="1000" spc="-10" dirty="0">
                <a:solidFill>
                  <a:srgbClr val="212121"/>
                </a:solidFill>
                <a:latin typeface="Verdana"/>
                <a:cs typeface="Verdana"/>
              </a:rPr>
              <a:t>LTVIP2023TMID04419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b="1" dirty="0">
                <a:solidFill>
                  <a:srgbClr val="212121"/>
                </a:solidFill>
                <a:latin typeface="Verdana"/>
                <a:cs typeface="Verdana"/>
              </a:rPr>
              <a:t>Team</a:t>
            </a:r>
            <a:r>
              <a:rPr sz="1000" b="1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212121"/>
                </a:solidFill>
                <a:latin typeface="Verdana"/>
                <a:cs typeface="Verdana"/>
              </a:rPr>
              <a:t>Members: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Verdana"/>
              <a:cs typeface="Verdana"/>
            </a:endParaRPr>
          </a:p>
          <a:p>
            <a:pPr marL="469900" marR="38100">
              <a:lnSpc>
                <a:spcPct val="101299"/>
              </a:lnSpc>
            </a:pPr>
            <a:r>
              <a:rPr sz="1000" dirty="0">
                <a:solidFill>
                  <a:srgbClr val="212121"/>
                </a:solidFill>
                <a:latin typeface="Verdana"/>
                <a:cs typeface="Verdana"/>
              </a:rPr>
              <a:t>Chamantula</a:t>
            </a:r>
            <a:r>
              <a:rPr sz="1000" spc="28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Verdana"/>
                <a:cs typeface="Verdana"/>
              </a:rPr>
              <a:t>Pradeepkumar </a:t>
            </a:r>
            <a:r>
              <a:rPr sz="1000" dirty="0">
                <a:solidFill>
                  <a:srgbClr val="212121"/>
                </a:solidFill>
                <a:latin typeface="Verdana"/>
                <a:cs typeface="Verdana"/>
              </a:rPr>
              <a:t>Bandi</a:t>
            </a:r>
            <a:r>
              <a:rPr sz="1000" spc="-2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Verdana"/>
                <a:cs typeface="Verdana"/>
              </a:rPr>
              <a:t>Saikumar Ketharajupalli</a:t>
            </a:r>
            <a:r>
              <a:rPr sz="1000" spc="4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Verdana"/>
                <a:cs typeface="Verdana"/>
              </a:rPr>
              <a:t>Praveenkumar </a:t>
            </a:r>
            <a:r>
              <a:rPr sz="1000" dirty="0">
                <a:solidFill>
                  <a:srgbClr val="212121"/>
                </a:solidFill>
                <a:latin typeface="Verdana"/>
                <a:cs typeface="Verdana"/>
              </a:rPr>
              <a:t>Pilli</a:t>
            </a:r>
            <a:r>
              <a:rPr sz="1000" spc="-5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212121"/>
                </a:solidFill>
                <a:latin typeface="Verdana"/>
                <a:cs typeface="Verdana"/>
              </a:rPr>
              <a:t>Dileep</a:t>
            </a:r>
            <a:r>
              <a:rPr sz="1000" spc="-40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Verdana"/>
                <a:cs typeface="Verdana"/>
              </a:rPr>
              <a:t>Reddy</a:t>
            </a:r>
            <a:endParaRPr sz="1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1000" dirty="0">
                <a:solidFill>
                  <a:srgbClr val="212121"/>
                </a:solidFill>
                <a:latin typeface="Verdana"/>
                <a:cs typeface="Verdana"/>
              </a:rPr>
              <a:t>Muppidi</a:t>
            </a:r>
            <a:r>
              <a:rPr sz="1000" spc="-35" dirty="0">
                <a:solidFill>
                  <a:srgbClr val="212121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Verdana"/>
                <a:cs typeface="Verdana"/>
              </a:rPr>
              <a:t>Dhanush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295399"/>
            <a:ext cx="5943600" cy="5020310"/>
          </a:xfrm>
          <a:custGeom>
            <a:avLst/>
            <a:gdLst/>
            <a:ahLst/>
            <a:cxnLst/>
            <a:rect l="l" t="t" r="r" b="b"/>
            <a:pathLst>
              <a:path w="5943600" h="5020310">
                <a:moveTo>
                  <a:pt x="5943600" y="4991735"/>
                </a:moveTo>
                <a:lnTo>
                  <a:pt x="0" y="4991735"/>
                </a:lnTo>
                <a:lnTo>
                  <a:pt x="0" y="5020310"/>
                </a:lnTo>
                <a:lnTo>
                  <a:pt x="5943600" y="5020310"/>
                </a:lnTo>
                <a:lnTo>
                  <a:pt x="5943600" y="4991735"/>
                </a:lnTo>
                <a:close/>
              </a:path>
              <a:path w="5943600" h="5020310">
                <a:moveTo>
                  <a:pt x="5943600" y="0"/>
                </a:moveTo>
                <a:lnTo>
                  <a:pt x="0" y="0"/>
                </a:lnTo>
                <a:lnTo>
                  <a:pt x="0" y="28575"/>
                </a:lnTo>
                <a:lnTo>
                  <a:pt x="5943600" y="28575"/>
                </a:lnTo>
                <a:lnTo>
                  <a:pt x="5943600" y="0"/>
                </a:lnTo>
                <a:close/>
              </a:path>
            </a:pathLst>
          </a:custGeom>
          <a:solidFill>
            <a:srgbClr val="123A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04" y="921766"/>
            <a:ext cx="2212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D57BD"/>
                </a:solidFill>
                <a:latin typeface="Tahoma"/>
                <a:cs typeface="Tahoma"/>
              </a:rPr>
              <a:t>Project</a:t>
            </a:r>
            <a:r>
              <a:rPr sz="1800" b="1" spc="-125" dirty="0">
                <a:solidFill>
                  <a:srgbClr val="1D57BD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1D57BD"/>
                </a:solidFill>
                <a:latin typeface="Tahoma"/>
                <a:cs typeface="Tahoma"/>
              </a:rPr>
              <a:t>Description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1371345"/>
            <a:ext cx="5949315" cy="4168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1000"/>
              </a:lnSpc>
              <a:spcBef>
                <a:spcPts val="9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According</a:t>
            </a:r>
            <a:r>
              <a:rPr sz="1200" spc="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World</a:t>
            </a:r>
            <a:r>
              <a:rPr sz="1200" spc="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Health</a:t>
            </a:r>
            <a:r>
              <a:rPr sz="1200" spc="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Organization</a:t>
            </a:r>
            <a:r>
              <a:rPr sz="1200" spc="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(WHO),</a:t>
            </a:r>
            <a:r>
              <a:rPr sz="1200" spc="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cardiovascular</a:t>
            </a:r>
            <a:r>
              <a:rPr sz="1200" spc="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diseases</a:t>
            </a:r>
            <a:r>
              <a:rPr sz="1200" spc="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(CVDs)</a:t>
            </a:r>
            <a:r>
              <a:rPr sz="1200" spc="50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number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cause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death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today.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Over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17.7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million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people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died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CVDs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in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year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2017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all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over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world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about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31%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all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deaths,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over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75%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of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these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deaths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occur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low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middle-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income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countries.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Arrhythmia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representative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type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CVD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refers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any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irregular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change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normal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heart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rhythms.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There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several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types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arrhythmia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including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atrial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fibrillation,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premature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contraction,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ventricular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fibrillation,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tachycardia.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Although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single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arrhythmia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heartbeat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may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not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have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serious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impact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life,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continuous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arrhythmia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beats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result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fatal circumstances.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this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project,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build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effective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electrocardiogram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</a:t>
            </a:r>
            <a:r>
              <a:rPr sz="1200" b="1" dirty="0">
                <a:solidFill>
                  <a:srgbClr val="34465C"/>
                </a:solidFill>
                <a:latin typeface="Arial"/>
                <a:cs typeface="Arial"/>
              </a:rPr>
              <a:t>ECG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)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arrhythmia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classification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method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</a:t>
            </a:r>
            <a:r>
              <a:rPr sz="1200" b="1" dirty="0">
                <a:solidFill>
                  <a:srgbClr val="34465C"/>
                </a:solidFill>
                <a:latin typeface="Arial"/>
                <a:cs typeface="Arial"/>
              </a:rPr>
              <a:t>CNN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),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classify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ECG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into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seven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categories,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normal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other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six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different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types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of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arrhythmia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two-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dimensional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CNN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b="1" i="1" dirty="0">
                <a:solidFill>
                  <a:srgbClr val="34465C"/>
                </a:solidFill>
                <a:latin typeface="Arial"/>
                <a:cs typeface="Arial"/>
              </a:rPr>
              <a:t>grayscale</a:t>
            </a:r>
            <a:r>
              <a:rPr sz="1200" b="1" i="1" spc="-25" dirty="0">
                <a:solidFill>
                  <a:srgbClr val="34465C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34465C"/>
                </a:solidFill>
                <a:latin typeface="Arial"/>
                <a:cs typeface="Arial"/>
              </a:rPr>
              <a:t>ECG</a:t>
            </a:r>
            <a:r>
              <a:rPr sz="1200" b="1" i="1" spc="-40" dirty="0">
                <a:solidFill>
                  <a:srgbClr val="34465C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34465C"/>
                </a:solidFill>
                <a:latin typeface="Arial"/>
                <a:cs typeface="Arial"/>
              </a:rPr>
              <a:t>images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.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are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creating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web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application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where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user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selects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classified.</a:t>
            </a:r>
            <a:endParaRPr sz="1200">
              <a:latin typeface="Tahoma"/>
              <a:cs typeface="Tahoma"/>
            </a:endParaRPr>
          </a:p>
          <a:p>
            <a:pPr marL="12700" marR="184150">
              <a:lnSpc>
                <a:spcPct val="151000"/>
              </a:lnSpc>
              <a:spcBef>
                <a:spcPts val="1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into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trained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cited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class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displayed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on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webpage.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5835777"/>
            <a:ext cx="204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1D57BD"/>
                </a:solidFill>
                <a:latin typeface="Tahoma"/>
                <a:cs typeface="Tahoma"/>
              </a:rPr>
              <a:t>Project</a:t>
            </a:r>
            <a:r>
              <a:rPr sz="1800" b="1" spc="-10" dirty="0">
                <a:solidFill>
                  <a:srgbClr val="1D57BD"/>
                </a:solidFill>
                <a:latin typeface="Tahoma"/>
                <a:cs typeface="Tahoma"/>
              </a:rPr>
              <a:t> </a:t>
            </a:r>
            <a:r>
              <a:rPr sz="1800" b="1" spc="-45" dirty="0">
                <a:solidFill>
                  <a:srgbClr val="1D57BD"/>
                </a:solidFill>
                <a:latin typeface="Tahoma"/>
                <a:cs typeface="Tahoma"/>
              </a:rPr>
              <a:t>Objectives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6361557"/>
            <a:ext cx="5958205" cy="2273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end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this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project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I</a:t>
            </a:r>
            <a:endParaRPr sz="1200">
              <a:latin typeface="Tahoma"/>
              <a:cs typeface="Tahoma"/>
            </a:endParaRPr>
          </a:p>
          <a:p>
            <a:pPr marL="464820" marR="5080" indent="-224154">
              <a:lnSpc>
                <a:spcPct val="161700"/>
              </a:lnSpc>
              <a:buSzPct val="87500"/>
              <a:buFont typeface="Times New Roman"/>
              <a:buChar char="●"/>
              <a:tabLst>
                <a:tab pos="469265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knew</a:t>
            </a:r>
            <a:r>
              <a:rPr sz="1200" spc="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fundamental</a:t>
            </a:r>
            <a:r>
              <a:rPr sz="1200" spc="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concepts</a:t>
            </a:r>
            <a:r>
              <a:rPr sz="1200" spc="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techniques</a:t>
            </a:r>
            <a:r>
              <a:rPr sz="1200" spc="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Artificial</a:t>
            </a:r>
            <a:r>
              <a:rPr sz="1200" spc="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and 	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Networks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840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Gained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broad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understanding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data.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915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Worked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Sequential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type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modeling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885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Worked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Keras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capabilities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890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Worked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processing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techniques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875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knew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how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build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web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application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Flask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framework.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329" y="116840"/>
              <a:ext cx="216535" cy="21717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3055" y="74929"/>
              <a:ext cx="258445" cy="259079"/>
            </a:xfrm>
            <a:custGeom>
              <a:avLst/>
              <a:gdLst/>
              <a:ahLst/>
              <a:cxnLst/>
              <a:rect l="l" t="t" r="r" b="b"/>
              <a:pathLst>
                <a:path w="258445" h="259079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59080"/>
                  </a:lnTo>
                  <a:lnTo>
                    <a:pt x="16510" y="259080"/>
                  </a:lnTo>
                  <a:lnTo>
                    <a:pt x="16510" y="165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354" y="6223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6540" y="0"/>
                  </a:moveTo>
                  <a:lnTo>
                    <a:pt x="3175" y="0"/>
                  </a:lnTo>
                  <a:lnTo>
                    <a:pt x="0" y="3175"/>
                  </a:lnTo>
                  <a:lnTo>
                    <a:pt x="0" y="256540"/>
                  </a:lnTo>
                  <a:lnTo>
                    <a:pt x="1270" y="257810"/>
                  </a:lnTo>
                  <a:lnTo>
                    <a:pt x="4445" y="259079"/>
                  </a:lnTo>
                  <a:lnTo>
                    <a:pt x="6350" y="258445"/>
                  </a:lnTo>
                  <a:lnTo>
                    <a:pt x="83185" y="181610"/>
                  </a:lnTo>
                  <a:lnTo>
                    <a:pt x="83820" y="180340"/>
                  </a:lnTo>
                  <a:lnTo>
                    <a:pt x="83820" y="83820"/>
                  </a:lnTo>
                  <a:lnTo>
                    <a:pt x="180340" y="83820"/>
                  </a:lnTo>
                  <a:lnTo>
                    <a:pt x="181610" y="83185"/>
                  </a:lnTo>
                  <a:lnTo>
                    <a:pt x="258445" y="6350"/>
                  </a:lnTo>
                  <a:lnTo>
                    <a:pt x="259079" y="4445"/>
                  </a:lnTo>
                  <a:lnTo>
                    <a:pt x="257810" y="1270"/>
                  </a:lnTo>
                  <a:lnTo>
                    <a:pt x="256540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29" y="9725660"/>
              <a:ext cx="216535" cy="2171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3055" y="9725660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09">
                  <a:moveTo>
                    <a:pt x="258445" y="240030"/>
                  </a:moveTo>
                  <a:lnTo>
                    <a:pt x="16510" y="24003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40030"/>
                  </a:lnTo>
                  <a:lnTo>
                    <a:pt x="0" y="257810"/>
                  </a:lnTo>
                  <a:lnTo>
                    <a:pt x="258445" y="257810"/>
                  </a:lnTo>
                  <a:lnTo>
                    <a:pt x="258445" y="24003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0354" y="97370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4445" y="0"/>
                  </a:moveTo>
                  <a:lnTo>
                    <a:pt x="1270" y="1269"/>
                  </a:lnTo>
                  <a:lnTo>
                    <a:pt x="0" y="2539"/>
                  </a:lnTo>
                  <a:lnTo>
                    <a:pt x="0" y="255903"/>
                  </a:lnTo>
                  <a:lnTo>
                    <a:pt x="3175" y="259079"/>
                  </a:lnTo>
                  <a:lnTo>
                    <a:pt x="256540" y="259079"/>
                  </a:lnTo>
                  <a:lnTo>
                    <a:pt x="257810" y="257808"/>
                  </a:lnTo>
                  <a:lnTo>
                    <a:pt x="259079" y="254634"/>
                  </a:lnTo>
                  <a:lnTo>
                    <a:pt x="258445" y="252729"/>
                  </a:lnTo>
                  <a:lnTo>
                    <a:pt x="181610" y="175894"/>
                  </a:lnTo>
                  <a:lnTo>
                    <a:pt x="180340" y="175259"/>
                  </a:lnTo>
                  <a:lnTo>
                    <a:pt x="83820" y="175259"/>
                  </a:lnTo>
                  <a:lnTo>
                    <a:pt x="83820" y="78739"/>
                  </a:lnTo>
                  <a:lnTo>
                    <a:pt x="83185" y="77469"/>
                  </a:lnTo>
                  <a:lnTo>
                    <a:pt x="6350" y="634"/>
                  </a:lnTo>
                  <a:lnTo>
                    <a:pt x="4445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432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05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7074" y="116840"/>
              <a:ext cx="216534" cy="2171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77075" y="74929"/>
              <a:ext cx="258445" cy="259079"/>
            </a:xfrm>
            <a:custGeom>
              <a:avLst/>
              <a:gdLst/>
              <a:ahLst/>
              <a:cxnLst/>
              <a:rect l="l" t="t" r="r" b="b"/>
              <a:pathLst>
                <a:path w="258445" h="259079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41935" y="16510"/>
                  </a:lnTo>
                  <a:lnTo>
                    <a:pt x="241935" y="259080"/>
                  </a:lnTo>
                  <a:lnTo>
                    <a:pt x="258445" y="25908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89139" y="6223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5904" y="0"/>
                  </a:moveTo>
                  <a:lnTo>
                    <a:pt x="2539" y="0"/>
                  </a:lnTo>
                  <a:lnTo>
                    <a:pt x="1269" y="1270"/>
                  </a:lnTo>
                  <a:lnTo>
                    <a:pt x="0" y="4445"/>
                  </a:lnTo>
                  <a:lnTo>
                    <a:pt x="634" y="6350"/>
                  </a:lnTo>
                  <a:lnTo>
                    <a:pt x="77469" y="83185"/>
                  </a:lnTo>
                  <a:lnTo>
                    <a:pt x="78739" y="83820"/>
                  </a:lnTo>
                  <a:lnTo>
                    <a:pt x="175259" y="83820"/>
                  </a:lnTo>
                  <a:lnTo>
                    <a:pt x="175259" y="180340"/>
                  </a:lnTo>
                  <a:lnTo>
                    <a:pt x="175894" y="181610"/>
                  </a:lnTo>
                  <a:lnTo>
                    <a:pt x="252729" y="258445"/>
                  </a:lnTo>
                  <a:lnTo>
                    <a:pt x="254634" y="259079"/>
                  </a:lnTo>
                  <a:lnTo>
                    <a:pt x="257809" y="257810"/>
                  </a:lnTo>
                  <a:lnTo>
                    <a:pt x="259079" y="256540"/>
                  </a:lnTo>
                  <a:lnTo>
                    <a:pt x="259079" y="3175"/>
                  </a:lnTo>
                  <a:lnTo>
                    <a:pt x="258444" y="2540"/>
                  </a:lnTo>
                  <a:lnTo>
                    <a:pt x="257809" y="1270"/>
                  </a:lnTo>
                  <a:lnTo>
                    <a:pt x="256539" y="635"/>
                  </a:lnTo>
                  <a:lnTo>
                    <a:pt x="255904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7074" y="9725660"/>
              <a:ext cx="216534" cy="2171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077075" y="9725024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5" h="258445">
                  <a:moveTo>
                    <a:pt x="258445" y="0"/>
                  </a:moveTo>
                  <a:lnTo>
                    <a:pt x="241935" y="0"/>
                  </a:lnTo>
                  <a:lnTo>
                    <a:pt x="241935" y="240665"/>
                  </a:lnTo>
                  <a:lnTo>
                    <a:pt x="0" y="240665"/>
                  </a:lnTo>
                  <a:lnTo>
                    <a:pt x="0" y="241935"/>
                  </a:lnTo>
                  <a:lnTo>
                    <a:pt x="0" y="258445"/>
                  </a:lnTo>
                  <a:lnTo>
                    <a:pt x="258445" y="258445"/>
                  </a:lnTo>
                  <a:lnTo>
                    <a:pt x="258445" y="241935"/>
                  </a:lnTo>
                  <a:lnTo>
                    <a:pt x="250190" y="241935"/>
                  </a:lnTo>
                  <a:lnTo>
                    <a:pt x="250190" y="241300"/>
                  </a:lnTo>
                  <a:lnTo>
                    <a:pt x="258445" y="24130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89139" y="97370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4634" y="0"/>
                  </a:moveTo>
                  <a:lnTo>
                    <a:pt x="252729" y="634"/>
                  </a:lnTo>
                  <a:lnTo>
                    <a:pt x="175894" y="77469"/>
                  </a:lnTo>
                  <a:lnTo>
                    <a:pt x="175259" y="78739"/>
                  </a:lnTo>
                  <a:lnTo>
                    <a:pt x="175259" y="175259"/>
                  </a:lnTo>
                  <a:lnTo>
                    <a:pt x="78739" y="175259"/>
                  </a:lnTo>
                  <a:lnTo>
                    <a:pt x="77469" y="175894"/>
                  </a:lnTo>
                  <a:lnTo>
                    <a:pt x="634" y="252729"/>
                  </a:lnTo>
                  <a:lnTo>
                    <a:pt x="0" y="254634"/>
                  </a:lnTo>
                  <a:lnTo>
                    <a:pt x="1269" y="257808"/>
                  </a:lnTo>
                  <a:lnTo>
                    <a:pt x="2539" y="259079"/>
                  </a:lnTo>
                  <a:lnTo>
                    <a:pt x="255904" y="259079"/>
                  </a:lnTo>
                  <a:lnTo>
                    <a:pt x="259079" y="255903"/>
                  </a:lnTo>
                  <a:lnTo>
                    <a:pt x="259079" y="2539"/>
                  </a:lnTo>
                  <a:lnTo>
                    <a:pt x="257809" y="1269"/>
                  </a:lnTo>
                  <a:lnTo>
                    <a:pt x="254634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7709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837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1500" y="11620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1500" y="7493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1500" y="9925049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1500" y="9966324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4330" y="116839"/>
              <a:ext cx="216535" cy="217170"/>
            </a:xfrm>
            <a:custGeom>
              <a:avLst/>
              <a:gdLst/>
              <a:ahLst/>
              <a:cxnLst/>
              <a:rect l="l" t="t" r="r" b="b"/>
              <a:pathLst>
                <a:path w="216534" h="217170">
                  <a:moveTo>
                    <a:pt x="21653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17170"/>
                  </a:lnTo>
                  <a:lnTo>
                    <a:pt x="16510" y="217170"/>
                  </a:lnTo>
                  <a:lnTo>
                    <a:pt x="16510" y="16510"/>
                  </a:lnTo>
                  <a:lnTo>
                    <a:pt x="216535" y="16510"/>
                  </a:lnTo>
                  <a:lnTo>
                    <a:pt x="21653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3055" y="74929"/>
              <a:ext cx="258445" cy="259079"/>
            </a:xfrm>
            <a:custGeom>
              <a:avLst/>
              <a:gdLst/>
              <a:ahLst/>
              <a:cxnLst/>
              <a:rect l="l" t="t" r="r" b="b"/>
              <a:pathLst>
                <a:path w="258445" h="259079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59080"/>
                  </a:lnTo>
                  <a:lnTo>
                    <a:pt x="16510" y="259080"/>
                  </a:lnTo>
                  <a:lnTo>
                    <a:pt x="16510" y="165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4330" y="9725660"/>
              <a:ext cx="216535" cy="217170"/>
            </a:xfrm>
            <a:custGeom>
              <a:avLst/>
              <a:gdLst/>
              <a:ahLst/>
              <a:cxnLst/>
              <a:rect l="l" t="t" r="r" b="b"/>
              <a:pathLst>
                <a:path w="216534" h="217170">
                  <a:moveTo>
                    <a:pt x="216535" y="200660"/>
                  </a:moveTo>
                  <a:lnTo>
                    <a:pt x="16510" y="20066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00660"/>
                  </a:lnTo>
                  <a:lnTo>
                    <a:pt x="0" y="217170"/>
                  </a:lnTo>
                  <a:lnTo>
                    <a:pt x="216535" y="217170"/>
                  </a:lnTo>
                  <a:lnTo>
                    <a:pt x="216535" y="20066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3055" y="9725660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09">
                  <a:moveTo>
                    <a:pt x="258445" y="240030"/>
                  </a:moveTo>
                  <a:lnTo>
                    <a:pt x="16510" y="24003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40030"/>
                  </a:lnTo>
                  <a:lnTo>
                    <a:pt x="0" y="257810"/>
                  </a:lnTo>
                  <a:lnTo>
                    <a:pt x="258445" y="257810"/>
                  </a:lnTo>
                  <a:lnTo>
                    <a:pt x="258445" y="24003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432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305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77075" y="116839"/>
              <a:ext cx="216535" cy="217170"/>
            </a:xfrm>
            <a:custGeom>
              <a:avLst/>
              <a:gdLst/>
              <a:ahLst/>
              <a:cxnLst/>
              <a:rect l="l" t="t" r="r" b="b"/>
              <a:pathLst>
                <a:path w="216534" h="217170">
                  <a:moveTo>
                    <a:pt x="21653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00025" y="16510"/>
                  </a:lnTo>
                  <a:lnTo>
                    <a:pt x="200025" y="217170"/>
                  </a:lnTo>
                  <a:lnTo>
                    <a:pt x="216535" y="217170"/>
                  </a:lnTo>
                  <a:lnTo>
                    <a:pt x="216535" y="16510"/>
                  </a:lnTo>
                  <a:lnTo>
                    <a:pt x="21653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77075" y="74929"/>
              <a:ext cx="258445" cy="259079"/>
            </a:xfrm>
            <a:custGeom>
              <a:avLst/>
              <a:gdLst/>
              <a:ahLst/>
              <a:cxnLst/>
              <a:rect l="l" t="t" r="r" b="b"/>
              <a:pathLst>
                <a:path w="258445" h="259079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41935" y="16510"/>
                  </a:lnTo>
                  <a:lnTo>
                    <a:pt x="241935" y="259080"/>
                  </a:lnTo>
                  <a:lnTo>
                    <a:pt x="258445" y="25908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77075" y="9725660"/>
              <a:ext cx="216535" cy="217170"/>
            </a:xfrm>
            <a:custGeom>
              <a:avLst/>
              <a:gdLst/>
              <a:ahLst/>
              <a:cxnLst/>
              <a:rect l="l" t="t" r="r" b="b"/>
              <a:pathLst>
                <a:path w="216534" h="217170">
                  <a:moveTo>
                    <a:pt x="216535" y="0"/>
                  </a:moveTo>
                  <a:lnTo>
                    <a:pt x="200025" y="0"/>
                  </a:lnTo>
                  <a:lnTo>
                    <a:pt x="200025" y="200660"/>
                  </a:lnTo>
                  <a:lnTo>
                    <a:pt x="0" y="200660"/>
                  </a:lnTo>
                  <a:lnTo>
                    <a:pt x="0" y="217170"/>
                  </a:lnTo>
                  <a:lnTo>
                    <a:pt x="216535" y="217170"/>
                  </a:lnTo>
                  <a:lnTo>
                    <a:pt x="216535" y="200660"/>
                  </a:lnTo>
                  <a:lnTo>
                    <a:pt x="21653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077075" y="9725024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5" h="258445">
                  <a:moveTo>
                    <a:pt x="258445" y="0"/>
                  </a:moveTo>
                  <a:lnTo>
                    <a:pt x="241935" y="0"/>
                  </a:lnTo>
                  <a:lnTo>
                    <a:pt x="241935" y="240665"/>
                  </a:lnTo>
                  <a:lnTo>
                    <a:pt x="0" y="240665"/>
                  </a:lnTo>
                  <a:lnTo>
                    <a:pt x="0" y="241935"/>
                  </a:lnTo>
                  <a:lnTo>
                    <a:pt x="0" y="258445"/>
                  </a:lnTo>
                  <a:lnTo>
                    <a:pt x="258445" y="258445"/>
                  </a:lnTo>
                  <a:lnTo>
                    <a:pt x="258445" y="241935"/>
                  </a:lnTo>
                  <a:lnTo>
                    <a:pt x="250190" y="241935"/>
                  </a:lnTo>
                  <a:lnTo>
                    <a:pt x="250190" y="241300"/>
                  </a:lnTo>
                  <a:lnTo>
                    <a:pt x="258445" y="24130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7709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837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1500" y="11620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1500" y="7493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1500" y="9925049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1500" y="9966324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14399" y="1362074"/>
              <a:ext cx="5943600" cy="28575"/>
            </a:xfrm>
            <a:custGeom>
              <a:avLst/>
              <a:gdLst/>
              <a:ahLst/>
              <a:cxnLst/>
              <a:rect l="l" t="t" r="r" b="b"/>
              <a:pathLst>
                <a:path w="5943600" h="28575">
                  <a:moveTo>
                    <a:pt x="59436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943600" y="2857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123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902004" y="883666"/>
            <a:ext cx="2328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Literature</a:t>
            </a:r>
            <a:r>
              <a:rPr spc="-195" dirty="0"/>
              <a:t> </a:t>
            </a:r>
            <a:r>
              <a:rPr spc="-70" dirty="0"/>
              <a:t>Review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902004" y="1496128"/>
            <a:ext cx="5118100" cy="182181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400" b="1" spc="-10" dirty="0">
                <a:solidFill>
                  <a:srgbClr val="893B07"/>
                </a:solidFill>
                <a:latin typeface="Trebuchet MS"/>
                <a:cs typeface="Trebuchet MS"/>
              </a:rPr>
              <a:t>Problem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19400"/>
              </a:lnSpc>
              <a:spcBef>
                <a:spcPts val="4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Cardiovascular</a:t>
            </a:r>
            <a:r>
              <a:rPr sz="1200" spc="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diseases</a:t>
            </a:r>
            <a:r>
              <a:rPr sz="1200" spc="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(CVDs)</a:t>
            </a:r>
            <a:r>
              <a:rPr sz="1200" spc="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number</a:t>
            </a:r>
            <a:r>
              <a:rPr sz="1200" spc="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one</a:t>
            </a:r>
            <a:r>
              <a:rPr sz="1200" spc="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cause</a:t>
            </a:r>
            <a:r>
              <a:rPr sz="1200" spc="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death</a:t>
            </a:r>
            <a:r>
              <a:rPr sz="1200" spc="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today.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Over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17.7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million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people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died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CVDs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year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2017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all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over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world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about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31%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all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deaths,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over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75%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these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deaths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occur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50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low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middle-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income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countries.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Arrhythmia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representative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type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50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CVD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refers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any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irregular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change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normal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heart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rhythms.</a:t>
            </a:r>
            <a:endParaRPr sz="1200">
              <a:latin typeface="Tahoma"/>
              <a:cs typeface="Tahoma"/>
            </a:endParaRPr>
          </a:p>
          <a:p>
            <a:pPr marL="12700" marR="93345">
              <a:lnSpc>
                <a:spcPct val="119400"/>
              </a:lnSpc>
              <a:spcBef>
                <a:spcPts val="10"/>
              </a:spcBef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There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several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types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arrhythmia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including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atrial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fibrillation,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premature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contraction,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ventricular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fibrillation,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tachycardia.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02004" y="6276027"/>
            <a:ext cx="5101590" cy="22586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400" b="1" spc="-10" dirty="0">
                <a:solidFill>
                  <a:srgbClr val="893B07"/>
                </a:solidFill>
                <a:latin typeface="Trebuchet MS"/>
                <a:cs typeface="Trebuchet MS"/>
              </a:rPr>
              <a:t>Solution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19500"/>
              </a:lnSpc>
              <a:spcBef>
                <a:spcPts val="4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"ambulatory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electrocardiogram"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ECG)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about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 size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postcard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digital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camera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patient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1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2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days,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up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2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weeks.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test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measures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movement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electrical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signals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waves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through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heart.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These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signals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tell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heart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contract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(squeeze)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and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pump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blood.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patient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have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electrodes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taped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your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skin.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It's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painless,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although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some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people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have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mild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skin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irritation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tape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used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attach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electrodes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chest.They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do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everything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but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shower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or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bathe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while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wearing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electrodes.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After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test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period,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patient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go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back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your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doctor.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They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downloading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information.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400" y="3360420"/>
            <a:ext cx="5943600" cy="2971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816222"/>
            <a:ext cx="2943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Role</a:t>
            </a:r>
            <a:r>
              <a:rPr spc="-260" dirty="0"/>
              <a:t> </a:t>
            </a:r>
            <a:r>
              <a:rPr spc="-40" dirty="0"/>
              <a:t>of</a:t>
            </a:r>
            <a:r>
              <a:rPr spc="-245" dirty="0"/>
              <a:t> </a:t>
            </a:r>
            <a:r>
              <a:rPr spc="-80" dirty="0"/>
              <a:t>Deep</a:t>
            </a:r>
            <a:r>
              <a:rPr spc="-240" dirty="0"/>
              <a:t> </a:t>
            </a:r>
            <a:r>
              <a:rPr spc="-5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4258182"/>
            <a:ext cx="5959475" cy="483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0170">
              <a:lnSpc>
                <a:spcPct val="119500"/>
              </a:lnSpc>
              <a:spcBef>
                <a:spcPts val="9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branch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  <a:hlinkClick r:id="rId2"/>
              </a:rPr>
              <a:t>machine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  <a:hlinkClick r:id="rId2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  <a:hlinkClick r:id="rId2"/>
              </a:rPr>
              <a:t>learning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completely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based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artificial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networks,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going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mimic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human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brain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learning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also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kind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mimic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human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brain.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learning,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don’t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need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explicitly program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everything.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concept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new.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has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been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around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a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couple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years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now.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It’s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hype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nowadays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because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earlier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have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much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processing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power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lot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data.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last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20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years,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processing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power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increases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exponentially,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machine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came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picture.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ahoma"/>
              <a:cs typeface="Tahoma"/>
            </a:endParaRPr>
          </a:p>
          <a:p>
            <a:pPr marL="12700" marR="15875" indent="456565">
              <a:lnSpc>
                <a:spcPct val="120000"/>
              </a:lnSpc>
            </a:pP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Deep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learning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is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a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particular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kind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of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machine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learning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that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achieves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great</a:t>
            </a:r>
            <a:r>
              <a:rPr sz="1200" i="1" spc="-1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power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and </a:t>
            </a:r>
            <a:r>
              <a:rPr sz="1200" i="1" spc="-10" dirty="0">
                <a:solidFill>
                  <a:srgbClr val="34465C"/>
                </a:solidFill>
                <a:latin typeface="Times New Roman"/>
                <a:cs typeface="Times New Roman"/>
              </a:rPr>
              <a:t>flexibility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by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learning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to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34465C"/>
                </a:solidFill>
                <a:latin typeface="Times New Roman"/>
                <a:cs typeface="Times New Roman"/>
              </a:rPr>
              <a:t>represent</a:t>
            </a:r>
            <a:r>
              <a:rPr sz="1200" i="1" spc="-2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the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world</a:t>
            </a:r>
            <a:r>
              <a:rPr sz="1200" i="1" spc="-2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as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a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nested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hierarchy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of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concepts,</a:t>
            </a:r>
            <a:r>
              <a:rPr sz="1200" i="1" spc="-1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with</a:t>
            </a:r>
            <a:r>
              <a:rPr sz="1200" i="1" spc="-4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each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34465C"/>
                </a:solidFill>
                <a:latin typeface="Times New Roman"/>
                <a:cs typeface="Times New Roman"/>
              </a:rPr>
              <a:t>concept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defined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in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relation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to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simpler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concepts,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and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more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abstract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representations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computed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in</a:t>
            </a:r>
            <a:r>
              <a:rPr sz="1200" i="1" spc="-30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terms</a:t>
            </a:r>
            <a:r>
              <a:rPr sz="1200" i="1" spc="-25" dirty="0">
                <a:solidFill>
                  <a:srgbClr val="34465C"/>
                </a:solidFill>
                <a:latin typeface="Times New Roman"/>
                <a:cs typeface="Times New Roman"/>
              </a:rPr>
              <a:t> of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less</a:t>
            </a:r>
            <a:r>
              <a:rPr sz="1200" i="1" spc="-1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dirty="0">
                <a:solidFill>
                  <a:srgbClr val="34465C"/>
                </a:solidFill>
                <a:latin typeface="Times New Roman"/>
                <a:cs typeface="Times New Roman"/>
              </a:rPr>
              <a:t>abstract</a:t>
            </a:r>
            <a:r>
              <a:rPr sz="1200" i="1" spc="-15" dirty="0">
                <a:solidFill>
                  <a:srgbClr val="34465C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34465C"/>
                </a:solidFill>
                <a:latin typeface="Times New Roman"/>
                <a:cs typeface="Times New Roman"/>
              </a:rPr>
              <a:t>ones.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25" dirty="0">
                <a:solidFill>
                  <a:srgbClr val="893B07"/>
                </a:solidFill>
                <a:latin typeface="Arial"/>
                <a:cs typeface="Arial"/>
              </a:rPr>
              <a:t>CNN</a:t>
            </a:r>
            <a:endParaRPr sz="1400">
              <a:latin typeface="Arial"/>
              <a:cs typeface="Arial"/>
            </a:endParaRPr>
          </a:p>
          <a:p>
            <a:pPr marL="12700" marR="88900" algn="just">
              <a:lnSpc>
                <a:spcPct val="119600"/>
              </a:lnSpc>
              <a:spcBef>
                <a:spcPts val="4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field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learning,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(CNN)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among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class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of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deep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networks,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was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mostly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deployed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field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analyzing/image recognition.Convolutional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very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special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kind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method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endParaRPr sz="12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57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known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Convolution.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19200"/>
              </a:lnSpc>
              <a:spcBef>
                <a:spcPts val="114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Convolutional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networks(CNN)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consists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various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artificial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neurons.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Artificial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neurons,</a:t>
            </a:r>
            <a:r>
              <a:rPr sz="1200" spc="2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similar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neuron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cells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used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human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brain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for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passing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various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sensory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signals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other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responses,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mathematical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functions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4400" y="914400"/>
            <a:ext cx="5943600" cy="3409315"/>
            <a:chOff x="914400" y="914400"/>
            <a:chExt cx="5943600" cy="34093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914400"/>
              <a:ext cx="5924931" cy="262064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4400" y="4295140"/>
              <a:ext cx="5943600" cy="28575"/>
            </a:xfrm>
            <a:custGeom>
              <a:avLst/>
              <a:gdLst/>
              <a:ahLst/>
              <a:cxnLst/>
              <a:rect l="l" t="t" r="r" b="b"/>
              <a:pathLst>
                <a:path w="5943600" h="28575">
                  <a:moveTo>
                    <a:pt x="59436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943600" y="2857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123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99" y="1598930"/>
            <a:ext cx="5200650" cy="25336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2004" y="848614"/>
            <a:ext cx="5661660" cy="46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10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that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used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calculating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sum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various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giving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output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the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form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activation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value.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340478"/>
            <a:ext cx="5958840" cy="3917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60020">
              <a:lnSpc>
                <a:spcPct val="119600"/>
              </a:lnSpc>
              <a:spcBef>
                <a:spcPts val="10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behaviour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each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CNN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defined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value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its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weights.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When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fed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values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pixel),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artificial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neurons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CNN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recognizes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various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visual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features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specifications.</a:t>
            </a:r>
            <a:endParaRPr sz="1200">
              <a:latin typeface="Tahoma"/>
              <a:cs typeface="Tahoma"/>
            </a:endParaRPr>
          </a:p>
          <a:p>
            <a:pPr marL="12700" marR="106045">
              <a:lnSpc>
                <a:spcPct val="119600"/>
              </a:lnSpc>
              <a:spcBef>
                <a:spcPts val="120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When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give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into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CNN,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each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its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inner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layers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generates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various activation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maps.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Activation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maps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point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out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relevant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features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given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input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image.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Each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CNN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neurons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generally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takes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form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group/patch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of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pixel,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multiplies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their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values(colours)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value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its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weights,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adds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them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up,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and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them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through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respective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activation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function.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20000"/>
              </a:lnSpc>
              <a:spcBef>
                <a:spcPts val="119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first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(or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maybe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bottom)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CNN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usually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recognizes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various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features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such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edges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horizontally,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vertically,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diagonally.</a:t>
            </a:r>
            <a:endParaRPr sz="1200">
              <a:latin typeface="Tahoma"/>
              <a:cs typeface="Tahoma"/>
            </a:endParaRPr>
          </a:p>
          <a:p>
            <a:pPr marL="12700" marR="208279">
              <a:lnSpc>
                <a:spcPct val="119700"/>
              </a:lnSpc>
              <a:spcBef>
                <a:spcPts val="119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output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first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being</a:t>
            </a:r>
            <a:r>
              <a:rPr sz="1200" spc="-9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fed</a:t>
            </a:r>
            <a:r>
              <a:rPr sz="1200" spc="-9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next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layer,</a:t>
            </a:r>
            <a:r>
              <a:rPr sz="1200" spc="-8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turn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will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extract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other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complex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features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like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corners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combinations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of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edges.</a:t>
            </a:r>
            <a:endParaRPr sz="1200">
              <a:latin typeface="Tahoma"/>
              <a:cs typeface="Tahoma"/>
            </a:endParaRPr>
          </a:p>
          <a:p>
            <a:pPr marL="12700" marR="131445">
              <a:lnSpc>
                <a:spcPct val="119200"/>
              </a:lnSpc>
              <a:spcBef>
                <a:spcPts val="121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deeper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moves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into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neural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network,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more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start detecting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various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higher-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level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features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such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objects,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faces,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etc...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9" y="6989445"/>
            <a:ext cx="5943600" cy="28575"/>
          </a:xfrm>
          <a:custGeom>
            <a:avLst/>
            <a:gdLst/>
            <a:ahLst/>
            <a:cxnLst/>
            <a:rect l="l" t="t" r="r" b="b"/>
            <a:pathLst>
              <a:path w="5943600" h="28575">
                <a:moveTo>
                  <a:pt x="5943600" y="0"/>
                </a:moveTo>
                <a:lnTo>
                  <a:pt x="0" y="0"/>
                </a:lnTo>
                <a:lnTo>
                  <a:pt x="0" y="28574"/>
                </a:lnTo>
                <a:lnTo>
                  <a:pt x="5943600" y="28574"/>
                </a:lnTo>
                <a:lnTo>
                  <a:pt x="5943600" y="0"/>
                </a:lnTo>
                <a:close/>
              </a:path>
            </a:pathLst>
          </a:custGeom>
          <a:solidFill>
            <a:srgbClr val="123A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004" y="1359154"/>
            <a:ext cx="3089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Theoretical</a:t>
            </a:r>
            <a:r>
              <a:rPr spc="-190" dirty="0"/>
              <a:t> </a:t>
            </a:r>
            <a:r>
              <a:rPr spc="-75" dirty="0"/>
              <a:t>Experience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2004" y="4901056"/>
            <a:ext cx="5951855" cy="13430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prepare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project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following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below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steps:</a:t>
            </a:r>
            <a:endParaRPr sz="1200">
              <a:latin typeface="Tahoma"/>
              <a:cs typeface="Tahoma"/>
            </a:endParaRPr>
          </a:p>
          <a:p>
            <a:pPr marL="12700" marR="524510" indent="134620">
              <a:lnSpc>
                <a:spcPct val="119200"/>
              </a:lnSpc>
              <a:spcBef>
                <a:spcPts val="25"/>
              </a:spcBef>
              <a:buChar char="●"/>
              <a:tabLst>
                <a:tab pos="1473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working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Sequential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type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modeling,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Keras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capabilities,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image processing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techniques</a:t>
            </a:r>
            <a:endParaRPr sz="1200">
              <a:latin typeface="Tahoma"/>
              <a:cs typeface="Tahoma"/>
            </a:endParaRPr>
          </a:p>
          <a:p>
            <a:pPr marL="146050" indent="-133350">
              <a:lnSpc>
                <a:spcPct val="100000"/>
              </a:lnSpc>
              <a:spcBef>
                <a:spcPts val="275"/>
              </a:spcBef>
              <a:buChar char="●"/>
              <a:tabLst>
                <a:tab pos="14605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build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web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application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Flask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framework.</a:t>
            </a:r>
            <a:endParaRPr sz="1200">
              <a:latin typeface="Tahoma"/>
              <a:cs typeface="Tahoma"/>
            </a:endParaRPr>
          </a:p>
          <a:p>
            <a:pPr marL="12700" marR="5080" indent="134620">
              <a:lnSpc>
                <a:spcPct val="120000"/>
              </a:lnSpc>
              <a:buChar char="●"/>
              <a:tabLst>
                <a:tab pos="147320" algn="l"/>
              </a:tabLst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Afterwards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training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our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dataset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IBM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cloud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building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another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model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IBM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also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test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it.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6510908"/>
            <a:ext cx="4933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D57BD"/>
                </a:solidFill>
                <a:latin typeface="Trebuchet MS"/>
                <a:cs typeface="Trebuchet MS"/>
              </a:rPr>
              <a:t>HARDWARE</a:t>
            </a:r>
            <a:r>
              <a:rPr sz="2400" b="1" spc="-245" dirty="0">
                <a:solidFill>
                  <a:srgbClr val="1D57BD"/>
                </a:solidFill>
                <a:latin typeface="Trebuchet MS"/>
                <a:cs typeface="Trebuchet MS"/>
              </a:rPr>
              <a:t> </a:t>
            </a:r>
            <a:r>
              <a:rPr sz="2400" b="1" spc="-145" dirty="0">
                <a:solidFill>
                  <a:srgbClr val="1D57BD"/>
                </a:solidFill>
                <a:latin typeface="Trebuchet MS"/>
                <a:cs typeface="Trebuchet MS"/>
              </a:rPr>
              <a:t>&amp;</a:t>
            </a:r>
            <a:r>
              <a:rPr sz="2400" b="1" spc="-250" dirty="0">
                <a:solidFill>
                  <a:srgbClr val="1D57BD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1D57BD"/>
                </a:solidFill>
                <a:latin typeface="Trebuchet MS"/>
                <a:cs typeface="Trebuchet MS"/>
              </a:rPr>
              <a:t>SOFTWARE</a:t>
            </a:r>
            <a:r>
              <a:rPr sz="2400" b="1" spc="-240" dirty="0">
                <a:solidFill>
                  <a:srgbClr val="1D57B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1D57BD"/>
                </a:solidFill>
                <a:latin typeface="Trebuchet MS"/>
                <a:cs typeface="Trebuchet MS"/>
              </a:rPr>
              <a:t>Desgining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7152131"/>
            <a:ext cx="5790565" cy="17760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200" b="1" dirty="0">
                <a:solidFill>
                  <a:srgbClr val="893B07"/>
                </a:solidFill>
                <a:latin typeface="Arial"/>
                <a:cs typeface="Arial"/>
              </a:rPr>
              <a:t>Hardware</a:t>
            </a:r>
            <a:r>
              <a:rPr sz="1200" b="1" spc="-45" dirty="0">
                <a:solidFill>
                  <a:srgbClr val="893B07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893B07"/>
                </a:solidFill>
                <a:latin typeface="Arial"/>
                <a:cs typeface="Arial"/>
              </a:rPr>
              <a:t>Components</a:t>
            </a:r>
            <a:r>
              <a:rPr sz="1200" b="1" spc="-45" dirty="0">
                <a:solidFill>
                  <a:srgbClr val="893B07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893B07"/>
                </a:solidFill>
                <a:latin typeface="Arial"/>
                <a:cs typeface="Arial"/>
              </a:rPr>
              <a:t>used</a:t>
            </a:r>
            <a:endParaRPr sz="1200">
              <a:latin typeface="Arial"/>
              <a:cs typeface="Arial"/>
            </a:endParaRPr>
          </a:p>
          <a:p>
            <a:pPr marL="12700" marR="1066800">
              <a:lnSpc>
                <a:spcPts val="1730"/>
              </a:lnSpc>
              <a:spcBef>
                <a:spcPts val="9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Since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IBM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cloud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platform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execute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project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don’t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need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any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hardware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components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other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than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our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system.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200" b="1" dirty="0">
                <a:solidFill>
                  <a:srgbClr val="893B07"/>
                </a:solidFill>
                <a:latin typeface="Arial"/>
                <a:cs typeface="Arial"/>
              </a:rPr>
              <a:t>Software</a:t>
            </a:r>
            <a:r>
              <a:rPr sz="1200" b="1" spc="-25" dirty="0">
                <a:solidFill>
                  <a:srgbClr val="893B07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893B07"/>
                </a:solidFill>
                <a:latin typeface="Arial"/>
                <a:cs typeface="Arial"/>
              </a:rPr>
              <a:t>Components</a:t>
            </a:r>
            <a:r>
              <a:rPr sz="1200" b="1" spc="-25" dirty="0">
                <a:solidFill>
                  <a:srgbClr val="893B07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893B07"/>
                </a:solidFill>
                <a:latin typeface="Arial"/>
                <a:cs typeface="Arial"/>
              </a:rPr>
              <a:t>Used</a:t>
            </a:r>
            <a:endParaRPr sz="1200">
              <a:latin typeface="Arial"/>
              <a:cs typeface="Arial"/>
            </a:endParaRPr>
          </a:p>
          <a:p>
            <a:pPr marL="12700" marR="1119505">
              <a:lnSpc>
                <a:spcPts val="1730"/>
              </a:lnSpc>
              <a:spcBef>
                <a:spcPts val="9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Anaconda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Navigator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installed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our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system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Watson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studio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IBM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cloud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complete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project.</a:t>
            </a:r>
            <a:endParaRPr sz="1200">
              <a:latin typeface="Tahoma"/>
              <a:cs typeface="Tahoma"/>
            </a:endParaRPr>
          </a:p>
          <a:p>
            <a:pPr marL="466725">
              <a:lnSpc>
                <a:spcPct val="100000"/>
              </a:lnSpc>
              <a:spcBef>
                <a:spcPts val="180"/>
              </a:spcBef>
            </a:pPr>
            <a:r>
              <a:rPr sz="1200" b="1" i="1" dirty="0">
                <a:solidFill>
                  <a:srgbClr val="25563E"/>
                </a:solidFill>
                <a:latin typeface="Arial"/>
                <a:cs typeface="Arial"/>
              </a:rPr>
              <a:t>Anaconda</a:t>
            </a:r>
            <a:r>
              <a:rPr sz="1200" b="1" i="1" spc="-65" dirty="0">
                <a:solidFill>
                  <a:srgbClr val="25563E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5563E"/>
                </a:solidFill>
                <a:latin typeface="Arial"/>
                <a:cs typeface="Arial"/>
              </a:rPr>
              <a:t>Navigator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Anaconda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Navigator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free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open-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source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distribution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Python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R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3764" y="1837689"/>
            <a:ext cx="5942965" cy="6851650"/>
            <a:chOff x="913764" y="1837689"/>
            <a:chExt cx="5942965" cy="68516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764" y="1837689"/>
              <a:ext cx="5942965" cy="26809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1889" y="8571866"/>
              <a:ext cx="123734" cy="11747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48614"/>
            <a:ext cx="5965825" cy="81921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166370">
              <a:lnSpc>
                <a:spcPct val="119300"/>
              </a:lnSpc>
              <a:spcBef>
                <a:spcPts val="9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programming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languages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science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machine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related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applications.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It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installed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Windows,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Linux,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macOS.Conda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an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open-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source,</a:t>
            </a:r>
            <a:r>
              <a:rPr sz="1200" spc="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cross-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platform,</a:t>
            </a:r>
            <a:r>
              <a:rPr sz="1200" spc="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package</a:t>
            </a:r>
            <a:r>
              <a:rPr sz="1200" spc="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management</a:t>
            </a:r>
            <a:r>
              <a:rPr sz="1200" spc="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system.</a:t>
            </a:r>
            <a:r>
              <a:rPr sz="1200" spc="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Anaconda</a:t>
            </a:r>
            <a:r>
              <a:rPr sz="1200" spc="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comes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very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nice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tools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like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JupyterLab,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Jupyter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Notebook,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QtConsole,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Spyder,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Glueviz,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Orange,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Rstudio,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Visual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Studio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Code.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this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project,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using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Jupiter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notebook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spyder.</a:t>
            </a:r>
            <a:endParaRPr sz="1200">
              <a:latin typeface="Tahoma"/>
              <a:cs typeface="Tahoma"/>
            </a:endParaRPr>
          </a:p>
          <a:p>
            <a:pPr marL="466725">
              <a:lnSpc>
                <a:spcPct val="100000"/>
              </a:lnSpc>
              <a:spcBef>
                <a:spcPts val="290"/>
              </a:spcBef>
            </a:pPr>
            <a:r>
              <a:rPr sz="1200" b="1" i="1" dirty="0">
                <a:solidFill>
                  <a:srgbClr val="25563E"/>
                </a:solidFill>
                <a:latin typeface="Arial"/>
                <a:cs typeface="Arial"/>
              </a:rPr>
              <a:t>Watson</a:t>
            </a:r>
            <a:r>
              <a:rPr sz="1200" b="1" i="1" spc="-55" dirty="0">
                <a:solidFill>
                  <a:srgbClr val="25563E"/>
                </a:solidFill>
                <a:latin typeface="Arial"/>
                <a:cs typeface="Arial"/>
              </a:rPr>
              <a:t> </a:t>
            </a:r>
            <a:r>
              <a:rPr sz="1200" b="1" i="1" spc="-10" dirty="0">
                <a:solidFill>
                  <a:srgbClr val="25563E"/>
                </a:solidFill>
                <a:latin typeface="Arial"/>
                <a:cs typeface="Arial"/>
              </a:rPr>
              <a:t>Studio</a:t>
            </a: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27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Watson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Studio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core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services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Cloud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Pak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for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Service.</a:t>
            </a:r>
            <a:endParaRPr sz="1200">
              <a:latin typeface="Tahoma"/>
              <a:cs typeface="Tahoma"/>
            </a:endParaRPr>
          </a:p>
          <a:p>
            <a:pPr marL="469265" marR="5080">
              <a:lnSpc>
                <a:spcPct val="119500"/>
              </a:lnSpc>
              <a:spcBef>
                <a:spcPts val="1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Watson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Studio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provides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you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environment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tools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solve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your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business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problems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collaboratively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working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data.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You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can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choose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tools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you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need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analyze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visualize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data,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cleanse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shape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build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machine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models.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This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illustration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shows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how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architecture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Watson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Studio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centered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around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project.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project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workspace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where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you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organize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your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resources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work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data.</a:t>
            </a:r>
            <a:endParaRPr sz="1200">
              <a:latin typeface="Tahoma"/>
              <a:cs typeface="Tahoma"/>
            </a:endParaRPr>
          </a:p>
          <a:p>
            <a:pPr marL="469265">
              <a:lnSpc>
                <a:spcPct val="100000"/>
              </a:lnSpc>
              <a:spcBef>
                <a:spcPts val="28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Watson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Studio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projects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fully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integrate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catalogs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deployment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spaces:</a:t>
            </a:r>
            <a:endParaRPr sz="1200">
              <a:latin typeface="Tahoma"/>
              <a:cs typeface="Tahoma"/>
            </a:endParaRPr>
          </a:p>
          <a:p>
            <a:pPr marL="469265" marR="337820" indent="134620">
              <a:lnSpc>
                <a:spcPct val="119200"/>
              </a:lnSpc>
              <a:spcBef>
                <a:spcPts val="10"/>
              </a:spcBef>
              <a:buChar char="●"/>
              <a:tabLst>
                <a:tab pos="603885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Deployment</a:t>
            </a:r>
            <a:r>
              <a:rPr sz="1200" spc="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spaces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provided by</a:t>
            </a:r>
            <a:r>
              <a:rPr sz="1200" spc="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Watson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Machine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service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You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can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easily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move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assets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between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projects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deployment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spaces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130" dirty="0">
                <a:solidFill>
                  <a:srgbClr val="1D57BD"/>
                </a:solidFill>
                <a:latin typeface="Trebuchet MS"/>
                <a:cs typeface="Trebuchet MS"/>
              </a:rPr>
              <a:t>Experimental</a:t>
            </a:r>
            <a:r>
              <a:rPr sz="2400" b="1" spc="-145" dirty="0">
                <a:solidFill>
                  <a:srgbClr val="1D57BD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1D57BD"/>
                </a:solidFill>
                <a:latin typeface="Trebuchet MS"/>
                <a:cs typeface="Trebuchet MS"/>
              </a:rPr>
              <a:t>Investigations</a:t>
            </a:r>
            <a:endParaRPr sz="2400">
              <a:latin typeface="Trebuchet MS"/>
              <a:cs typeface="Trebuchet MS"/>
            </a:endParaRPr>
          </a:p>
          <a:p>
            <a:pPr marL="12700" marR="955675">
              <a:lnSpc>
                <a:spcPct val="119200"/>
              </a:lnSpc>
              <a:spcBef>
                <a:spcPts val="600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project,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have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deployed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our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training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CNN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IBM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Watson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studio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our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local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machine.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deploying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4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types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CNN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sequential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manner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,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starting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endParaRPr sz="1200">
              <a:latin typeface="Tahoma"/>
              <a:cs typeface="Tahoma"/>
            </a:endParaRPr>
          </a:p>
          <a:p>
            <a:pPr marL="469265" marR="35560" indent="-5080">
              <a:lnSpc>
                <a:spcPct val="119400"/>
              </a:lnSpc>
              <a:spcBef>
                <a:spcPts val="10"/>
              </a:spcBef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Convolutional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2D:A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2-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convolutional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applies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sliding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convolutional filters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2-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input.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convolves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moving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filters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along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the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vertically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horizontally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computing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dot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product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weights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and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input,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thenadding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bias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term.</a:t>
            </a:r>
            <a:endParaRPr sz="1200">
              <a:latin typeface="Tahoma"/>
              <a:cs typeface="Tahoma"/>
            </a:endParaRPr>
          </a:p>
          <a:p>
            <a:pPr marL="466725" marR="80645">
              <a:lnSpc>
                <a:spcPct val="119500"/>
              </a:lnSpc>
              <a:spcBef>
                <a:spcPts val="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Pooling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:Pooling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are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used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reduce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dimensions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feature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maps.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Thus,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it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reduces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number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parameters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amount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of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computation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performed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network.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pooling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summarises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the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features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present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region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feature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map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generated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layer. Fully-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Connected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:After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extracting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features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multiple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layers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pooling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layers,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fully-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connected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expand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connection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of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features.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Finally,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SoftMax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makes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logistic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regression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classification. Fully-connected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transfers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weighted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sum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output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previous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activation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function.</a:t>
            </a:r>
            <a:endParaRPr sz="1200">
              <a:latin typeface="Tahoma"/>
              <a:cs typeface="Tahoma"/>
            </a:endParaRPr>
          </a:p>
          <a:p>
            <a:pPr marL="466725">
              <a:lnSpc>
                <a:spcPct val="100000"/>
              </a:lnSpc>
              <a:spcBef>
                <a:spcPts val="290"/>
              </a:spcBef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Dropout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:There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usually</a:t>
            </a:r>
            <a:r>
              <a:rPr sz="1200" spc="-7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dropout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before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fully-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connected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layer.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4400" y="2266314"/>
            <a:ext cx="5943600" cy="6755130"/>
            <a:chOff x="914400" y="2266314"/>
            <a:chExt cx="5943600" cy="6755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90" y="2266314"/>
              <a:ext cx="123734" cy="1174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14400" y="5335904"/>
              <a:ext cx="5943600" cy="28575"/>
            </a:xfrm>
            <a:custGeom>
              <a:avLst/>
              <a:gdLst/>
              <a:ahLst/>
              <a:cxnLst/>
              <a:rect l="l" t="t" r="r" b="b"/>
              <a:pathLst>
                <a:path w="5943600" h="28575">
                  <a:moveTo>
                    <a:pt x="59436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943600" y="2857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123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90" y="6061201"/>
              <a:ext cx="123734" cy="1174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90" y="6935725"/>
              <a:ext cx="123734" cy="1174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90" y="7812025"/>
              <a:ext cx="123734" cy="11747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1890" y="8903552"/>
              <a:ext cx="123734" cy="11747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153" y="848614"/>
            <a:ext cx="5309870" cy="89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400"/>
              </a:lnSpc>
              <a:spcBef>
                <a:spcPts val="95"/>
              </a:spcBef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dropout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will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temporarily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disconnect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some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neurons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from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network according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certain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probability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during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training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of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convolution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neural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network,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reduces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joint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adaptability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between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neuron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nodes,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reduces overfitting,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enhances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generalization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ability.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9" y="1295399"/>
            <a:ext cx="5943600" cy="28575"/>
          </a:xfrm>
          <a:custGeom>
            <a:avLst/>
            <a:gdLst/>
            <a:ahLst/>
            <a:cxnLst/>
            <a:rect l="l" t="t" r="r" b="b"/>
            <a:pathLst>
              <a:path w="5943600" h="28575">
                <a:moveTo>
                  <a:pt x="5943600" y="0"/>
                </a:moveTo>
                <a:lnTo>
                  <a:pt x="0" y="0"/>
                </a:lnTo>
                <a:lnTo>
                  <a:pt x="0" y="28575"/>
                </a:lnTo>
                <a:lnTo>
                  <a:pt x="5943600" y="28575"/>
                </a:lnTo>
                <a:lnTo>
                  <a:pt x="5943600" y="0"/>
                </a:lnTo>
                <a:close/>
              </a:path>
            </a:pathLst>
          </a:custGeom>
          <a:solidFill>
            <a:srgbClr val="123A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04" y="921766"/>
            <a:ext cx="5930265" cy="610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solidFill>
                  <a:srgbClr val="1D57BD"/>
                </a:solidFill>
                <a:latin typeface="Tahoma"/>
                <a:cs typeface="Tahoma"/>
              </a:rPr>
              <a:t>Project</a:t>
            </a:r>
            <a:r>
              <a:rPr sz="1800" b="1" spc="-70" dirty="0">
                <a:solidFill>
                  <a:srgbClr val="1D57BD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1D57BD"/>
                </a:solidFill>
                <a:latin typeface="Tahoma"/>
                <a:cs typeface="Tahoma"/>
              </a:rPr>
              <a:t>Flow</a:t>
            </a:r>
            <a:endParaRPr sz="18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1355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User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interacts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with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User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interface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upload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290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Uploaded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analyzed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by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which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integrated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Once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analyses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uploaded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image,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prediction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is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showcased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UI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10"/>
              </a:spcBef>
              <a:buClr>
                <a:srgbClr val="34465C"/>
              </a:buClr>
              <a:buFont typeface="Times New Roman"/>
              <a:buChar char="●"/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accomplish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this,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we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have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complete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all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activities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tasks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listed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below.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1035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</a:t>
            </a:r>
            <a:r>
              <a:rPr sz="1200" spc="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Collection.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Collect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dataset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or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Create</a:t>
            </a:r>
            <a:r>
              <a:rPr sz="1200" spc="-1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dataset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280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</a:t>
            </a:r>
            <a:r>
              <a:rPr sz="1200" spc="114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Preprocessing.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90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Import</a:t>
            </a:r>
            <a:r>
              <a:rPr sz="1200" spc="-8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ImageDataGenerator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library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Configure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ImageDataGenerator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class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90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Apply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ImageDataGenerator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functionality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to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Train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dataset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Test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dataset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290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Building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75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Import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building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Libraries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Initializing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0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Adding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Input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Adding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Hidden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90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Adding</a:t>
            </a:r>
            <a:r>
              <a:rPr sz="1200" spc="-5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Output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Layer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90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Configure</a:t>
            </a:r>
            <a:r>
              <a:rPr sz="1200" spc="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Learning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Process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Training</a:t>
            </a:r>
            <a:r>
              <a:rPr sz="1200" spc="-7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and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testing</a:t>
            </a:r>
            <a:r>
              <a:rPr sz="1200" spc="-6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6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0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Optimize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Save</a:t>
            </a:r>
            <a:r>
              <a:rPr sz="1200" spc="-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the</a:t>
            </a:r>
            <a:r>
              <a:rPr sz="1200" spc="2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endParaRPr sz="1200">
              <a:latin typeface="Tahoma"/>
              <a:cs typeface="Tahoma"/>
            </a:endParaRPr>
          </a:p>
          <a:p>
            <a:pPr marL="466725" indent="-227329">
              <a:lnSpc>
                <a:spcPct val="100000"/>
              </a:lnSpc>
              <a:spcBef>
                <a:spcPts val="290"/>
              </a:spcBef>
              <a:buChar char="●"/>
              <a:tabLst>
                <a:tab pos="466725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Application</a:t>
            </a:r>
            <a:r>
              <a:rPr sz="1200" spc="-2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Building</a:t>
            </a:r>
            <a:endParaRPr sz="1200">
              <a:latin typeface="Tahoma"/>
              <a:cs typeface="Tahoma"/>
            </a:endParaRPr>
          </a:p>
          <a:p>
            <a:pPr marL="923925" lvl="1" indent="-227329">
              <a:lnSpc>
                <a:spcPct val="100000"/>
              </a:lnSpc>
              <a:spcBef>
                <a:spcPts val="285"/>
              </a:spcBef>
              <a:buChar char="○"/>
              <a:tabLst>
                <a:tab pos="923925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Create</a:t>
            </a:r>
            <a:r>
              <a:rPr sz="1200" spc="1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an</a:t>
            </a:r>
            <a:r>
              <a:rPr sz="1200" spc="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HTML</a:t>
            </a:r>
            <a:r>
              <a:rPr sz="1200" spc="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file</a:t>
            </a:r>
            <a:endParaRPr sz="1200">
              <a:latin typeface="Tahoma"/>
              <a:cs typeface="Tahoma"/>
            </a:endParaRPr>
          </a:p>
          <a:p>
            <a:pPr marL="922019" lvl="1" indent="-224154">
              <a:lnSpc>
                <a:spcPct val="100000"/>
              </a:lnSpc>
              <a:spcBef>
                <a:spcPts val="280"/>
              </a:spcBef>
              <a:buSzPct val="87500"/>
              <a:buFont typeface="Times New Roman"/>
              <a:buChar char="○"/>
              <a:tabLst>
                <a:tab pos="922019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Build</a:t>
            </a:r>
            <a:r>
              <a:rPr sz="1200" spc="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Python</a:t>
            </a:r>
            <a:r>
              <a:rPr sz="1200" spc="4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4465C"/>
                </a:solidFill>
                <a:latin typeface="Tahoma"/>
                <a:cs typeface="Tahoma"/>
              </a:rPr>
              <a:t>Code</a:t>
            </a:r>
            <a:endParaRPr sz="1200">
              <a:latin typeface="Tahoma"/>
              <a:cs typeface="Tahoma"/>
            </a:endParaRPr>
          </a:p>
          <a:p>
            <a:pPr marL="464820" indent="-223520">
              <a:lnSpc>
                <a:spcPct val="100000"/>
              </a:lnSpc>
              <a:spcBef>
                <a:spcPts val="285"/>
              </a:spcBef>
              <a:buSzPct val="87500"/>
              <a:buFont typeface="Times New Roman"/>
              <a:buChar char="●"/>
              <a:tabLst>
                <a:tab pos="464820" algn="l"/>
              </a:tabLst>
            </a:pP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Training</a:t>
            </a:r>
            <a:r>
              <a:rPr sz="1200" spc="-4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model</a:t>
            </a:r>
            <a:r>
              <a:rPr sz="1200" spc="-3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on</a:t>
            </a:r>
            <a:r>
              <a:rPr sz="1200" spc="-35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4465C"/>
                </a:solidFill>
                <a:latin typeface="Tahoma"/>
                <a:cs typeface="Tahoma"/>
              </a:rPr>
              <a:t>IBM</a:t>
            </a:r>
            <a:r>
              <a:rPr sz="1200" spc="-50" dirty="0">
                <a:solidFill>
                  <a:srgbClr val="34465C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4465C"/>
                </a:solidFill>
                <a:latin typeface="Tahoma"/>
                <a:cs typeface="Tahoma"/>
              </a:rPr>
              <a:t>Cloud.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9" y="1457324"/>
            <a:ext cx="5943600" cy="28575"/>
          </a:xfrm>
          <a:custGeom>
            <a:avLst/>
            <a:gdLst/>
            <a:ahLst/>
            <a:cxnLst/>
            <a:rect l="l" t="t" r="r" b="b"/>
            <a:pathLst>
              <a:path w="5943600" h="28575">
                <a:moveTo>
                  <a:pt x="5943600" y="0"/>
                </a:moveTo>
                <a:lnTo>
                  <a:pt x="0" y="0"/>
                </a:lnTo>
                <a:lnTo>
                  <a:pt x="0" y="28575"/>
                </a:lnTo>
                <a:lnTo>
                  <a:pt x="5943600" y="28575"/>
                </a:lnTo>
                <a:lnTo>
                  <a:pt x="5943600" y="0"/>
                </a:lnTo>
                <a:close/>
              </a:path>
            </a:pathLst>
          </a:custGeom>
          <a:solidFill>
            <a:srgbClr val="123A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004" y="1121409"/>
            <a:ext cx="19805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1D57BD"/>
                </a:solidFill>
                <a:latin typeface="Tahoma"/>
                <a:cs typeface="Tahoma"/>
              </a:rPr>
              <a:t>Project</a:t>
            </a:r>
            <a:r>
              <a:rPr sz="1800" b="1" spc="-80" dirty="0">
                <a:solidFill>
                  <a:srgbClr val="1D57BD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1D57BD"/>
                </a:solidFill>
                <a:latin typeface="Tahoma"/>
                <a:cs typeface="Tahoma"/>
              </a:rPr>
              <a:t>Structure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1651761"/>
            <a:ext cx="3973829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105" dirty="0">
                <a:latin typeface="Calibri"/>
                <a:cs typeface="Calibri"/>
              </a:rPr>
              <a:t>Create</a:t>
            </a:r>
            <a:r>
              <a:rPr sz="1050" spc="35" dirty="0">
                <a:latin typeface="Calibri"/>
                <a:cs typeface="Calibri"/>
              </a:rPr>
              <a:t> </a:t>
            </a:r>
            <a:r>
              <a:rPr sz="1050" spc="120" dirty="0">
                <a:latin typeface="Calibri"/>
                <a:cs typeface="Calibri"/>
              </a:rPr>
              <a:t>a</a:t>
            </a:r>
            <a:r>
              <a:rPr sz="1050" spc="50" dirty="0">
                <a:latin typeface="Calibri"/>
                <a:cs typeface="Calibri"/>
              </a:rPr>
              <a:t> </a:t>
            </a:r>
            <a:r>
              <a:rPr sz="1050" spc="100" dirty="0">
                <a:latin typeface="Calibri"/>
                <a:cs typeface="Calibri"/>
              </a:rPr>
              <a:t>Project</a:t>
            </a:r>
            <a:r>
              <a:rPr sz="1050" spc="35" dirty="0">
                <a:latin typeface="Calibri"/>
                <a:cs typeface="Calibri"/>
              </a:rPr>
              <a:t> </a:t>
            </a:r>
            <a:r>
              <a:rPr sz="1050" spc="85" dirty="0">
                <a:latin typeface="Calibri"/>
                <a:cs typeface="Calibri"/>
              </a:rPr>
              <a:t>folder</a:t>
            </a:r>
            <a:r>
              <a:rPr sz="1050" spc="30" dirty="0">
                <a:latin typeface="Calibri"/>
                <a:cs typeface="Calibri"/>
              </a:rPr>
              <a:t> </a:t>
            </a:r>
            <a:r>
              <a:rPr sz="1050" spc="130" dirty="0">
                <a:latin typeface="Calibri"/>
                <a:cs typeface="Calibri"/>
              </a:rPr>
              <a:t>which</a:t>
            </a:r>
            <a:r>
              <a:rPr sz="1050" spc="45" dirty="0">
                <a:latin typeface="Calibri"/>
                <a:cs typeface="Calibri"/>
              </a:rPr>
              <a:t> </a:t>
            </a:r>
            <a:r>
              <a:rPr sz="1050" spc="110" dirty="0">
                <a:latin typeface="Calibri"/>
                <a:cs typeface="Calibri"/>
              </a:rPr>
              <a:t>contains</a:t>
            </a:r>
            <a:r>
              <a:rPr sz="1050" spc="45" dirty="0">
                <a:latin typeface="Calibri"/>
                <a:cs typeface="Calibri"/>
              </a:rPr>
              <a:t> </a:t>
            </a:r>
            <a:r>
              <a:rPr sz="1050" spc="60" dirty="0">
                <a:latin typeface="Calibri"/>
                <a:cs typeface="Calibri"/>
              </a:rPr>
              <a:t>files</a:t>
            </a:r>
            <a:r>
              <a:rPr sz="1050" spc="40" dirty="0">
                <a:latin typeface="Calibri"/>
                <a:cs typeface="Calibri"/>
              </a:rPr>
              <a:t> </a:t>
            </a:r>
            <a:r>
              <a:rPr sz="1050" spc="105" dirty="0">
                <a:latin typeface="Calibri"/>
                <a:cs typeface="Calibri"/>
              </a:rPr>
              <a:t>as</a:t>
            </a:r>
            <a:r>
              <a:rPr sz="1050" spc="35" dirty="0">
                <a:latin typeface="Calibri"/>
                <a:cs typeface="Calibri"/>
              </a:rPr>
              <a:t> </a:t>
            </a:r>
            <a:r>
              <a:rPr sz="1050" spc="135" dirty="0">
                <a:latin typeface="Calibri"/>
                <a:cs typeface="Calibri"/>
              </a:rPr>
              <a:t>shown</a:t>
            </a:r>
            <a:r>
              <a:rPr sz="1050" spc="45" dirty="0">
                <a:latin typeface="Calibri"/>
                <a:cs typeface="Calibri"/>
              </a:rPr>
              <a:t> </a:t>
            </a:r>
            <a:r>
              <a:rPr sz="1050" spc="95" dirty="0">
                <a:latin typeface="Calibri"/>
                <a:cs typeface="Calibri"/>
              </a:rPr>
              <a:t>below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764" y="2012950"/>
            <a:ext cx="4267073" cy="7139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329" y="116840"/>
              <a:ext cx="216535" cy="215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3055" y="7492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10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57810"/>
                  </a:lnTo>
                  <a:lnTo>
                    <a:pt x="16510" y="257810"/>
                  </a:lnTo>
                  <a:lnTo>
                    <a:pt x="16510" y="165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0354" y="6223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6540" y="0"/>
                  </a:moveTo>
                  <a:lnTo>
                    <a:pt x="3175" y="0"/>
                  </a:lnTo>
                  <a:lnTo>
                    <a:pt x="0" y="3175"/>
                  </a:lnTo>
                  <a:lnTo>
                    <a:pt x="0" y="256540"/>
                  </a:lnTo>
                  <a:lnTo>
                    <a:pt x="1270" y="257810"/>
                  </a:lnTo>
                  <a:lnTo>
                    <a:pt x="4445" y="259079"/>
                  </a:lnTo>
                  <a:lnTo>
                    <a:pt x="6350" y="258445"/>
                  </a:lnTo>
                  <a:lnTo>
                    <a:pt x="83185" y="181610"/>
                  </a:lnTo>
                  <a:lnTo>
                    <a:pt x="83820" y="180340"/>
                  </a:lnTo>
                  <a:lnTo>
                    <a:pt x="83820" y="83820"/>
                  </a:lnTo>
                  <a:lnTo>
                    <a:pt x="180340" y="83820"/>
                  </a:lnTo>
                  <a:lnTo>
                    <a:pt x="181610" y="83185"/>
                  </a:lnTo>
                  <a:lnTo>
                    <a:pt x="258445" y="6350"/>
                  </a:lnTo>
                  <a:lnTo>
                    <a:pt x="259079" y="4445"/>
                  </a:lnTo>
                  <a:lnTo>
                    <a:pt x="257810" y="1270"/>
                  </a:lnTo>
                  <a:lnTo>
                    <a:pt x="256540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29" y="9725660"/>
              <a:ext cx="216535" cy="2171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13055" y="9725660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09">
                  <a:moveTo>
                    <a:pt x="258445" y="240030"/>
                  </a:moveTo>
                  <a:lnTo>
                    <a:pt x="16510" y="24003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40030"/>
                  </a:lnTo>
                  <a:lnTo>
                    <a:pt x="0" y="257810"/>
                  </a:lnTo>
                  <a:lnTo>
                    <a:pt x="258445" y="257810"/>
                  </a:lnTo>
                  <a:lnTo>
                    <a:pt x="258445" y="24003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0354" y="97370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4445" y="0"/>
                  </a:moveTo>
                  <a:lnTo>
                    <a:pt x="1270" y="1269"/>
                  </a:lnTo>
                  <a:lnTo>
                    <a:pt x="0" y="2539"/>
                  </a:lnTo>
                  <a:lnTo>
                    <a:pt x="0" y="255903"/>
                  </a:lnTo>
                  <a:lnTo>
                    <a:pt x="3175" y="259079"/>
                  </a:lnTo>
                  <a:lnTo>
                    <a:pt x="256540" y="259079"/>
                  </a:lnTo>
                  <a:lnTo>
                    <a:pt x="257810" y="257808"/>
                  </a:lnTo>
                  <a:lnTo>
                    <a:pt x="259079" y="254634"/>
                  </a:lnTo>
                  <a:lnTo>
                    <a:pt x="258445" y="252729"/>
                  </a:lnTo>
                  <a:lnTo>
                    <a:pt x="181610" y="175894"/>
                  </a:lnTo>
                  <a:lnTo>
                    <a:pt x="180340" y="175259"/>
                  </a:lnTo>
                  <a:lnTo>
                    <a:pt x="83820" y="175259"/>
                  </a:lnTo>
                  <a:lnTo>
                    <a:pt x="83820" y="78739"/>
                  </a:lnTo>
                  <a:lnTo>
                    <a:pt x="83185" y="77469"/>
                  </a:lnTo>
                  <a:lnTo>
                    <a:pt x="6350" y="634"/>
                  </a:lnTo>
                  <a:lnTo>
                    <a:pt x="4445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432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305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7074" y="116840"/>
              <a:ext cx="216534" cy="2159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077075" y="7492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10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41935" y="16510"/>
                  </a:lnTo>
                  <a:lnTo>
                    <a:pt x="241935" y="257810"/>
                  </a:lnTo>
                  <a:lnTo>
                    <a:pt x="258445" y="2578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89139" y="6223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5904" y="0"/>
                  </a:moveTo>
                  <a:lnTo>
                    <a:pt x="2539" y="0"/>
                  </a:lnTo>
                  <a:lnTo>
                    <a:pt x="1269" y="1270"/>
                  </a:lnTo>
                  <a:lnTo>
                    <a:pt x="0" y="4445"/>
                  </a:lnTo>
                  <a:lnTo>
                    <a:pt x="634" y="6350"/>
                  </a:lnTo>
                  <a:lnTo>
                    <a:pt x="77469" y="83185"/>
                  </a:lnTo>
                  <a:lnTo>
                    <a:pt x="78739" y="83820"/>
                  </a:lnTo>
                  <a:lnTo>
                    <a:pt x="175259" y="83820"/>
                  </a:lnTo>
                  <a:lnTo>
                    <a:pt x="175259" y="180340"/>
                  </a:lnTo>
                  <a:lnTo>
                    <a:pt x="175894" y="181610"/>
                  </a:lnTo>
                  <a:lnTo>
                    <a:pt x="252729" y="258445"/>
                  </a:lnTo>
                  <a:lnTo>
                    <a:pt x="254634" y="259079"/>
                  </a:lnTo>
                  <a:lnTo>
                    <a:pt x="257809" y="257810"/>
                  </a:lnTo>
                  <a:lnTo>
                    <a:pt x="259079" y="256540"/>
                  </a:lnTo>
                  <a:lnTo>
                    <a:pt x="259079" y="3175"/>
                  </a:lnTo>
                  <a:lnTo>
                    <a:pt x="258444" y="2540"/>
                  </a:lnTo>
                  <a:lnTo>
                    <a:pt x="257809" y="1270"/>
                  </a:lnTo>
                  <a:lnTo>
                    <a:pt x="256539" y="635"/>
                  </a:lnTo>
                  <a:lnTo>
                    <a:pt x="255904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7074" y="9725660"/>
              <a:ext cx="216534" cy="2171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077075" y="9725024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5" h="258445">
                  <a:moveTo>
                    <a:pt x="258445" y="0"/>
                  </a:moveTo>
                  <a:lnTo>
                    <a:pt x="241935" y="0"/>
                  </a:lnTo>
                  <a:lnTo>
                    <a:pt x="241935" y="240665"/>
                  </a:lnTo>
                  <a:lnTo>
                    <a:pt x="0" y="240665"/>
                  </a:lnTo>
                  <a:lnTo>
                    <a:pt x="0" y="241935"/>
                  </a:lnTo>
                  <a:lnTo>
                    <a:pt x="0" y="258445"/>
                  </a:lnTo>
                  <a:lnTo>
                    <a:pt x="258445" y="258445"/>
                  </a:lnTo>
                  <a:lnTo>
                    <a:pt x="258445" y="241935"/>
                  </a:lnTo>
                  <a:lnTo>
                    <a:pt x="250190" y="241935"/>
                  </a:lnTo>
                  <a:lnTo>
                    <a:pt x="250190" y="241300"/>
                  </a:lnTo>
                  <a:lnTo>
                    <a:pt x="258445" y="24130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89139" y="97370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4634" y="0"/>
                  </a:moveTo>
                  <a:lnTo>
                    <a:pt x="252729" y="634"/>
                  </a:lnTo>
                  <a:lnTo>
                    <a:pt x="175894" y="77469"/>
                  </a:lnTo>
                  <a:lnTo>
                    <a:pt x="175259" y="78739"/>
                  </a:lnTo>
                  <a:lnTo>
                    <a:pt x="175259" y="175259"/>
                  </a:lnTo>
                  <a:lnTo>
                    <a:pt x="78739" y="175259"/>
                  </a:lnTo>
                  <a:lnTo>
                    <a:pt x="77469" y="175894"/>
                  </a:lnTo>
                  <a:lnTo>
                    <a:pt x="634" y="252729"/>
                  </a:lnTo>
                  <a:lnTo>
                    <a:pt x="0" y="254634"/>
                  </a:lnTo>
                  <a:lnTo>
                    <a:pt x="1269" y="257808"/>
                  </a:lnTo>
                  <a:lnTo>
                    <a:pt x="2539" y="259079"/>
                  </a:lnTo>
                  <a:lnTo>
                    <a:pt x="255904" y="259079"/>
                  </a:lnTo>
                  <a:lnTo>
                    <a:pt x="259079" y="255903"/>
                  </a:lnTo>
                  <a:lnTo>
                    <a:pt x="259079" y="2539"/>
                  </a:lnTo>
                  <a:lnTo>
                    <a:pt x="257809" y="1269"/>
                  </a:lnTo>
                  <a:lnTo>
                    <a:pt x="254634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7709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31837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1500" y="11620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1500" y="7493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1500" y="9925049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1500" y="9966324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329" y="116840"/>
              <a:ext cx="216535" cy="2159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13055" y="7492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10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57810"/>
                  </a:lnTo>
                  <a:lnTo>
                    <a:pt x="16510" y="257810"/>
                  </a:lnTo>
                  <a:lnTo>
                    <a:pt x="16510" y="165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29" y="9725660"/>
              <a:ext cx="216535" cy="21717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13055" y="9725660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09">
                  <a:moveTo>
                    <a:pt x="258445" y="240030"/>
                  </a:moveTo>
                  <a:lnTo>
                    <a:pt x="16510" y="24003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40030"/>
                  </a:lnTo>
                  <a:lnTo>
                    <a:pt x="0" y="257810"/>
                  </a:lnTo>
                  <a:lnTo>
                    <a:pt x="258445" y="257810"/>
                  </a:lnTo>
                  <a:lnTo>
                    <a:pt x="258445" y="24003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432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1305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7074" y="116840"/>
              <a:ext cx="216534" cy="2159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077075" y="7492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10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41935" y="16510"/>
                  </a:lnTo>
                  <a:lnTo>
                    <a:pt x="241935" y="257810"/>
                  </a:lnTo>
                  <a:lnTo>
                    <a:pt x="258445" y="2578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7074" y="9725660"/>
              <a:ext cx="216534" cy="21717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077075" y="9725024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5" h="258445">
                  <a:moveTo>
                    <a:pt x="258445" y="0"/>
                  </a:moveTo>
                  <a:lnTo>
                    <a:pt x="241935" y="0"/>
                  </a:lnTo>
                  <a:lnTo>
                    <a:pt x="241935" y="240665"/>
                  </a:lnTo>
                  <a:lnTo>
                    <a:pt x="0" y="240665"/>
                  </a:lnTo>
                  <a:lnTo>
                    <a:pt x="0" y="241935"/>
                  </a:lnTo>
                  <a:lnTo>
                    <a:pt x="0" y="258445"/>
                  </a:lnTo>
                  <a:lnTo>
                    <a:pt x="258445" y="258445"/>
                  </a:lnTo>
                  <a:lnTo>
                    <a:pt x="258445" y="241935"/>
                  </a:lnTo>
                  <a:lnTo>
                    <a:pt x="250190" y="241935"/>
                  </a:lnTo>
                  <a:lnTo>
                    <a:pt x="250190" y="241300"/>
                  </a:lnTo>
                  <a:lnTo>
                    <a:pt x="258445" y="24130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27709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1837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71500" y="11620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71500" y="7493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71500" y="9925049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1500" y="9966324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4329" y="116840"/>
              <a:ext cx="216535" cy="21590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13055" y="7492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10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57810"/>
                  </a:lnTo>
                  <a:lnTo>
                    <a:pt x="16510" y="257810"/>
                  </a:lnTo>
                  <a:lnTo>
                    <a:pt x="16510" y="165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00354" y="6223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6540" y="0"/>
                  </a:moveTo>
                  <a:lnTo>
                    <a:pt x="3175" y="0"/>
                  </a:lnTo>
                  <a:lnTo>
                    <a:pt x="0" y="3175"/>
                  </a:lnTo>
                  <a:lnTo>
                    <a:pt x="0" y="256540"/>
                  </a:lnTo>
                  <a:lnTo>
                    <a:pt x="1270" y="257810"/>
                  </a:lnTo>
                  <a:lnTo>
                    <a:pt x="4445" y="259079"/>
                  </a:lnTo>
                  <a:lnTo>
                    <a:pt x="6350" y="258445"/>
                  </a:lnTo>
                  <a:lnTo>
                    <a:pt x="83185" y="181610"/>
                  </a:lnTo>
                  <a:lnTo>
                    <a:pt x="83820" y="180340"/>
                  </a:lnTo>
                  <a:lnTo>
                    <a:pt x="83820" y="83820"/>
                  </a:lnTo>
                  <a:lnTo>
                    <a:pt x="180340" y="83820"/>
                  </a:lnTo>
                  <a:lnTo>
                    <a:pt x="181610" y="83185"/>
                  </a:lnTo>
                  <a:lnTo>
                    <a:pt x="258445" y="6350"/>
                  </a:lnTo>
                  <a:lnTo>
                    <a:pt x="259079" y="4445"/>
                  </a:lnTo>
                  <a:lnTo>
                    <a:pt x="257810" y="1270"/>
                  </a:lnTo>
                  <a:lnTo>
                    <a:pt x="256540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4329" y="9725660"/>
              <a:ext cx="216535" cy="21717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13055" y="9725660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09">
                  <a:moveTo>
                    <a:pt x="258445" y="240030"/>
                  </a:moveTo>
                  <a:lnTo>
                    <a:pt x="16510" y="24003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40030"/>
                  </a:lnTo>
                  <a:lnTo>
                    <a:pt x="0" y="257810"/>
                  </a:lnTo>
                  <a:lnTo>
                    <a:pt x="258445" y="257810"/>
                  </a:lnTo>
                  <a:lnTo>
                    <a:pt x="258445" y="24003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0354" y="9737089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4445" y="0"/>
                  </a:moveTo>
                  <a:lnTo>
                    <a:pt x="1270" y="1269"/>
                  </a:lnTo>
                  <a:lnTo>
                    <a:pt x="0" y="2539"/>
                  </a:lnTo>
                  <a:lnTo>
                    <a:pt x="0" y="255903"/>
                  </a:lnTo>
                  <a:lnTo>
                    <a:pt x="3175" y="259079"/>
                  </a:lnTo>
                  <a:lnTo>
                    <a:pt x="256540" y="259079"/>
                  </a:lnTo>
                  <a:lnTo>
                    <a:pt x="257810" y="257808"/>
                  </a:lnTo>
                  <a:lnTo>
                    <a:pt x="259079" y="254634"/>
                  </a:lnTo>
                  <a:lnTo>
                    <a:pt x="258445" y="252729"/>
                  </a:lnTo>
                  <a:lnTo>
                    <a:pt x="181610" y="175894"/>
                  </a:lnTo>
                  <a:lnTo>
                    <a:pt x="180340" y="175259"/>
                  </a:lnTo>
                  <a:lnTo>
                    <a:pt x="83820" y="175259"/>
                  </a:lnTo>
                  <a:lnTo>
                    <a:pt x="83820" y="78739"/>
                  </a:lnTo>
                  <a:lnTo>
                    <a:pt x="83185" y="77469"/>
                  </a:lnTo>
                  <a:lnTo>
                    <a:pt x="6350" y="634"/>
                  </a:lnTo>
                  <a:lnTo>
                    <a:pt x="4445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5432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1305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77074" y="116840"/>
              <a:ext cx="216534" cy="2159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319010" y="91440"/>
              <a:ext cx="16510" cy="241300"/>
            </a:xfrm>
            <a:custGeom>
              <a:avLst/>
              <a:gdLst/>
              <a:ahLst/>
              <a:cxnLst/>
              <a:rect l="l" t="t" r="r" b="b"/>
              <a:pathLst>
                <a:path w="16509" h="241300">
                  <a:moveTo>
                    <a:pt x="0" y="241300"/>
                  </a:moveTo>
                  <a:lnTo>
                    <a:pt x="16510" y="24130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4130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7077075" y="62230"/>
            <a:ext cx="271145" cy="259079"/>
            <a:chOff x="7077075" y="62230"/>
            <a:chExt cx="271145" cy="259079"/>
          </a:xfrm>
        </p:grpSpPr>
        <p:sp>
          <p:nvSpPr>
            <p:cNvPr id="50" name="object 50"/>
            <p:cNvSpPr/>
            <p:nvPr/>
          </p:nvSpPr>
          <p:spPr>
            <a:xfrm>
              <a:off x="7077075" y="74930"/>
              <a:ext cx="258445" cy="16510"/>
            </a:xfrm>
            <a:custGeom>
              <a:avLst/>
              <a:gdLst/>
              <a:ahLst/>
              <a:cxnLst/>
              <a:rect l="l" t="t" r="r" b="b"/>
              <a:pathLst>
                <a:path w="258445" h="16509">
                  <a:moveTo>
                    <a:pt x="0" y="16509"/>
                  </a:moveTo>
                  <a:lnTo>
                    <a:pt x="258445" y="16509"/>
                  </a:lnTo>
                  <a:lnTo>
                    <a:pt x="258445" y="0"/>
                  </a:lnTo>
                  <a:lnTo>
                    <a:pt x="0" y="0"/>
                  </a:lnTo>
                  <a:lnTo>
                    <a:pt x="0" y="16509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089139" y="6223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5904" y="0"/>
                  </a:moveTo>
                  <a:lnTo>
                    <a:pt x="2539" y="0"/>
                  </a:lnTo>
                  <a:lnTo>
                    <a:pt x="1269" y="1270"/>
                  </a:lnTo>
                  <a:lnTo>
                    <a:pt x="0" y="4445"/>
                  </a:lnTo>
                  <a:lnTo>
                    <a:pt x="634" y="6350"/>
                  </a:lnTo>
                  <a:lnTo>
                    <a:pt x="77469" y="83185"/>
                  </a:lnTo>
                  <a:lnTo>
                    <a:pt x="78739" y="83820"/>
                  </a:lnTo>
                  <a:lnTo>
                    <a:pt x="175259" y="83820"/>
                  </a:lnTo>
                  <a:lnTo>
                    <a:pt x="175259" y="180340"/>
                  </a:lnTo>
                  <a:lnTo>
                    <a:pt x="175894" y="181610"/>
                  </a:lnTo>
                  <a:lnTo>
                    <a:pt x="252729" y="258445"/>
                  </a:lnTo>
                  <a:lnTo>
                    <a:pt x="254634" y="259079"/>
                  </a:lnTo>
                  <a:lnTo>
                    <a:pt x="257809" y="257810"/>
                  </a:lnTo>
                  <a:lnTo>
                    <a:pt x="259079" y="256540"/>
                  </a:lnTo>
                  <a:lnTo>
                    <a:pt x="259079" y="3175"/>
                  </a:lnTo>
                  <a:lnTo>
                    <a:pt x="258444" y="2540"/>
                  </a:lnTo>
                  <a:lnTo>
                    <a:pt x="257809" y="1270"/>
                  </a:lnTo>
                  <a:lnTo>
                    <a:pt x="256539" y="635"/>
                  </a:lnTo>
                  <a:lnTo>
                    <a:pt x="255904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077075" y="333375"/>
            <a:ext cx="271145" cy="9662795"/>
            <a:chOff x="7077075" y="333375"/>
            <a:chExt cx="271145" cy="9662795"/>
          </a:xfrm>
        </p:grpSpPr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77075" y="9725659"/>
              <a:ext cx="216534" cy="21717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077075" y="9725025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5" h="258445">
                  <a:moveTo>
                    <a:pt x="258445" y="0"/>
                  </a:moveTo>
                  <a:lnTo>
                    <a:pt x="241935" y="0"/>
                  </a:lnTo>
                  <a:lnTo>
                    <a:pt x="241935" y="240665"/>
                  </a:lnTo>
                  <a:lnTo>
                    <a:pt x="0" y="240665"/>
                  </a:lnTo>
                  <a:lnTo>
                    <a:pt x="0" y="241935"/>
                  </a:lnTo>
                  <a:lnTo>
                    <a:pt x="0" y="258445"/>
                  </a:lnTo>
                  <a:lnTo>
                    <a:pt x="258445" y="258445"/>
                  </a:lnTo>
                  <a:lnTo>
                    <a:pt x="258445" y="241935"/>
                  </a:lnTo>
                  <a:lnTo>
                    <a:pt x="250190" y="241935"/>
                  </a:lnTo>
                  <a:lnTo>
                    <a:pt x="250190" y="241300"/>
                  </a:lnTo>
                  <a:lnTo>
                    <a:pt x="258445" y="24130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089139" y="9737090"/>
              <a:ext cx="259079" cy="259079"/>
            </a:xfrm>
            <a:custGeom>
              <a:avLst/>
              <a:gdLst/>
              <a:ahLst/>
              <a:cxnLst/>
              <a:rect l="l" t="t" r="r" b="b"/>
              <a:pathLst>
                <a:path w="259079" h="259079">
                  <a:moveTo>
                    <a:pt x="254634" y="0"/>
                  </a:moveTo>
                  <a:lnTo>
                    <a:pt x="252729" y="634"/>
                  </a:lnTo>
                  <a:lnTo>
                    <a:pt x="175894" y="77469"/>
                  </a:lnTo>
                  <a:lnTo>
                    <a:pt x="175259" y="78739"/>
                  </a:lnTo>
                  <a:lnTo>
                    <a:pt x="175259" y="175259"/>
                  </a:lnTo>
                  <a:lnTo>
                    <a:pt x="78739" y="175259"/>
                  </a:lnTo>
                  <a:lnTo>
                    <a:pt x="77469" y="175894"/>
                  </a:lnTo>
                  <a:lnTo>
                    <a:pt x="634" y="252729"/>
                  </a:lnTo>
                  <a:lnTo>
                    <a:pt x="0" y="254634"/>
                  </a:lnTo>
                  <a:lnTo>
                    <a:pt x="1269" y="257808"/>
                  </a:lnTo>
                  <a:lnTo>
                    <a:pt x="2539" y="259079"/>
                  </a:lnTo>
                  <a:lnTo>
                    <a:pt x="255904" y="259079"/>
                  </a:lnTo>
                  <a:lnTo>
                    <a:pt x="259079" y="255903"/>
                  </a:lnTo>
                  <a:lnTo>
                    <a:pt x="259079" y="2539"/>
                  </a:lnTo>
                  <a:lnTo>
                    <a:pt x="257809" y="1269"/>
                  </a:lnTo>
                  <a:lnTo>
                    <a:pt x="254634" y="0"/>
                  </a:lnTo>
                  <a:close/>
                </a:path>
              </a:pathLst>
            </a:custGeom>
            <a:solidFill>
              <a:srgbClr val="A28A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77100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318375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571500" y="74930"/>
            <a:ext cx="6505575" cy="58419"/>
            <a:chOff x="571500" y="74930"/>
            <a:chExt cx="6505575" cy="58419"/>
          </a:xfrm>
        </p:grpSpPr>
        <p:sp>
          <p:nvSpPr>
            <p:cNvPr id="59" name="object 59"/>
            <p:cNvSpPr/>
            <p:nvPr/>
          </p:nvSpPr>
          <p:spPr>
            <a:xfrm>
              <a:off x="571500" y="11620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1500" y="7493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571500" y="9925050"/>
            <a:ext cx="6505575" cy="58419"/>
            <a:chOff x="571500" y="9925050"/>
            <a:chExt cx="6505575" cy="58419"/>
          </a:xfrm>
        </p:grpSpPr>
        <p:sp>
          <p:nvSpPr>
            <p:cNvPr id="62" name="object 62"/>
            <p:cNvSpPr/>
            <p:nvPr/>
          </p:nvSpPr>
          <p:spPr>
            <a:xfrm>
              <a:off x="571500" y="992505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71500" y="996632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313054" y="74930"/>
            <a:ext cx="258445" cy="257810"/>
            <a:chOff x="313054" y="74930"/>
            <a:chExt cx="258445" cy="257810"/>
          </a:xfrm>
        </p:grpSpPr>
        <p:sp>
          <p:nvSpPr>
            <p:cNvPr id="65" name="object 65"/>
            <p:cNvSpPr/>
            <p:nvPr/>
          </p:nvSpPr>
          <p:spPr>
            <a:xfrm>
              <a:off x="354330" y="116839"/>
              <a:ext cx="216535" cy="215900"/>
            </a:xfrm>
            <a:custGeom>
              <a:avLst/>
              <a:gdLst/>
              <a:ahLst/>
              <a:cxnLst/>
              <a:rect l="l" t="t" r="r" b="b"/>
              <a:pathLst>
                <a:path w="216534" h="215900">
                  <a:moveTo>
                    <a:pt x="21653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15900"/>
                  </a:lnTo>
                  <a:lnTo>
                    <a:pt x="16510" y="215900"/>
                  </a:lnTo>
                  <a:lnTo>
                    <a:pt x="16510" y="16510"/>
                  </a:lnTo>
                  <a:lnTo>
                    <a:pt x="216535" y="16510"/>
                  </a:lnTo>
                  <a:lnTo>
                    <a:pt x="21653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13055" y="7492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10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257810"/>
                  </a:lnTo>
                  <a:lnTo>
                    <a:pt x="16510" y="257810"/>
                  </a:lnTo>
                  <a:lnTo>
                    <a:pt x="16510" y="165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313054" y="333375"/>
            <a:ext cx="258445" cy="9650095"/>
            <a:chOff x="313054" y="333375"/>
            <a:chExt cx="258445" cy="9650095"/>
          </a:xfrm>
        </p:grpSpPr>
        <p:sp>
          <p:nvSpPr>
            <p:cNvPr id="68" name="object 68"/>
            <p:cNvSpPr/>
            <p:nvPr/>
          </p:nvSpPr>
          <p:spPr>
            <a:xfrm>
              <a:off x="354330" y="9725659"/>
              <a:ext cx="216535" cy="217170"/>
            </a:xfrm>
            <a:custGeom>
              <a:avLst/>
              <a:gdLst/>
              <a:ahLst/>
              <a:cxnLst/>
              <a:rect l="l" t="t" r="r" b="b"/>
              <a:pathLst>
                <a:path w="216534" h="217170">
                  <a:moveTo>
                    <a:pt x="216535" y="200660"/>
                  </a:moveTo>
                  <a:lnTo>
                    <a:pt x="16510" y="20066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00660"/>
                  </a:lnTo>
                  <a:lnTo>
                    <a:pt x="0" y="217170"/>
                  </a:lnTo>
                  <a:lnTo>
                    <a:pt x="216535" y="217170"/>
                  </a:lnTo>
                  <a:lnTo>
                    <a:pt x="216535" y="20066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13055" y="972565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09">
                  <a:moveTo>
                    <a:pt x="258445" y="240030"/>
                  </a:moveTo>
                  <a:lnTo>
                    <a:pt x="16510" y="240030"/>
                  </a:lnTo>
                  <a:lnTo>
                    <a:pt x="16510" y="0"/>
                  </a:lnTo>
                  <a:lnTo>
                    <a:pt x="0" y="0"/>
                  </a:lnTo>
                  <a:lnTo>
                    <a:pt x="0" y="240030"/>
                  </a:lnTo>
                  <a:lnTo>
                    <a:pt x="0" y="257810"/>
                  </a:lnTo>
                  <a:lnTo>
                    <a:pt x="258445" y="257810"/>
                  </a:lnTo>
                  <a:lnTo>
                    <a:pt x="258445" y="24003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54329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13054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7077075" y="74930"/>
            <a:ext cx="258445" cy="257810"/>
            <a:chOff x="7077075" y="74930"/>
            <a:chExt cx="258445" cy="257810"/>
          </a:xfrm>
        </p:grpSpPr>
        <p:sp>
          <p:nvSpPr>
            <p:cNvPr id="73" name="object 73"/>
            <p:cNvSpPr/>
            <p:nvPr/>
          </p:nvSpPr>
          <p:spPr>
            <a:xfrm>
              <a:off x="7077075" y="116839"/>
              <a:ext cx="216535" cy="215900"/>
            </a:xfrm>
            <a:custGeom>
              <a:avLst/>
              <a:gdLst/>
              <a:ahLst/>
              <a:cxnLst/>
              <a:rect l="l" t="t" r="r" b="b"/>
              <a:pathLst>
                <a:path w="216534" h="215900">
                  <a:moveTo>
                    <a:pt x="21653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00025" y="16510"/>
                  </a:lnTo>
                  <a:lnTo>
                    <a:pt x="200025" y="215900"/>
                  </a:lnTo>
                  <a:lnTo>
                    <a:pt x="216535" y="215900"/>
                  </a:lnTo>
                  <a:lnTo>
                    <a:pt x="216535" y="16510"/>
                  </a:lnTo>
                  <a:lnTo>
                    <a:pt x="21653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077075" y="74929"/>
              <a:ext cx="258445" cy="257810"/>
            </a:xfrm>
            <a:custGeom>
              <a:avLst/>
              <a:gdLst/>
              <a:ahLst/>
              <a:cxnLst/>
              <a:rect l="l" t="t" r="r" b="b"/>
              <a:pathLst>
                <a:path w="258445" h="257810">
                  <a:moveTo>
                    <a:pt x="258445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241935" y="16510"/>
                  </a:lnTo>
                  <a:lnTo>
                    <a:pt x="241935" y="257810"/>
                  </a:lnTo>
                  <a:lnTo>
                    <a:pt x="258445" y="257810"/>
                  </a:lnTo>
                  <a:lnTo>
                    <a:pt x="258445" y="1651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5" name="object 75"/>
          <p:cNvGrpSpPr/>
          <p:nvPr/>
        </p:nvGrpSpPr>
        <p:grpSpPr>
          <a:xfrm>
            <a:off x="7077075" y="333375"/>
            <a:ext cx="258445" cy="9650095"/>
            <a:chOff x="7077075" y="333375"/>
            <a:chExt cx="258445" cy="9650095"/>
          </a:xfrm>
        </p:grpSpPr>
        <p:sp>
          <p:nvSpPr>
            <p:cNvPr id="76" name="object 76"/>
            <p:cNvSpPr/>
            <p:nvPr/>
          </p:nvSpPr>
          <p:spPr>
            <a:xfrm>
              <a:off x="7077075" y="9725659"/>
              <a:ext cx="216535" cy="217170"/>
            </a:xfrm>
            <a:custGeom>
              <a:avLst/>
              <a:gdLst/>
              <a:ahLst/>
              <a:cxnLst/>
              <a:rect l="l" t="t" r="r" b="b"/>
              <a:pathLst>
                <a:path w="216534" h="217170">
                  <a:moveTo>
                    <a:pt x="216535" y="0"/>
                  </a:moveTo>
                  <a:lnTo>
                    <a:pt x="200025" y="0"/>
                  </a:lnTo>
                  <a:lnTo>
                    <a:pt x="200025" y="200660"/>
                  </a:lnTo>
                  <a:lnTo>
                    <a:pt x="0" y="200660"/>
                  </a:lnTo>
                  <a:lnTo>
                    <a:pt x="0" y="217170"/>
                  </a:lnTo>
                  <a:lnTo>
                    <a:pt x="216535" y="217170"/>
                  </a:lnTo>
                  <a:lnTo>
                    <a:pt x="216535" y="200660"/>
                  </a:lnTo>
                  <a:lnTo>
                    <a:pt x="21653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077075" y="9725025"/>
              <a:ext cx="258445" cy="258445"/>
            </a:xfrm>
            <a:custGeom>
              <a:avLst/>
              <a:gdLst/>
              <a:ahLst/>
              <a:cxnLst/>
              <a:rect l="l" t="t" r="r" b="b"/>
              <a:pathLst>
                <a:path w="258445" h="258445">
                  <a:moveTo>
                    <a:pt x="258445" y="0"/>
                  </a:moveTo>
                  <a:lnTo>
                    <a:pt x="241935" y="0"/>
                  </a:lnTo>
                  <a:lnTo>
                    <a:pt x="241935" y="240665"/>
                  </a:lnTo>
                  <a:lnTo>
                    <a:pt x="0" y="240665"/>
                  </a:lnTo>
                  <a:lnTo>
                    <a:pt x="0" y="241935"/>
                  </a:lnTo>
                  <a:lnTo>
                    <a:pt x="0" y="258445"/>
                  </a:lnTo>
                  <a:lnTo>
                    <a:pt x="258445" y="258445"/>
                  </a:lnTo>
                  <a:lnTo>
                    <a:pt x="258445" y="241935"/>
                  </a:lnTo>
                  <a:lnTo>
                    <a:pt x="250190" y="241935"/>
                  </a:lnTo>
                  <a:lnTo>
                    <a:pt x="250190" y="241300"/>
                  </a:lnTo>
                  <a:lnTo>
                    <a:pt x="258445" y="241300"/>
                  </a:lnTo>
                  <a:lnTo>
                    <a:pt x="2584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7277100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318375" y="333375"/>
              <a:ext cx="17145" cy="9391650"/>
            </a:xfrm>
            <a:custGeom>
              <a:avLst/>
              <a:gdLst/>
              <a:ahLst/>
              <a:cxnLst/>
              <a:rect l="l" t="t" r="r" b="b"/>
              <a:pathLst>
                <a:path w="17145" h="9391650">
                  <a:moveTo>
                    <a:pt x="17145" y="0"/>
                  </a:moveTo>
                  <a:lnTo>
                    <a:pt x="0" y="0"/>
                  </a:lnTo>
                  <a:lnTo>
                    <a:pt x="0" y="9391650"/>
                  </a:lnTo>
                  <a:lnTo>
                    <a:pt x="17145" y="9391650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571500" y="74930"/>
            <a:ext cx="6505575" cy="58419"/>
            <a:chOff x="571500" y="74930"/>
            <a:chExt cx="6505575" cy="58419"/>
          </a:xfrm>
        </p:grpSpPr>
        <p:sp>
          <p:nvSpPr>
            <p:cNvPr id="81" name="object 81"/>
            <p:cNvSpPr/>
            <p:nvPr/>
          </p:nvSpPr>
          <p:spPr>
            <a:xfrm>
              <a:off x="571500" y="11620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1500" y="7493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4">
                  <a:moveTo>
                    <a:pt x="6505575" y="0"/>
                  </a:moveTo>
                  <a:lnTo>
                    <a:pt x="0" y="0"/>
                  </a:lnTo>
                  <a:lnTo>
                    <a:pt x="0" y="17145"/>
                  </a:lnTo>
                  <a:lnTo>
                    <a:pt x="6505575" y="17145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571500" y="9925050"/>
            <a:ext cx="6505575" cy="58419"/>
            <a:chOff x="571500" y="9925050"/>
            <a:chExt cx="6505575" cy="58419"/>
          </a:xfrm>
        </p:grpSpPr>
        <p:sp>
          <p:nvSpPr>
            <p:cNvPr id="84" name="object 84"/>
            <p:cNvSpPr/>
            <p:nvPr/>
          </p:nvSpPr>
          <p:spPr>
            <a:xfrm>
              <a:off x="571500" y="9925050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DDBE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1500" y="9966325"/>
              <a:ext cx="6505575" cy="17145"/>
            </a:xfrm>
            <a:custGeom>
              <a:avLst/>
              <a:gdLst/>
              <a:ahLst/>
              <a:cxnLst/>
              <a:rect l="l" t="t" r="r" b="b"/>
              <a:pathLst>
                <a:path w="6505575" h="17145">
                  <a:moveTo>
                    <a:pt x="6505575" y="0"/>
                  </a:moveTo>
                  <a:lnTo>
                    <a:pt x="0" y="0"/>
                  </a:lnTo>
                  <a:lnTo>
                    <a:pt x="0" y="17144"/>
                  </a:lnTo>
                  <a:lnTo>
                    <a:pt x="6505575" y="17144"/>
                  </a:lnTo>
                  <a:lnTo>
                    <a:pt x="6505575" y="0"/>
                  </a:lnTo>
                  <a:close/>
                </a:path>
              </a:pathLst>
            </a:custGeom>
            <a:solidFill>
              <a:srgbClr val="C4A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130604" y="1064108"/>
            <a:ext cx="5752465" cy="1951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5585" marR="157480" indent="-223520">
              <a:lnSpc>
                <a:spcPct val="118600"/>
              </a:lnSpc>
              <a:spcBef>
                <a:spcPts val="95"/>
              </a:spcBef>
              <a:buFont typeface="Times New Roman"/>
              <a:buChar char="●"/>
              <a:tabLst>
                <a:tab pos="240665" algn="l"/>
              </a:tabLst>
            </a:pP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400" spc="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are</a:t>
            </a:r>
            <a:r>
              <a:rPr sz="1400" spc="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building</a:t>
            </a:r>
            <a:r>
              <a:rPr sz="140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400" spc="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Flask</a:t>
            </a:r>
            <a:r>
              <a:rPr sz="140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Application</a:t>
            </a:r>
            <a:r>
              <a:rPr sz="1400" spc="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34465C"/>
                </a:solidFill>
                <a:latin typeface="Trebuchet MS"/>
                <a:cs typeface="Trebuchet MS"/>
              </a:rPr>
              <a:t>that</a:t>
            </a:r>
            <a:r>
              <a:rPr sz="140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needs</a:t>
            </a:r>
            <a:r>
              <a:rPr sz="1400" spc="1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90" dirty="0">
                <a:solidFill>
                  <a:srgbClr val="34465C"/>
                </a:solidFill>
                <a:latin typeface="Trebuchet MS"/>
                <a:cs typeface="Trebuchet MS"/>
              </a:rPr>
              <a:t>HTML</a:t>
            </a:r>
            <a:r>
              <a:rPr sz="1400" spc="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pages</a:t>
            </a:r>
            <a:r>
              <a:rPr sz="140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stored 	</a:t>
            </a:r>
            <a:r>
              <a:rPr sz="1400" spc="-2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40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40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templates</a:t>
            </a:r>
            <a:r>
              <a:rPr sz="140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folderand</a:t>
            </a:r>
            <a:r>
              <a:rPr sz="140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40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python</a:t>
            </a:r>
            <a:r>
              <a:rPr sz="140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script</a:t>
            </a:r>
            <a:r>
              <a:rPr sz="140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34465C"/>
                </a:solidFill>
                <a:latin typeface="Trebuchet MS"/>
                <a:cs typeface="Trebuchet MS"/>
              </a:rPr>
              <a:t>app.py</a:t>
            </a:r>
            <a:r>
              <a:rPr sz="140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34465C"/>
                </a:solidFill>
                <a:latin typeface="Trebuchet MS"/>
                <a:cs typeface="Trebuchet MS"/>
              </a:rPr>
              <a:t>for</a:t>
            </a:r>
            <a:r>
              <a:rPr sz="140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serverside 	scripting</a:t>
            </a:r>
            <a:endParaRPr sz="1400">
              <a:latin typeface="Trebuchet MS"/>
              <a:cs typeface="Trebuchet MS"/>
            </a:endParaRPr>
          </a:p>
          <a:p>
            <a:pPr marL="236220" marR="5080" indent="-224154">
              <a:lnSpc>
                <a:spcPct val="100000"/>
              </a:lnSpc>
              <a:spcBef>
                <a:spcPts val="315"/>
              </a:spcBef>
              <a:buFont typeface="Times New Roman"/>
              <a:buChar char="●"/>
              <a:tabLst>
                <a:tab pos="236220" algn="l"/>
              </a:tabLst>
            </a:pP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40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need</a:t>
            </a:r>
            <a:r>
              <a:rPr sz="140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400" spc="-7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r>
              <a:rPr sz="140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which</a:t>
            </a:r>
            <a:r>
              <a:rPr sz="140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400" spc="-7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saved</a:t>
            </a:r>
            <a:r>
              <a:rPr sz="140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400" spc="-9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400" spc="-7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saved</a:t>
            </a:r>
            <a:r>
              <a:rPr sz="140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r>
              <a:rPr sz="140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40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this</a:t>
            </a:r>
            <a:r>
              <a:rPr sz="140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content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40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ECG.h5</a:t>
            </a:r>
            <a:endParaRPr sz="1400">
              <a:latin typeface="Trebuchet MS"/>
              <a:cs typeface="Trebuchet MS"/>
            </a:endParaRPr>
          </a:p>
          <a:p>
            <a:pPr marL="236220" indent="-223520">
              <a:lnSpc>
                <a:spcPct val="100000"/>
              </a:lnSpc>
              <a:spcBef>
                <a:spcPts val="240"/>
              </a:spcBef>
              <a:buFont typeface="Times New Roman"/>
              <a:buChar char="●"/>
              <a:tabLst>
                <a:tab pos="236220" algn="l"/>
              </a:tabLst>
            </a:pP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400" spc="-9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static</a:t>
            </a:r>
            <a:r>
              <a:rPr sz="1400" spc="-9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rgbClr val="34465C"/>
                </a:solidFill>
                <a:latin typeface="Trebuchet MS"/>
                <a:cs typeface="Trebuchet MS"/>
              </a:rPr>
              <a:t>folder</a:t>
            </a:r>
            <a:r>
              <a:rPr sz="140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rgbClr val="34465C"/>
                </a:solidFill>
                <a:latin typeface="Trebuchet MS"/>
                <a:cs typeface="Trebuchet MS"/>
              </a:rPr>
              <a:t>will</a:t>
            </a:r>
            <a:r>
              <a:rPr sz="1400" spc="-9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contain</a:t>
            </a:r>
            <a:r>
              <a:rPr sz="140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20" dirty="0">
                <a:solidFill>
                  <a:srgbClr val="34465C"/>
                </a:solidFill>
                <a:latin typeface="Trebuchet MS"/>
                <a:cs typeface="Trebuchet MS"/>
              </a:rPr>
              <a:t>js</a:t>
            </a:r>
            <a:r>
              <a:rPr sz="1400" spc="-9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40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120" dirty="0">
                <a:solidFill>
                  <a:srgbClr val="34465C"/>
                </a:solidFill>
                <a:latin typeface="Trebuchet MS"/>
                <a:cs typeface="Trebuchet MS"/>
              </a:rPr>
              <a:t>CSS</a:t>
            </a:r>
            <a:r>
              <a:rPr sz="140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ﬁles.</a:t>
            </a:r>
            <a:endParaRPr sz="1400">
              <a:latin typeface="Trebuchet MS"/>
              <a:cs typeface="Trebuchet MS"/>
            </a:endParaRPr>
          </a:p>
          <a:p>
            <a:pPr marL="236220" marR="50165" indent="-224154">
              <a:lnSpc>
                <a:spcPct val="100000"/>
              </a:lnSpc>
              <a:spcBef>
                <a:spcPts val="240"/>
              </a:spcBef>
              <a:buFont typeface="Times New Roman"/>
              <a:buChar char="●"/>
              <a:tabLst>
                <a:tab pos="236220" algn="l"/>
              </a:tabLst>
            </a:pPr>
            <a:r>
              <a:rPr sz="1400" spc="-20" dirty="0">
                <a:solidFill>
                  <a:srgbClr val="34465C"/>
                </a:solidFill>
                <a:latin typeface="Trebuchet MS"/>
                <a:cs typeface="Trebuchet MS"/>
              </a:rPr>
              <a:t>Whenever</a:t>
            </a:r>
            <a:r>
              <a:rPr sz="140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40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upload</a:t>
            </a:r>
            <a:r>
              <a:rPr sz="140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an</a:t>
            </a:r>
            <a:r>
              <a:rPr sz="140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image</a:t>
            </a:r>
            <a:r>
              <a:rPr sz="140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400" spc="-70" dirty="0">
                <a:solidFill>
                  <a:srgbClr val="34465C"/>
                </a:solidFill>
                <a:latin typeface="Trebuchet MS"/>
                <a:cs typeface="Trebuchet MS"/>
              </a:rPr>
              <a:t> predict,</a:t>
            </a:r>
            <a:r>
              <a:rPr sz="140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rgbClr val="34465C"/>
                </a:solidFill>
                <a:latin typeface="Trebuchet MS"/>
                <a:cs typeface="Trebuchet MS"/>
              </a:rPr>
              <a:t>that</a:t>
            </a:r>
            <a:r>
              <a:rPr sz="140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images</a:t>
            </a:r>
            <a:r>
              <a:rPr sz="140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rgbClr val="34465C"/>
                </a:solidFill>
                <a:latin typeface="Trebuchet MS"/>
                <a:cs typeface="Trebuchet MS"/>
              </a:rPr>
              <a:t>are</a:t>
            </a:r>
            <a:r>
              <a:rPr sz="140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saved</a:t>
            </a:r>
            <a:r>
              <a:rPr sz="140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40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25" dirty="0">
                <a:solidFill>
                  <a:srgbClr val="34465C"/>
                </a:solidFill>
                <a:latin typeface="Trebuchet MS"/>
                <a:cs typeface="Trebuchet MS"/>
              </a:rPr>
              <a:t>the </a:t>
            </a:r>
            <a:r>
              <a:rPr sz="1400" dirty="0">
                <a:solidFill>
                  <a:srgbClr val="34465C"/>
                </a:solidFill>
                <a:latin typeface="Trebuchet MS"/>
                <a:cs typeface="Trebuchet MS"/>
              </a:rPr>
              <a:t>uploads</a:t>
            </a:r>
            <a:r>
              <a:rPr sz="1400" spc="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400" spc="-10" dirty="0">
                <a:solidFill>
                  <a:srgbClr val="34465C"/>
                </a:solidFill>
                <a:latin typeface="Trebuchet MS"/>
                <a:cs typeface="Trebuchet MS"/>
              </a:rPr>
              <a:t>folder.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9" y="1257299"/>
            <a:ext cx="5943600" cy="28575"/>
          </a:xfrm>
          <a:custGeom>
            <a:avLst/>
            <a:gdLst/>
            <a:ahLst/>
            <a:cxnLst/>
            <a:rect l="l" t="t" r="r" b="b"/>
            <a:pathLst>
              <a:path w="5943600" h="28575">
                <a:moveTo>
                  <a:pt x="5943600" y="0"/>
                </a:moveTo>
                <a:lnTo>
                  <a:pt x="0" y="0"/>
                </a:lnTo>
                <a:lnTo>
                  <a:pt x="0" y="28575"/>
                </a:lnTo>
                <a:lnTo>
                  <a:pt x="5943600" y="28575"/>
                </a:lnTo>
                <a:lnTo>
                  <a:pt x="5943600" y="0"/>
                </a:lnTo>
                <a:close/>
              </a:path>
            </a:pathLst>
          </a:custGeom>
          <a:solidFill>
            <a:srgbClr val="893B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86354" y="921766"/>
            <a:ext cx="2597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solidFill>
                  <a:srgbClr val="CF5809"/>
                </a:solidFill>
                <a:latin typeface="Tahoma"/>
                <a:cs typeface="Tahoma"/>
              </a:rPr>
              <a:t>WORKING</a:t>
            </a:r>
            <a:r>
              <a:rPr sz="1800" b="1" spc="-30" dirty="0">
                <a:solidFill>
                  <a:srgbClr val="CF5809"/>
                </a:solidFill>
                <a:latin typeface="Tahoma"/>
                <a:cs typeface="Tahoma"/>
              </a:rPr>
              <a:t> </a:t>
            </a:r>
            <a:r>
              <a:rPr sz="1800" b="1" spc="-90" dirty="0">
                <a:solidFill>
                  <a:srgbClr val="CF5809"/>
                </a:solidFill>
                <a:latin typeface="Tahoma"/>
                <a:cs typeface="Tahoma"/>
              </a:rPr>
              <a:t>ON</a:t>
            </a:r>
            <a:r>
              <a:rPr sz="1800" b="1" spc="-20" dirty="0">
                <a:solidFill>
                  <a:srgbClr val="CF5809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CF5809"/>
                </a:solidFill>
                <a:latin typeface="Tahoma"/>
                <a:cs typeface="Tahoma"/>
              </a:rPr>
              <a:t>PROJECT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7108" y="1578609"/>
            <a:ext cx="2691765" cy="168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1.</a:t>
            </a:r>
            <a:r>
              <a:rPr sz="1050" spc="5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500" u="heavy" spc="-1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Dataset</a:t>
            </a:r>
            <a:r>
              <a:rPr sz="1500" u="heavy" spc="-145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1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Collection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050" spc="114" dirty="0">
                <a:latin typeface="Calibri"/>
                <a:cs typeface="Calibri"/>
              </a:rPr>
              <a:t>The</a:t>
            </a:r>
            <a:r>
              <a:rPr sz="1050" spc="40" dirty="0">
                <a:latin typeface="Calibri"/>
                <a:cs typeface="Calibri"/>
              </a:rPr>
              <a:t> </a:t>
            </a:r>
            <a:r>
              <a:rPr sz="1050" spc="105" dirty="0">
                <a:latin typeface="Calibri"/>
                <a:cs typeface="Calibri"/>
              </a:rPr>
              <a:t>dataset</a:t>
            </a:r>
            <a:r>
              <a:rPr sz="1050" spc="35" dirty="0">
                <a:latin typeface="Calibri"/>
                <a:cs typeface="Calibri"/>
              </a:rPr>
              <a:t> </a:t>
            </a:r>
            <a:r>
              <a:rPr sz="1050" spc="110" dirty="0">
                <a:latin typeface="Calibri"/>
                <a:cs typeface="Calibri"/>
              </a:rPr>
              <a:t>contains</a:t>
            </a:r>
            <a:r>
              <a:rPr sz="1050" spc="30" dirty="0">
                <a:latin typeface="Calibri"/>
                <a:cs typeface="Calibri"/>
              </a:rPr>
              <a:t> </a:t>
            </a:r>
            <a:r>
              <a:rPr sz="1050" spc="80" dirty="0">
                <a:latin typeface="Calibri"/>
                <a:cs typeface="Calibri"/>
              </a:rPr>
              <a:t>six</a:t>
            </a:r>
            <a:r>
              <a:rPr sz="1050" spc="45" dirty="0">
                <a:latin typeface="Calibri"/>
                <a:cs typeface="Calibri"/>
              </a:rPr>
              <a:t> </a:t>
            </a:r>
            <a:r>
              <a:rPr sz="1050" spc="65" dirty="0">
                <a:latin typeface="Calibri"/>
                <a:cs typeface="Calibri"/>
              </a:rPr>
              <a:t>classes: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050">
              <a:latin typeface="Calibri"/>
              <a:cs typeface="Calibri"/>
            </a:endParaRPr>
          </a:p>
          <a:p>
            <a:pPr marL="467359" indent="-22606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7359" algn="l"/>
              </a:tabLst>
            </a:pPr>
            <a:r>
              <a:rPr sz="1050" dirty="0">
                <a:solidFill>
                  <a:srgbClr val="35465C"/>
                </a:solidFill>
                <a:latin typeface="Arial"/>
                <a:cs typeface="Arial"/>
              </a:rPr>
              <a:t>Left</a:t>
            </a:r>
            <a:r>
              <a:rPr sz="1050" spc="105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5465C"/>
                </a:solidFill>
                <a:latin typeface="Arial"/>
                <a:cs typeface="Arial"/>
              </a:rPr>
              <a:t>Bundle</a:t>
            </a:r>
            <a:r>
              <a:rPr sz="1050" spc="100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5465C"/>
                </a:solidFill>
                <a:latin typeface="Arial"/>
                <a:cs typeface="Arial"/>
              </a:rPr>
              <a:t>Branch</a:t>
            </a:r>
            <a:r>
              <a:rPr sz="1050" spc="105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5465C"/>
                </a:solidFill>
                <a:latin typeface="Arial"/>
                <a:cs typeface="Arial"/>
              </a:rPr>
              <a:t>Block</a:t>
            </a:r>
            <a:endParaRPr sz="10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67359" algn="l"/>
              </a:tabLst>
            </a:pPr>
            <a:r>
              <a:rPr sz="1050" spc="-10" dirty="0">
                <a:solidFill>
                  <a:srgbClr val="35465C"/>
                </a:solidFill>
                <a:latin typeface="Arial"/>
                <a:cs typeface="Arial"/>
              </a:rPr>
              <a:t>Normal</a:t>
            </a:r>
            <a:endParaRPr sz="10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467359" algn="l"/>
              </a:tabLst>
            </a:pPr>
            <a:r>
              <a:rPr sz="1050" spc="10" dirty="0">
                <a:solidFill>
                  <a:srgbClr val="35465C"/>
                </a:solidFill>
                <a:latin typeface="Arial"/>
                <a:cs typeface="Arial"/>
              </a:rPr>
              <a:t>Premature</a:t>
            </a:r>
            <a:r>
              <a:rPr sz="1050" spc="120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35465C"/>
                </a:solidFill>
                <a:latin typeface="Arial"/>
                <a:cs typeface="Arial"/>
              </a:rPr>
              <a:t>Atrial</a:t>
            </a:r>
            <a:r>
              <a:rPr sz="1050" spc="145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5465C"/>
                </a:solidFill>
                <a:latin typeface="Arial"/>
                <a:cs typeface="Arial"/>
              </a:rPr>
              <a:t>Contraction</a:t>
            </a:r>
            <a:endParaRPr sz="10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67359" algn="l"/>
              </a:tabLst>
            </a:pPr>
            <a:r>
              <a:rPr sz="1050" spc="10" dirty="0">
                <a:solidFill>
                  <a:srgbClr val="35465C"/>
                </a:solidFill>
                <a:latin typeface="Arial"/>
                <a:cs typeface="Arial"/>
              </a:rPr>
              <a:t>Premature</a:t>
            </a:r>
            <a:r>
              <a:rPr sz="1050" spc="160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spc="10" dirty="0">
                <a:solidFill>
                  <a:srgbClr val="35465C"/>
                </a:solidFill>
                <a:latin typeface="Arial"/>
                <a:cs typeface="Arial"/>
              </a:rPr>
              <a:t>Ventricular</a:t>
            </a:r>
            <a:r>
              <a:rPr sz="1050" spc="145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5465C"/>
                </a:solidFill>
                <a:latin typeface="Arial"/>
                <a:cs typeface="Arial"/>
              </a:rPr>
              <a:t>Contractions</a:t>
            </a:r>
            <a:endParaRPr sz="10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467359" algn="l"/>
              </a:tabLst>
            </a:pPr>
            <a:r>
              <a:rPr sz="1050" dirty="0">
                <a:solidFill>
                  <a:srgbClr val="35465C"/>
                </a:solidFill>
                <a:latin typeface="Arial"/>
                <a:cs typeface="Arial"/>
              </a:rPr>
              <a:t>Right</a:t>
            </a:r>
            <a:r>
              <a:rPr sz="1050" spc="80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5465C"/>
                </a:solidFill>
                <a:latin typeface="Arial"/>
                <a:cs typeface="Arial"/>
              </a:rPr>
              <a:t>Bundle</a:t>
            </a:r>
            <a:r>
              <a:rPr sz="1050" spc="75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5465C"/>
                </a:solidFill>
                <a:latin typeface="Arial"/>
                <a:cs typeface="Arial"/>
              </a:rPr>
              <a:t>Branch</a:t>
            </a:r>
            <a:r>
              <a:rPr sz="1050" spc="85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35465C"/>
                </a:solidFill>
                <a:latin typeface="Arial"/>
                <a:cs typeface="Arial"/>
              </a:rPr>
              <a:t>Block</a:t>
            </a:r>
            <a:endParaRPr sz="10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467359" algn="l"/>
              </a:tabLst>
            </a:pPr>
            <a:r>
              <a:rPr sz="1050" spc="10" dirty="0">
                <a:solidFill>
                  <a:srgbClr val="35465C"/>
                </a:solidFill>
                <a:latin typeface="Arial"/>
                <a:cs typeface="Arial"/>
              </a:rPr>
              <a:t>Ventricular</a:t>
            </a:r>
            <a:r>
              <a:rPr sz="1050" spc="140" dirty="0">
                <a:solidFill>
                  <a:srgbClr val="35465C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5465C"/>
                </a:solidFill>
                <a:latin typeface="Arial"/>
                <a:cs typeface="Arial"/>
              </a:rPr>
              <a:t>Fibrillation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5444697"/>
            <a:ext cx="5939155" cy="358203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462915" indent="-221615">
              <a:lnSpc>
                <a:spcPct val="100000"/>
              </a:lnSpc>
              <a:spcBef>
                <a:spcPts val="610"/>
              </a:spcBef>
              <a:buClr>
                <a:srgbClr val="34465C"/>
              </a:buClr>
              <a:buSzPct val="70000"/>
              <a:buAutoNum type="arabicPeriod" startAt="2"/>
              <a:tabLst>
                <a:tab pos="462915" algn="l"/>
              </a:tabLst>
            </a:pPr>
            <a:r>
              <a:rPr sz="1500" u="heavy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Image</a:t>
            </a:r>
            <a:r>
              <a:rPr sz="1500" u="heavy" spc="-25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1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Processin</a:t>
            </a:r>
            <a:r>
              <a:rPr sz="1500" spc="-10" dirty="0">
                <a:solidFill>
                  <a:srgbClr val="852437"/>
                </a:solidFill>
                <a:latin typeface="Trebuchet MS"/>
                <a:cs typeface="Trebuchet MS"/>
              </a:rPr>
              <a:t>g</a:t>
            </a:r>
            <a:endParaRPr sz="1500">
              <a:latin typeface="Trebuchet MS"/>
              <a:cs typeface="Trebuchet MS"/>
            </a:endParaRPr>
          </a:p>
          <a:p>
            <a:pPr marL="12700" marR="5080" indent="456565">
              <a:lnSpc>
                <a:spcPct val="119000"/>
              </a:lnSpc>
              <a:spcBef>
                <a:spcPts val="125"/>
              </a:spcBef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1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dataset</a:t>
            </a:r>
            <a:r>
              <a:rPr sz="1050" spc="2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20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our</a:t>
            </a:r>
            <a:r>
              <a:rPr sz="1050" spc="20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project</a:t>
            </a:r>
            <a:r>
              <a:rPr sz="1050" spc="2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includes</a:t>
            </a:r>
            <a:r>
              <a:rPr sz="1050" spc="19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images</a:t>
            </a:r>
            <a:r>
              <a:rPr sz="1050" spc="204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20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different</a:t>
            </a:r>
            <a:r>
              <a:rPr sz="1050" spc="2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classes</a:t>
            </a:r>
            <a:r>
              <a:rPr sz="1050" spc="1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(6</a:t>
            </a:r>
            <a:r>
              <a:rPr sz="1050" spc="1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classes)</a:t>
            </a:r>
            <a:r>
              <a:rPr sz="1050" spc="1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which</a:t>
            </a:r>
            <a:r>
              <a:rPr sz="1050" spc="1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need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"Image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Processing" step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before</a:t>
            </a:r>
            <a:r>
              <a:rPr sz="1050" spc="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feeding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input</a:t>
            </a:r>
            <a:r>
              <a:rPr sz="1050" spc="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ANN.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This</a:t>
            </a:r>
            <a:r>
              <a:rPr sz="1050" spc="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Image processing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include</a:t>
            </a:r>
            <a:endParaRPr sz="1050">
              <a:latin typeface="Trebuchet MS"/>
              <a:cs typeface="Trebuchet MS"/>
            </a:endParaRPr>
          </a:p>
          <a:p>
            <a:pPr marL="925194" lvl="1" indent="-227329">
              <a:lnSpc>
                <a:spcPct val="100000"/>
              </a:lnSpc>
              <a:spcBef>
                <a:spcPts val="240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25194" algn="l"/>
              </a:tabLst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Augmenting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image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feature,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image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data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generator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library.</a:t>
            </a:r>
            <a:endParaRPr sz="1050">
              <a:latin typeface="Trebuchet MS"/>
              <a:cs typeface="Trebuchet MS"/>
            </a:endParaRPr>
          </a:p>
          <a:p>
            <a:pPr marL="958850" lvl="1" indent="-262255">
              <a:lnSpc>
                <a:spcPct val="100000"/>
              </a:lnSpc>
              <a:spcBef>
                <a:spcPts val="540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58850" algn="l"/>
              </a:tabLst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Load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dataset.</a:t>
            </a:r>
            <a:endParaRPr sz="1050">
              <a:latin typeface="Trebuchet MS"/>
              <a:cs typeface="Trebuchet MS"/>
            </a:endParaRPr>
          </a:p>
          <a:p>
            <a:pPr marL="925194" lvl="1" indent="-227329">
              <a:lnSpc>
                <a:spcPct val="100000"/>
              </a:lnSpc>
              <a:spcBef>
                <a:spcPts val="540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25194" algn="l"/>
              </a:tabLst>
            </a:pP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Apply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augmented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feature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train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set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test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set.</a:t>
            </a:r>
            <a:endParaRPr sz="105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825"/>
              </a:spcBef>
              <a:buFont typeface="Times New Roman"/>
              <a:buChar char="●"/>
            </a:pPr>
            <a:endParaRPr sz="1050">
              <a:latin typeface="Trebuchet MS"/>
              <a:cs typeface="Trebuchet MS"/>
            </a:endParaRPr>
          </a:p>
          <a:p>
            <a:pPr marL="462915" indent="-221615">
              <a:lnSpc>
                <a:spcPct val="100000"/>
              </a:lnSpc>
              <a:spcBef>
                <a:spcPts val="5"/>
              </a:spcBef>
              <a:buClr>
                <a:srgbClr val="34465C"/>
              </a:buClr>
              <a:buSzPct val="70000"/>
              <a:buAutoNum type="arabicPeriod" startAt="3"/>
              <a:tabLst>
                <a:tab pos="462915" algn="l"/>
              </a:tabLst>
            </a:pPr>
            <a:r>
              <a:rPr sz="1500" u="heavy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Model</a:t>
            </a:r>
            <a:r>
              <a:rPr sz="1500" u="heavy" spc="4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1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Buildin</a:t>
            </a:r>
            <a:r>
              <a:rPr sz="1500" spc="-10" dirty="0">
                <a:solidFill>
                  <a:srgbClr val="852437"/>
                </a:solidFill>
                <a:latin typeface="Trebuchet MS"/>
                <a:cs typeface="Trebuchet MS"/>
              </a:rPr>
              <a:t>g</a:t>
            </a:r>
            <a:endParaRPr sz="1500">
              <a:latin typeface="Trebuchet MS"/>
              <a:cs typeface="Trebuchet MS"/>
            </a:endParaRPr>
          </a:p>
          <a:p>
            <a:pPr marL="469265" marR="182245">
              <a:lnSpc>
                <a:spcPct val="119000"/>
              </a:lnSpc>
              <a:spcBef>
                <a:spcPts val="130"/>
              </a:spcBef>
            </a:pPr>
            <a:r>
              <a:rPr sz="1050" spc="85" dirty="0">
                <a:solidFill>
                  <a:srgbClr val="34465C"/>
                </a:solidFill>
                <a:latin typeface="Trebuchet MS"/>
                <a:cs typeface="Trebuchet MS"/>
              </a:rPr>
              <a:t>As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Image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Processing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step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done,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now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start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build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34465C"/>
                </a:solidFill>
                <a:latin typeface="Trebuchet MS"/>
                <a:cs typeface="Trebuchet MS"/>
              </a:rPr>
              <a:t>CNN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for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prediction.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This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step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includes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following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steps:</a:t>
            </a:r>
            <a:endParaRPr sz="1050">
              <a:latin typeface="Trebuchet MS"/>
              <a:cs typeface="Trebuchet MS"/>
            </a:endParaRPr>
          </a:p>
          <a:p>
            <a:pPr marL="925194" lvl="1" indent="-227329">
              <a:lnSpc>
                <a:spcPct val="100000"/>
              </a:lnSpc>
              <a:spcBef>
                <a:spcPts val="225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25194" algn="l"/>
              </a:tabLst>
            </a:pP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Import</a:t>
            </a:r>
            <a:r>
              <a:rPr sz="105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libs</a:t>
            </a:r>
            <a:endParaRPr sz="1050">
              <a:latin typeface="Trebuchet MS"/>
              <a:cs typeface="Trebuchet MS"/>
            </a:endParaRPr>
          </a:p>
          <a:p>
            <a:pPr marL="925194" lvl="1" indent="-227329">
              <a:lnSpc>
                <a:spcPct val="100000"/>
              </a:lnSpc>
              <a:spcBef>
                <a:spcPts val="540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25194" algn="l"/>
              </a:tabLst>
            </a:pP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Initialize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the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endParaRPr sz="1050">
              <a:latin typeface="Trebuchet MS"/>
              <a:cs typeface="Trebuchet MS"/>
            </a:endParaRPr>
          </a:p>
          <a:p>
            <a:pPr marL="925194" lvl="1" indent="-227329">
              <a:lnSpc>
                <a:spcPct val="100000"/>
              </a:lnSpc>
              <a:spcBef>
                <a:spcPts val="540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25194" algn="l"/>
              </a:tabLst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Add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34465C"/>
                </a:solidFill>
                <a:latin typeface="Trebuchet MS"/>
                <a:cs typeface="Trebuchet MS"/>
              </a:rPr>
              <a:t>CNN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layers</a:t>
            </a:r>
            <a:endParaRPr sz="1050">
              <a:latin typeface="Trebuchet MS"/>
              <a:cs typeface="Trebuchet MS"/>
            </a:endParaRPr>
          </a:p>
          <a:p>
            <a:pPr marL="925194" lvl="1" indent="-227329">
              <a:lnSpc>
                <a:spcPct val="100000"/>
              </a:lnSpc>
              <a:spcBef>
                <a:spcPts val="540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25194" algn="l"/>
              </a:tabLst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Conﬁgure</a:t>
            </a:r>
            <a:r>
              <a:rPr sz="1050" spc="-10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your</a:t>
            </a:r>
            <a:r>
              <a:rPr sz="1050" spc="-9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learning</a:t>
            </a:r>
            <a:endParaRPr sz="1050">
              <a:latin typeface="Trebuchet MS"/>
              <a:cs typeface="Trebuchet MS"/>
            </a:endParaRPr>
          </a:p>
          <a:p>
            <a:pPr marL="925194" lvl="1" indent="-227329">
              <a:lnSpc>
                <a:spcPct val="100000"/>
              </a:lnSpc>
              <a:spcBef>
                <a:spcPts val="540"/>
              </a:spcBef>
              <a:buClr>
                <a:srgbClr val="171717"/>
              </a:buClr>
              <a:buSzPct val="90476"/>
              <a:buFont typeface="Times New Roman"/>
              <a:buChar char="●"/>
              <a:tabLst>
                <a:tab pos="925194" algn="l"/>
              </a:tabLst>
            </a:pP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Fit</a:t>
            </a:r>
            <a:r>
              <a:rPr sz="1050" spc="-7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data</a:t>
            </a:r>
            <a:endParaRPr sz="1050">
              <a:latin typeface="Trebuchet MS"/>
              <a:cs typeface="Trebuchet MS"/>
            </a:endParaRPr>
          </a:p>
          <a:p>
            <a:pPr marL="922019" lvl="1" indent="-224154">
              <a:lnSpc>
                <a:spcPct val="100000"/>
              </a:lnSpc>
              <a:spcBef>
                <a:spcPts val="540"/>
              </a:spcBef>
              <a:buFont typeface="Times New Roman"/>
              <a:buChar char="●"/>
              <a:tabLst>
                <a:tab pos="922019" algn="l"/>
              </a:tabLst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Save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764" y="3627246"/>
            <a:ext cx="2025650" cy="172046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34489"/>
            <a:ext cx="5978525" cy="383349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462915" indent="-221615">
              <a:lnSpc>
                <a:spcPct val="100000"/>
              </a:lnSpc>
              <a:spcBef>
                <a:spcPts val="625"/>
              </a:spcBef>
              <a:buClr>
                <a:srgbClr val="34465C"/>
              </a:buClr>
              <a:buSzPct val="70000"/>
              <a:buAutoNum type="arabicPeriod" startAt="4"/>
              <a:tabLst>
                <a:tab pos="462915" algn="l"/>
              </a:tabLst>
            </a:pPr>
            <a:r>
              <a:rPr sz="1500" u="heavy" spc="-4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Application</a:t>
            </a:r>
            <a:r>
              <a:rPr sz="1500" u="heavy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1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Buildin</a:t>
            </a:r>
            <a:r>
              <a:rPr sz="1500" spc="-10" dirty="0">
                <a:solidFill>
                  <a:srgbClr val="852437"/>
                </a:solidFill>
                <a:latin typeface="Trebuchet MS"/>
                <a:cs typeface="Trebuchet MS"/>
              </a:rPr>
              <a:t>g</a:t>
            </a:r>
            <a:endParaRPr sz="1500">
              <a:latin typeface="Trebuchet MS"/>
              <a:cs typeface="Trebuchet MS"/>
            </a:endParaRPr>
          </a:p>
          <a:p>
            <a:pPr marL="12700" marR="6985" algn="just">
              <a:lnSpc>
                <a:spcPct val="118100"/>
              </a:lnSpc>
              <a:spcBef>
                <a:spcPts val="150"/>
              </a:spcBef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this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project,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not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only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build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55" dirty="0">
                <a:solidFill>
                  <a:srgbClr val="34465C"/>
                </a:solidFill>
                <a:latin typeface="Trebuchet MS"/>
                <a:cs typeface="Trebuchet MS"/>
              </a:rPr>
              <a:t>CNN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model,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but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also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build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Application,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proper platform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to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use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this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trained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model,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using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micro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web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framework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called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1" spc="-10" dirty="0">
                <a:solidFill>
                  <a:srgbClr val="34465C"/>
                </a:solidFill>
                <a:latin typeface="Trebuchet MS"/>
                <a:cs typeface="Trebuchet MS"/>
              </a:rPr>
              <a:t>FLASK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.</a:t>
            </a:r>
            <a:endParaRPr sz="1050">
              <a:latin typeface="Trebuchet MS"/>
              <a:cs typeface="Trebuchet MS"/>
            </a:endParaRPr>
          </a:p>
          <a:p>
            <a:pPr marL="12700" marR="5080" algn="just">
              <a:lnSpc>
                <a:spcPct val="119000"/>
              </a:lnSpc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For</a:t>
            </a:r>
            <a:r>
              <a:rPr sz="1050" spc="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this</a:t>
            </a:r>
            <a:r>
              <a:rPr sz="105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050" spc="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create</a:t>
            </a:r>
            <a:r>
              <a:rPr sz="1050" spc="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34465C"/>
                </a:solidFill>
                <a:latin typeface="Trebuchet MS"/>
                <a:cs typeface="Trebuchet MS"/>
              </a:rPr>
              <a:t>HTML</a:t>
            </a:r>
            <a:r>
              <a:rPr sz="1050" spc="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pages</a:t>
            </a:r>
            <a:r>
              <a:rPr sz="1050" spc="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(with</a:t>
            </a:r>
            <a:r>
              <a:rPr sz="1050" spc="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associated</a:t>
            </a:r>
            <a:r>
              <a:rPr sz="1050" spc="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90" dirty="0">
                <a:solidFill>
                  <a:srgbClr val="34465C"/>
                </a:solidFill>
                <a:latin typeface="Trebuchet MS"/>
                <a:cs typeface="Trebuchet MS"/>
              </a:rPr>
              <a:t>CSS</a:t>
            </a:r>
            <a:r>
              <a:rPr sz="105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100" dirty="0">
                <a:solidFill>
                  <a:srgbClr val="34465C"/>
                </a:solidFill>
                <a:latin typeface="Trebuchet MS"/>
                <a:cs typeface="Trebuchet MS"/>
              </a:rPr>
              <a:t>JS</a:t>
            </a:r>
            <a:r>
              <a:rPr sz="1050" spc="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pages)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which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shares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some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information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about</a:t>
            </a:r>
            <a:r>
              <a:rPr sz="1050" spc="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Arrhythmia</a:t>
            </a:r>
            <a:r>
              <a:rPr sz="1050" spc="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classiﬁcations,</a:t>
            </a:r>
            <a:r>
              <a:rPr sz="1050" spc="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spc="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'predict'</a:t>
            </a:r>
            <a:r>
              <a:rPr sz="1050" spc="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page,</a:t>
            </a:r>
            <a:r>
              <a:rPr sz="105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05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predict</a:t>
            </a:r>
            <a:r>
              <a:rPr sz="1050" spc="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type</a:t>
            </a:r>
            <a:r>
              <a:rPr sz="1050" spc="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Arrhythmia given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34465C"/>
                </a:solidFill>
                <a:latin typeface="Trebuchet MS"/>
                <a:cs typeface="Trebuchet MS"/>
              </a:rPr>
              <a:t>as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Image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Input.</a:t>
            </a:r>
            <a:endParaRPr sz="105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229"/>
              </a:spcBef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These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34465C"/>
                </a:solidFill>
                <a:latin typeface="Trebuchet MS"/>
                <a:cs typeface="Trebuchet MS"/>
              </a:rPr>
              <a:t>HTML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pages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are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used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make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proper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interface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(a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website)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showcase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our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project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output.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05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Flask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folder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includes</a:t>
            </a:r>
            <a:endParaRPr sz="105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240"/>
              </a:spcBef>
            </a:pP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templates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(to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store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.html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ﬁles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needed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for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our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website)</a:t>
            </a:r>
            <a:endParaRPr sz="1050">
              <a:latin typeface="Trebuchet MS"/>
              <a:cs typeface="Trebuchet MS"/>
            </a:endParaRPr>
          </a:p>
          <a:p>
            <a:pPr marL="12700" marR="2235835" algn="just">
              <a:lnSpc>
                <a:spcPct val="119000"/>
              </a:lnSpc>
              <a:spcBef>
                <a:spcPts val="5"/>
              </a:spcBef>
            </a:pP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static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(to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store</a:t>
            </a:r>
            <a:r>
              <a:rPr sz="1050" spc="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.css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85" dirty="0">
                <a:solidFill>
                  <a:srgbClr val="34465C"/>
                </a:solidFill>
                <a:latin typeface="Trebuchet MS"/>
                <a:cs typeface="Trebuchet MS"/>
              </a:rPr>
              <a:t>.js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some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images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included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.html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ﬁles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)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uploads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(to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store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images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we uploaded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while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using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app)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app.py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(ﬂask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application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development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python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ﬁle)</a:t>
            </a:r>
            <a:endParaRPr sz="105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229"/>
              </a:spcBef>
            </a:pP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&lt;modelname&gt;.h5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ﬁle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(CNN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trained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that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given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ﬂask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application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65" dirty="0">
                <a:solidFill>
                  <a:srgbClr val="34465C"/>
                </a:solidFill>
                <a:latin typeface="Trebuchet MS"/>
                <a:cs typeface="Trebuchet MS"/>
              </a:rPr>
              <a:t>as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input)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50">
              <a:latin typeface="Trebuchet MS"/>
              <a:cs typeface="Trebuchet MS"/>
            </a:endParaRPr>
          </a:p>
          <a:p>
            <a:pPr marL="462915" indent="-221615">
              <a:lnSpc>
                <a:spcPct val="100000"/>
              </a:lnSpc>
              <a:buClr>
                <a:srgbClr val="34465C"/>
              </a:buClr>
              <a:buSzPct val="70000"/>
              <a:buAutoNum type="arabicPeriod" startAt="5"/>
              <a:tabLst>
                <a:tab pos="462915" algn="l"/>
              </a:tabLst>
            </a:pPr>
            <a:r>
              <a:rPr sz="1500" u="heavy" spc="-3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Train</a:t>
            </a:r>
            <a:r>
              <a:rPr sz="1500" u="heavy" spc="-10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55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the</a:t>
            </a:r>
            <a:r>
              <a:rPr sz="1500" u="heavy" spc="-10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1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model</a:t>
            </a:r>
            <a:r>
              <a:rPr sz="1500" u="heavy" spc="-9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on</a:t>
            </a:r>
            <a:r>
              <a:rPr sz="1500" u="heavy" spc="-9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Google</a:t>
            </a:r>
            <a:r>
              <a:rPr sz="1500" u="heavy" spc="-45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Colob</a:t>
            </a:r>
            <a:r>
              <a:rPr sz="1500" u="heavy" spc="-35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or</a:t>
            </a:r>
            <a:r>
              <a:rPr sz="1500" u="heavy" spc="-3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25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Jupyter</a:t>
            </a:r>
            <a:r>
              <a:rPr sz="1500" u="heavy" spc="-5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 </a:t>
            </a:r>
            <a:r>
              <a:rPr sz="1500" u="heavy" spc="-10" dirty="0">
                <a:solidFill>
                  <a:srgbClr val="852437"/>
                </a:solidFill>
                <a:uFill>
                  <a:solidFill>
                    <a:srgbClr val="852437"/>
                  </a:solidFill>
                </a:uFill>
                <a:latin typeface="Trebuchet MS"/>
                <a:cs typeface="Trebuchet MS"/>
              </a:rPr>
              <a:t>Notebook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30"/>
              </a:spcBef>
              <a:buClr>
                <a:srgbClr val="34465C"/>
              </a:buClr>
              <a:buFont typeface="Trebuchet MS"/>
              <a:buAutoNum type="arabicPeriod" startAt="5"/>
            </a:pPr>
            <a:endParaRPr sz="1500">
              <a:latin typeface="Trebuchet MS"/>
              <a:cs typeface="Trebuchet MS"/>
            </a:endParaRPr>
          </a:p>
          <a:p>
            <a:pPr marL="918844" lvl="1" indent="-228600">
              <a:lnSpc>
                <a:spcPct val="100000"/>
              </a:lnSpc>
              <a:buFont typeface="Symbol"/>
              <a:buChar char=""/>
              <a:tabLst>
                <a:tab pos="918844" algn="l"/>
              </a:tabLst>
            </a:pPr>
            <a:r>
              <a:rPr sz="1100" spc="-10" dirty="0">
                <a:latin typeface="Trebuchet MS"/>
                <a:cs typeface="Trebuchet MS"/>
              </a:rPr>
              <a:t>unzip</a:t>
            </a:r>
            <a:r>
              <a:rPr sz="1100" spc="-35" dirty="0">
                <a:latin typeface="Trebuchet MS"/>
                <a:cs typeface="Trebuchet MS"/>
              </a:rPr>
              <a:t> the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zip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spc="-25" dirty="0">
                <a:latin typeface="Trebuchet MS"/>
                <a:cs typeface="Trebuchet MS"/>
              </a:rPr>
              <a:t>folder</a:t>
            </a:r>
            <a:r>
              <a:rPr sz="1100" spc="-35" dirty="0">
                <a:latin typeface="Trebuchet MS"/>
                <a:cs typeface="Trebuchet MS"/>
              </a:rPr>
              <a:t> in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google</a:t>
            </a:r>
            <a:r>
              <a:rPr sz="1100" spc="-5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colob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from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drive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950" y="5062465"/>
            <a:ext cx="5962650" cy="227826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0133" y="940053"/>
            <a:ext cx="15652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rebuchet MS"/>
                <a:cs typeface="Trebuchet MS"/>
              </a:rPr>
              <a:t>Image</a:t>
            </a:r>
            <a:r>
              <a:rPr sz="1100" spc="4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preprocessing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0133" y="4534026"/>
            <a:ext cx="14160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spc="-20" dirty="0">
                <a:latin typeface="Trebuchet MS"/>
                <a:cs typeface="Trebuchet MS"/>
              </a:rPr>
              <a:t>Train</a:t>
            </a:r>
            <a:r>
              <a:rPr sz="1100" spc="5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class</a:t>
            </a:r>
            <a:r>
              <a:rPr sz="1100" spc="5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Indices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133" y="5995796"/>
            <a:ext cx="117856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rebuchet MS"/>
                <a:cs typeface="Trebuchet MS"/>
              </a:rPr>
              <a:t>Model</a:t>
            </a:r>
            <a:r>
              <a:rPr sz="1100" spc="8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Building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1127886"/>
            <a:ext cx="6203950" cy="2870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00" y="4721352"/>
            <a:ext cx="6210300" cy="8989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374" y="6519798"/>
            <a:ext cx="6172200" cy="2215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" y="914399"/>
              <a:ext cx="6210300" cy="23431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3764" y="3517422"/>
              <a:ext cx="6210300" cy="26776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3764" y="6484670"/>
              <a:ext cx="6210300" cy="281713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" y="2473993"/>
              <a:ext cx="6210300" cy="277466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299" y="5505703"/>
              <a:ext cx="6210300" cy="28194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580133" y="1587753"/>
            <a:ext cx="46996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rebuchet MS"/>
                <a:cs typeface="Trebuchet MS"/>
              </a:rPr>
              <a:t>You</a:t>
            </a:r>
            <a:r>
              <a:rPr sz="1100" spc="-4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can</a:t>
            </a:r>
            <a:r>
              <a:rPr sz="1100" spc="-4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view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the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rebuchet MS"/>
                <a:cs typeface="Trebuchet MS"/>
              </a:rPr>
              <a:t>train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history</a:t>
            </a:r>
            <a:r>
              <a:rPr sz="1100" spc="-3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about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loss,accuracy,val_loss,val_accuracy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sp>
          <p:nvSpPr>
            <p:cNvPr id="3" name="object 3"/>
            <p:cNvSpPr/>
            <p:nvPr/>
          </p:nvSpPr>
          <p:spPr>
            <a:xfrm>
              <a:off x="5220970" y="9888220"/>
              <a:ext cx="36830" cy="9525"/>
            </a:xfrm>
            <a:custGeom>
              <a:avLst/>
              <a:gdLst/>
              <a:ahLst/>
              <a:cxnLst/>
              <a:rect l="l" t="t" r="r" b="b"/>
              <a:pathLst>
                <a:path w="36829" h="9525">
                  <a:moveTo>
                    <a:pt x="36829" y="0"/>
                  </a:moveTo>
                  <a:lnTo>
                    <a:pt x="0" y="0"/>
                  </a:lnTo>
                  <a:lnTo>
                    <a:pt x="0" y="9524"/>
                  </a:lnTo>
                  <a:lnTo>
                    <a:pt x="36829" y="9524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00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299" y="1191260"/>
              <a:ext cx="6210300" cy="2895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299" y="4384486"/>
              <a:ext cx="6210300" cy="2866477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0133" y="901953"/>
            <a:ext cx="13265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0665" algn="l"/>
              </a:tabLst>
            </a:pPr>
            <a:r>
              <a:rPr sz="1100" dirty="0">
                <a:latin typeface="Trebuchet MS"/>
                <a:cs typeface="Trebuchet MS"/>
              </a:rPr>
              <a:t>Saving</a:t>
            </a:r>
            <a:r>
              <a:rPr sz="1100" spc="35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the</a:t>
            </a:r>
            <a:r>
              <a:rPr sz="1100" spc="2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model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1905023"/>
            <a:ext cx="6210300" cy="27913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36421"/>
            <a:ext cx="5216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7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Create</a:t>
            </a:r>
            <a:r>
              <a:rPr u="sng" spc="-1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8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html</a:t>
            </a:r>
            <a:r>
              <a:rPr u="sng" spc="-11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files</a:t>
            </a:r>
            <a:r>
              <a:rPr u="sng" spc="-1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and</a:t>
            </a:r>
            <a:r>
              <a:rPr u="sng" spc="-1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flask</a:t>
            </a:r>
            <a:r>
              <a:rPr u="sng" spc="-114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application</a:t>
            </a:r>
          </a:p>
        </p:txBody>
      </p:sp>
      <p:sp>
        <p:nvSpPr>
          <p:cNvPr id="3" name="object 3"/>
          <p:cNvSpPr/>
          <p:nvPr/>
        </p:nvSpPr>
        <p:spPr>
          <a:xfrm>
            <a:off x="731520" y="1900681"/>
            <a:ext cx="6248400" cy="7940040"/>
          </a:xfrm>
          <a:custGeom>
            <a:avLst/>
            <a:gdLst/>
            <a:ahLst/>
            <a:cxnLst/>
            <a:rect l="l" t="t" r="r" b="b"/>
            <a:pathLst>
              <a:path w="6248400" h="7940040">
                <a:moveTo>
                  <a:pt x="6248146" y="7758443"/>
                </a:moveTo>
                <a:lnTo>
                  <a:pt x="0" y="7758443"/>
                </a:lnTo>
                <a:lnTo>
                  <a:pt x="0" y="7939786"/>
                </a:lnTo>
                <a:lnTo>
                  <a:pt x="6248146" y="7939786"/>
                </a:lnTo>
                <a:lnTo>
                  <a:pt x="6248146" y="7758443"/>
                </a:lnTo>
                <a:close/>
              </a:path>
              <a:path w="6248400" h="7940040">
                <a:moveTo>
                  <a:pt x="6248146" y="6673101"/>
                </a:moveTo>
                <a:lnTo>
                  <a:pt x="0" y="6673101"/>
                </a:lnTo>
                <a:lnTo>
                  <a:pt x="0" y="6852869"/>
                </a:lnTo>
                <a:lnTo>
                  <a:pt x="0" y="6852920"/>
                </a:lnTo>
                <a:lnTo>
                  <a:pt x="0" y="7758430"/>
                </a:lnTo>
                <a:lnTo>
                  <a:pt x="6248146" y="7758430"/>
                </a:lnTo>
                <a:lnTo>
                  <a:pt x="6248146" y="6852869"/>
                </a:lnTo>
                <a:lnTo>
                  <a:pt x="6248146" y="6673101"/>
                </a:lnTo>
                <a:close/>
              </a:path>
              <a:path w="6248400" h="7940040">
                <a:moveTo>
                  <a:pt x="6248146" y="5404815"/>
                </a:moveTo>
                <a:lnTo>
                  <a:pt x="0" y="5404815"/>
                </a:lnTo>
                <a:lnTo>
                  <a:pt x="0" y="5586476"/>
                </a:lnTo>
                <a:lnTo>
                  <a:pt x="0" y="5767832"/>
                </a:lnTo>
                <a:lnTo>
                  <a:pt x="0" y="6673088"/>
                </a:lnTo>
                <a:lnTo>
                  <a:pt x="6248146" y="6673088"/>
                </a:lnTo>
                <a:lnTo>
                  <a:pt x="6248146" y="5586476"/>
                </a:lnTo>
                <a:lnTo>
                  <a:pt x="6248146" y="5404815"/>
                </a:lnTo>
                <a:close/>
              </a:path>
              <a:path w="6248400" h="7940040">
                <a:moveTo>
                  <a:pt x="6248146" y="4138307"/>
                </a:moveTo>
                <a:lnTo>
                  <a:pt x="0" y="4138307"/>
                </a:lnTo>
                <a:lnTo>
                  <a:pt x="0" y="4319651"/>
                </a:lnTo>
                <a:lnTo>
                  <a:pt x="0" y="4501007"/>
                </a:lnTo>
                <a:lnTo>
                  <a:pt x="0" y="5404739"/>
                </a:lnTo>
                <a:lnTo>
                  <a:pt x="6248146" y="5404739"/>
                </a:lnTo>
                <a:lnTo>
                  <a:pt x="6248146" y="4319651"/>
                </a:lnTo>
                <a:lnTo>
                  <a:pt x="6248146" y="4138307"/>
                </a:lnTo>
                <a:close/>
              </a:path>
              <a:path w="6248400" h="7940040">
                <a:moveTo>
                  <a:pt x="6248146" y="3414407"/>
                </a:moveTo>
                <a:lnTo>
                  <a:pt x="0" y="3414407"/>
                </a:lnTo>
                <a:lnTo>
                  <a:pt x="0" y="3595751"/>
                </a:lnTo>
                <a:lnTo>
                  <a:pt x="0" y="3777107"/>
                </a:lnTo>
                <a:lnTo>
                  <a:pt x="0" y="3956939"/>
                </a:lnTo>
                <a:lnTo>
                  <a:pt x="0" y="4138295"/>
                </a:lnTo>
                <a:lnTo>
                  <a:pt x="6248146" y="4138295"/>
                </a:lnTo>
                <a:lnTo>
                  <a:pt x="6248146" y="3956939"/>
                </a:lnTo>
                <a:lnTo>
                  <a:pt x="6248146" y="3777107"/>
                </a:lnTo>
                <a:lnTo>
                  <a:pt x="6248146" y="3595751"/>
                </a:lnTo>
                <a:lnTo>
                  <a:pt x="6248146" y="3414407"/>
                </a:lnTo>
                <a:close/>
              </a:path>
              <a:path w="6248400" h="7940040">
                <a:moveTo>
                  <a:pt x="6248146" y="2871609"/>
                </a:moveTo>
                <a:lnTo>
                  <a:pt x="0" y="2871609"/>
                </a:lnTo>
                <a:lnTo>
                  <a:pt x="0" y="3052953"/>
                </a:lnTo>
                <a:lnTo>
                  <a:pt x="0" y="3232734"/>
                </a:lnTo>
                <a:lnTo>
                  <a:pt x="0" y="3414395"/>
                </a:lnTo>
                <a:lnTo>
                  <a:pt x="6248146" y="3414395"/>
                </a:lnTo>
                <a:lnTo>
                  <a:pt x="6248146" y="3232785"/>
                </a:lnTo>
                <a:lnTo>
                  <a:pt x="6248146" y="3052953"/>
                </a:lnTo>
                <a:lnTo>
                  <a:pt x="6248146" y="2871609"/>
                </a:lnTo>
                <a:close/>
              </a:path>
              <a:path w="6248400" h="7940040">
                <a:moveTo>
                  <a:pt x="6248146" y="2508897"/>
                </a:moveTo>
                <a:lnTo>
                  <a:pt x="0" y="2508897"/>
                </a:lnTo>
                <a:lnTo>
                  <a:pt x="0" y="2690241"/>
                </a:lnTo>
                <a:lnTo>
                  <a:pt x="0" y="2871597"/>
                </a:lnTo>
                <a:lnTo>
                  <a:pt x="6248146" y="2871597"/>
                </a:lnTo>
                <a:lnTo>
                  <a:pt x="6248146" y="2690241"/>
                </a:lnTo>
                <a:lnTo>
                  <a:pt x="6248146" y="2508897"/>
                </a:lnTo>
                <a:close/>
              </a:path>
              <a:path w="6248400" h="7940040">
                <a:moveTo>
                  <a:pt x="6248146" y="2147709"/>
                </a:moveTo>
                <a:lnTo>
                  <a:pt x="0" y="2147709"/>
                </a:lnTo>
                <a:lnTo>
                  <a:pt x="0" y="2329053"/>
                </a:lnTo>
                <a:lnTo>
                  <a:pt x="0" y="2508885"/>
                </a:lnTo>
                <a:lnTo>
                  <a:pt x="6248146" y="2508885"/>
                </a:lnTo>
                <a:lnTo>
                  <a:pt x="6248146" y="2329053"/>
                </a:lnTo>
                <a:lnTo>
                  <a:pt x="6248146" y="2147709"/>
                </a:lnTo>
                <a:close/>
              </a:path>
              <a:path w="6248400" h="7940040">
                <a:moveTo>
                  <a:pt x="6248146" y="1784997"/>
                </a:moveTo>
                <a:lnTo>
                  <a:pt x="0" y="1784997"/>
                </a:lnTo>
                <a:lnTo>
                  <a:pt x="0" y="1966341"/>
                </a:lnTo>
                <a:lnTo>
                  <a:pt x="0" y="2147697"/>
                </a:lnTo>
                <a:lnTo>
                  <a:pt x="6248146" y="2147697"/>
                </a:lnTo>
                <a:lnTo>
                  <a:pt x="6248146" y="1966341"/>
                </a:lnTo>
                <a:lnTo>
                  <a:pt x="6248146" y="1784997"/>
                </a:lnTo>
                <a:close/>
              </a:path>
              <a:path w="6248400" h="7940040">
                <a:moveTo>
                  <a:pt x="6248146" y="1060780"/>
                </a:moveTo>
                <a:lnTo>
                  <a:pt x="0" y="1060780"/>
                </a:lnTo>
                <a:lnTo>
                  <a:pt x="0" y="1242441"/>
                </a:lnTo>
                <a:lnTo>
                  <a:pt x="0" y="1423797"/>
                </a:lnTo>
                <a:lnTo>
                  <a:pt x="0" y="1605153"/>
                </a:lnTo>
                <a:lnTo>
                  <a:pt x="0" y="1784985"/>
                </a:lnTo>
                <a:lnTo>
                  <a:pt x="6248146" y="1784985"/>
                </a:lnTo>
                <a:lnTo>
                  <a:pt x="6248146" y="1605153"/>
                </a:lnTo>
                <a:lnTo>
                  <a:pt x="6248146" y="1423797"/>
                </a:lnTo>
                <a:lnTo>
                  <a:pt x="6248146" y="1242441"/>
                </a:lnTo>
                <a:lnTo>
                  <a:pt x="6248146" y="1060780"/>
                </a:lnTo>
                <a:close/>
              </a:path>
              <a:path w="6248400" h="7940040">
                <a:moveTo>
                  <a:pt x="6248146" y="336816"/>
                </a:moveTo>
                <a:lnTo>
                  <a:pt x="0" y="336816"/>
                </a:lnTo>
                <a:lnTo>
                  <a:pt x="0" y="518160"/>
                </a:lnTo>
                <a:lnTo>
                  <a:pt x="0" y="699516"/>
                </a:lnTo>
                <a:lnTo>
                  <a:pt x="0" y="880872"/>
                </a:lnTo>
                <a:lnTo>
                  <a:pt x="0" y="1060704"/>
                </a:lnTo>
                <a:lnTo>
                  <a:pt x="6248146" y="1060704"/>
                </a:lnTo>
                <a:lnTo>
                  <a:pt x="6248146" y="880872"/>
                </a:lnTo>
                <a:lnTo>
                  <a:pt x="6248146" y="699516"/>
                </a:lnTo>
                <a:lnTo>
                  <a:pt x="6248146" y="518160"/>
                </a:lnTo>
                <a:lnTo>
                  <a:pt x="6248146" y="336816"/>
                </a:lnTo>
                <a:close/>
              </a:path>
              <a:path w="6248400" h="7940040">
                <a:moveTo>
                  <a:pt x="6248146" y="0"/>
                </a:moveTo>
                <a:lnTo>
                  <a:pt x="0" y="0"/>
                </a:lnTo>
                <a:lnTo>
                  <a:pt x="0" y="156972"/>
                </a:lnTo>
                <a:lnTo>
                  <a:pt x="0" y="336804"/>
                </a:lnTo>
                <a:lnTo>
                  <a:pt x="6248146" y="336804"/>
                </a:lnTo>
                <a:lnTo>
                  <a:pt x="6248146" y="156972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7108" y="1458214"/>
            <a:ext cx="5962650" cy="838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83945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1083945" algn="l"/>
              </a:tabLst>
            </a:pPr>
            <a:r>
              <a:rPr sz="1350" spc="-10" dirty="0">
                <a:latin typeface="Arial"/>
                <a:cs typeface="Arial"/>
              </a:rPr>
              <a:t>About.html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&lt;!DOCTYPE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html&gt;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html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head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title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&gt;Home&lt;/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title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5428615">
              <a:lnSpc>
                <a:spcPct val="112400"/>
              </a:lnSpc>
              <a:spcBef>
                <a:spcPts val="1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 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body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 marR="5080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background-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image:</a:t>
            </a:r>
            <a:r>
              <a:rPr sz="1050" spc="30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url("https://thumbs.gfycat.com/ChiefHeftyBasil-small.gif"); background-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size:</a:t>
            </a:r>
            <a:r>
              <a:rPr sz="1050" spc="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cover;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.pd{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padding-bottom:100%;}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.navbar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2700" marR="4256405">
              <a:lnSpc>
                <a:spcPct val="1131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margin: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0px;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padding:20px; background-color:white; opacity:0.6; color:black;</a:t>
            </a:r>
            <a:endParaRPr sz="1050">
              <a:latin typeface="Consolas"/>
              <a:cs typeface="Consolas"/>
            </a:endParaRPr>
          </a:p>
          <a:p>
            <a:pPr marL="12700" marR="3597275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font-family:'Roboto',sans-serif; font-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style: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 italic;</a:t>
            </a:r>
            <a:endParaRPr sz="1050">
              <a:latin typeface="Consolas"/>
              <a:cs typeface="Consolas"/>
            </a:endParaRPr>
          </a:p>
          <a:p>
            <a:pPr marL="12700" marR="4550410">
              <a:lnSpc>
                <a:spcPts val="1430"/>
              </a:lnSpc>
              <a:spcBef>
                <a:spcPts val="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border-radius:20px; font-size:25px;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2700" marR="5064125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color:grey; float:right;</a:t>
            </a:r>
            <a:endParaRPr sz="1050">
              <a:latin typeface="Consolas"/>
              <a:cs typeface="Consolas"/>
            </a:endParaRPr>
          </a:p>
          <a:p>
            <a:pPr marL="12700" marR="4404995">
              <a:lnSpc>
                <a:spcPct val="112999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text-decoration:none; font-style:normal; padding-right:20px;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a:hover{</a:t>
            </a:r>
            <a:endParaRPr sz="1050">
              <a:latin typeface="Consolas"/>
              <a:cs typeface="Consolas"/>
            </a:endParaRPr>
          </a:p>
          <a:p>
            <a:pPr marL="12700" marR="4256405">
              <a:lnSpc>
                <a:spcPts val="1430"/>
              </a:lnSpc>
              <a:spcBef>
                <a:spcPts val="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background-color:black; color:white;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border-radius:15px;0</a:t>
            </a:r>
            <a:endParaRPr sz="1050">
              <a:latin typeface="Consolas"/>
              <a:cs typeface="Consolas"/>
            </a:endParaRPr>
          </a:p>
          <a:p>
            <a:pPr marL="12700" marR="4623435">
              <a:lnSpc>
                <a:spcPct val="112400"/>
              </a:lnSpc>
              <a:spcBef>
                <a:spcPts val="1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font-size:30px; padding-left:10px;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p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color:white;</a:t>
            </a:r>
            <a:endParaRPr sz="1050">
              <a:latin typeface="Consolas"/>
              <a:cs typeface="Consolas"/>
            </a:endParaRPr>
          </a:p>
          <a:p>
            <a:pPr marL="12700" marR="4623435">
              <a:lnSpc>
                <a:spcPct val="11330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font-style:italic; font-size:30px;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864056"/>
            <a:ext cx="6248400" cy="7059295"/>
          </a:xfrm>
          <a:custGeom>
            <a:avLst/>
            <a:gdLst/>
            <a:ahLst/>
            <a:cxnLst/>
            <a:rect l="l" t="t" r="r" b="b"/>
            <a:pathLst>
              <a:path w="6248400" h="7059295">
                <a:moveTo>
                  <a:pt x="6248146" y="6516433"/>
                </a:moveTo>
                <a:lnTo>
                  <a:pt x="0" y="6516433"/>
                </a:lnTo>
                <a:lnTo>
                  <a:pt x="0" y="6696253"/>
                </a:lnTo>
                <a:lnTo>
                  <a:pt x="0" y="6877609"/>
                </a:lnTo>
                <a:lnTo>
                  <a:pt x="0" y="7058965"/>
                </a:lnTo>
                <a:lnTo>
                  <a:pt x="6248146" y="7058965"/>
                </a:lnTo>
                <a:lnTo>
                  <a:pt x="6248146" y="6877609"/>
                </a:lnTo>
                <a:lnTo>
                  <a:pt x="6248146" y="6696253"/>
                </a:lnTo>
                <a:lnTo>
                  <a:pt x="6248146" y="6516433"/>
                </a:lnTo>
                <a:close/>
              </a:path>
              <a:path w="6248400" h="7059295">
                <a:moveTo>
                  <a:pt x="6248146" y="6334760"/>
                </a:moveTo>
                <a:lnTo>
                  <a:pt x="0" y="6334760"/>
                </a:lnTo>
                <a:lnTo>
                  <a:pt x="0" y="6516421"/>
                </a:lnTo>
                <a:lnTo>
                  <a:pt x="6248146" y="6516421"/>
                </a:lnTo>
                <a:lnTo>
                  <a:pt x="6248146" y="6334760"/>
                </a:lnTo>
                <a:close/>
              </a:path>
              <a:path w="6248400" h="7059295">
                <a:moveTo>
                  <a:pt x="6248146" y="5610796"/>
                </a:moveTo>
                <a:lnTo>
                  <a:pt x="0" y="5610796"/>
                </a:lnTo>
                <a:lnTo>
                  <a:pt x="0" y="5792140"/>
                </a:lnTo>
                <a:lnTo>
                  <a:pt x="0" y="5971972"/>
                </a:lnTo>
                <a:lnTo>
                  <a:pt x="0" y="6153328"/>
                </a:lnTo>
                <a:lnTo>
                  <a:pt x="0" y="6334684"/>
                </a:lnTo>
                <a:lnTo>
                  <a:pt x="6248146" y="6334684"/>
                </a:lnTo>
                <a:lnTo>
                  <a:pt x="6248146" y="6153328"/>
                </a:lnTo>
                <a:lnTo>
                  <a:pt x="6248146" y="5971972"/>
                </a:lnTo>
                <a:lnTo>
                  <a:pt x="6248146" y="5792140"/>
                </a:lnTo>
                <a:lnTo>
                  <a:pt x="6248146" y="5610796"/>
                </a:lnTo>
                <a:close/>
              </a:path>
              <a:path w="6248400" h="7059295">
                <a:moveTo>
                  <a:pt x="6248146" y="5248084"/>
                </a:moveTo>
                <a:lnTo>
                  <a:pt x="0" y="5248084"/>
                </a:lnTo>
                <a:lnTo>
                  <a:pt x="0" y="5429428"/>
                </a:lnTo>
                <a:lnTo>
                  <a:pt x="0" y="5610784"/>
                </a:lnTo>
                <a:lnTo>
                  <a:pt x="6248146" y="5610784"/>
                </a:lnTo>
                <a:lnTo>
                  <a:pt x="6248146" y="5429428"/>
                </a:lnTo>
                <a:lnTo>
                  <a:pt x="6248146" y="5248084"/>
                </a:lnTo>
                <a:close/>
              </a:path>
              <a:path w="6248400" h="7059295">
                <a:moveTo>
                  <a:pt x="6248146" y="4886896"/>
                </a:moveTo>
                <a:lnTo>
                  <a:pt x="0" y="4886896"/>
                </a:lnTo>
                <a:lnTo>
                  <a:pt x="0" y="5068240"/>
                </a:lnTo>
                <a:lnTo>
                  <a:pt x="0" y="5248072"/>
                </a:lnTo>
                <a:lnTo>
                  <a:pt x="6248146" y="5248072"/>
                </a:lnTo>
                <a:lnTo>
                  <a:pt x="6248146" y="5068240"/>
                </a:lnTo>
                <a:lnTo>
                  <a:pt x="6248146" y="4886896"/>
                </a:lnTo>
                <a:close/>
              </a:path>
              <a:path w="6248400" h="7059295">
                <a:moveTo>
                  <a:pt x="6248146" y="4524184"/>
                </a:moveTo>
                <a:lnTo>
                  <a:pt x="0" y="4524184"/>
                </a:lnTo>
                <a:lnTo>
                  <a:pt x="0" y="4705528"/>
                </a:lnTo>
                <a:lnTo>
                  <a:pt x="0" y="4886884"/>
                </a:lnTo>
                <a:lnTo>
                  <a:pt x="6248146" y="4886884"/>
                </a:lnTo>
                <a:lnTo>
                  <a:pt x="6248146" y="4705528"/>
                </a:lnTo>
                <a:lnTo>
                  <a:pt x="6248146" y="4524184"/>
                </a:lnTo>
                <a:close/>
              </a:path>
              <a:path w="6248400" h="7059295">
                <a:moveTo>
                  <a:pt x="6248146" y="3981386"/>
                </a:moveTo>
                <a:lnTo>
                  <a:pt x="0" y="3981386"/>
                </a:lnTo>
                <a:lnTo>
                  <a:pt x="0" y="4162729"/>
                </a:lnTo>
                <a:lnTo>
                  <a:pt x="0" y="4344035"/>
                </a:lnTo>
                <a:lnTo>
                  <a:pt x="0" y="4524172"/>
                </a:lnTo>
                <a:lnTo>
                  <a:pt x="6248146" y="4524172"/>
                </a:lnTo>
                <a:lnTo>
                  <a:pt x="6248146" y="4344086"/>
                </a:lnTo>
                <a:lnTo>
                  <a:pt x="6248146" y="4162729"/>
                </a:lnTo>
                <a:lnTo>
                  <a:pt x="6248146" y="3981386"/>
                </a:lnTo>
                <a:close/>
              </a:path>
              <a:path w="6248400" h="7059295">
                <a:moveTo>
                  <a:pt x="6248146" y="3257486"/>
                </a:moveTo>
                <a:lnTo>
                  <a:pt x="0" y="3257486"/>
                </a:lnTo>
                <a:lnTo>
                  <a:pt x="0" y="3438829"/>
                </a:lnTo>
                <a:lnTo>
                  <a:pt x="0" y="3620185"/>
                </a:lnTo>
                <a:lnTo>
                  <a:pt x="0" y="3800017"/>
                </a:lnTo>
                <a:lnTo>
                  <a:pt x="0" y="3981373"/>
                </a:lnTo>
                <a:lnTo>
                  <a:pt x="6248146" y="3981373"/>
                </a:lnTo>
                <a:lnTo>
                  <a:pt x="6248146" y="3800017"/>
                </a:lnTo>
                <a:lnTo>
                  <a:pt x="6248146" y="3620185"/>
                </a:lnTo>
                <a:lnTo>
                  <a:pt x="6248146" y="3438829"/>
                </a:lnTo>
                <a:lnTo>
                  <a:pt x="6248146" y="3257486"/>
                </a:lnTo>
                <a:close/>
              </a:path>
              <a:path w="6248400" h="7059295">
                <a:moveTo>
                  <a:pt x="6248146" y="2172081"/>
                </a:moveTo>
                <a:lnTo>
                  <a:pt x="0" y="2172081"/>
                </a:lnTo>
                <a:lnTo>
                  <a:pt x="0" y="2352217"/>
                </a:lnTo>
                <a:lnTo>
                  <a:pt x="0" y="2533573"/>
                </a:lnTo>
                <a:lnTo>
                  <a:pt x="0" y="2714929"/>
                </a:lnTo>
                <a:lnTo>
                  <a:pt x="0" y="2896285"/>
                </a:lnTo>
                <a:lnTo>
                  <a:pt x="0" y="3076117"/>
                </a:lnTo>
                <a:lnTo>
                  <a:pt x="0" y="3257473"/>
                </a:lnTo>
                <a:lnTo>
                  <a:pt x="6248146" y="3257473"/>
                </a:lnTo>
                <a:lnTo>
                  <a:pt x="6248146" y="2352217"/>
                </a:lnTo>
                <a:lnTo>
                  <a:pt x="6248146" y="2172081"/>
                </a:lnTo>
                <a:close/>
              </a:path>
              <a:path w="6248400" h="7059295">
                <a:moveTo>
                  <a:pt x="6248146" y="1448117"/>
                </a:moveTo>
                <a:lnTo>
                  <a:pt x="0" y="1448117"/>
                </a:lnTo>
                <a:lnTo>
                  <a:pt x="0" y="1627936"/>
                </a:lnTo>
                <a:lnTo>
                  <a:pt x="0" y="1809292"/>
                </a:lnTo>
                <a:lnTo>
                  <a:pt x="0" y="1990648"/>
                </a:lnTo>
                <a:lnTo>
                  <a:pt x="0" y="2172004"/>
                </a:lnTo>
                <a:lnTo>
                  <a:pt x="6248146" y="2172004"/>
                </a:lnTo>
                <a:lnTo>
                  <a:pt x="6248146" y="1990648"/>
                </a:lnTo>
                <a:lnTo>
                  <a:pt x="6248146" y="1809292"/>
                </a:lnTo>
                <a:lnTo>
                  <a:pt x="6248146" y="1627936"/>
                </a:lnTo>
                <a:lnTo>
                  <a:pt x="6248146" y="1448117"/>
                </a:lnTo>
                <a:close/>
              </a:path>
              <a:path w="6248400" h="7059295">
                <a:moveTo>
                  <a:pt x="6248146" y="724217"/>
                </a:moveTo>
                <a:lnTo>
                  <a:pt x="0" y="724217"/>
                </a:lnTo>
                <a:lnTo>
                  <a:pt x="0" y="904036"/>
                </a:lnTo>
                <a:lnTo>
                  <a:pt x="0" y="1085392"/>
                </a:lnTo>
                <a:lnTo>
                  <a:pt x="0" y="1266748"/>
                </a:lnTo>
                <a:lnTo>
                  <a:pt x="0" y="1448104"/>
                </a:lnTo>
                <a:lnTo>
                  <a:pt x="6248146" y="1448104"/>
                </a:lnTo>
                <a:lnTo>
                  <a:pt x="6248146" y="1266748"/>
                </a:lnTo>
                <a:lnTo>
                  <a:pt x="6248146" y="1085392"/>
                </a:lnTo>
                <a:lnTo>
                  <a:pt x="6248146" y="904036"/>
                </a:lnTo>
                <a:lnTo>
                  <a:pt x="6248146" y="724217"/>
                </a:lnTo>
                <a:close/>
              </a:path>
              <a:path w="6248400" h="7059295">
                <a:moveTo>
                  <a:pt x="6248146" y="0"/>
                </a:moveTo>
                <a:lnTo>
                  <a:pt x="0" y="0"/>
                </a:lnTo>
                <a:lnTo>
                  <a:pt x="0" y="180136"/>
                </a:lnTo>
                <a:lnTo>
                  <a:pt x="0" y="361492"/>
                </a:lnTo>
                <a:lnTo>
                  <a:pt x="0" y="542848"/>
                </a:lnTo>
                <a:lnTo>
                  <a:pt x="0" y="724204"/>
                </a:lnTo>
                <a:lnTo>
                  <a:pt x="6248146" y="724204"/>
                </a:lnTo>
                <a:lnTo>
                  <a:pt x="6248146" y="542848"/>
                </a:lnTo>
                <a:lnTo>
                  <a:pt x="6248146" y="361492"/>
                </a:lnTo>
                <a:lnTo>
                  <a:pt x="6248146" y="180136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7108" y="843433"/>
            <a:ext cx="6182995" cy="70859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head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body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"navbar"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6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"/upload"</a:t>
            </a:r>
            <a:r>
              <a:rPr sz="1050" spc="-5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&gt;Predict&lt;/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"/info"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&gt;Info&lt;/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"/about"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&gt;Home&lt;/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br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br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5080">
              <a:lnSpc>
                <a:spcPct val="112599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b</a:t>
            </a:r>
            <a:r>
              <a:rPr sz="1050" spc="-5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"pd"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font</a:t>
            </a:r>
            <a:r>
              <a:rPr sz="1050" spc="-4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color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"white"</a:t>
            </a:r>
            <a:r>
              <a:rPr sz="1050" spc="-3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size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"15"</a:t>
            </a:r>
            <a:r>
              <a:rPr sz="1050" spc="-5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font-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family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"Comic</a:t>
            </a:r>
            <a:r>
              <a:rPr sz="1050" spc="-4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Sans</a:t>
            </a:r>
            <a:r>
              <a:rPr sz="1050" spc="-3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MS"</a:t>
            </a:r>
            <a:r>
              <a:rPr sz="1050" spc="-4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&gt;ECG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arrhythmia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classification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using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CNN&lt;/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font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br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80645">
              <a:lnSpc>
                <a:spcPct val="112400"/>
              </a:lnSpc>
              <a:spcBef>
                <a:spcPts val="1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&gt;According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to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World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Health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Organization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(WHO),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cardiovascular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diseases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(CVDs)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are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endParaRPr sz="1050">
              <a:latin typeface="Consolas"/>
              <a:cs typeface="Consolas"/>
            </a:endParaRPr>
          </a:p>
          <a:p>
            <a:pPr marL="12700" marR="7620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number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one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cause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of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death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today.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Over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17.7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million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people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died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from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CVDs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in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year 2017</a:t>
            </a:r>
            <a:endParaRPr sz="1050">
              <a:latin typeface="Consolas"/>
              <a:cs typeface="Consolas"/>
            </a:endParaRPr>
          </a:p>
          <a:p>
            <a:pPr marL="12700" marR="227329">
              <a:lnSpc>
                <a:spcPct val="112400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all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over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world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which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is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about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31%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of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all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deaths,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and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over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75%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of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these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deaths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occur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in</a:t>
            </a:r>
            <a:endParaRPr sz="1050">
              <a:latin typeface="Consolas"/>
              <a:cs typeface="Consolas"/>
            </a:endParaRPr>
          </a:p>
          <a:p>
            <a:pPr marL="12700" marR="299720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low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and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middle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income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countries.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Arrhythmia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is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representative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type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of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CVD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that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refers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to</a:t>
            </a:r>
            <a:endParaRPr sz="1050">
              <a:latin typeface="Consolas"/>
              <a:cs typeface="Consolas"/>
            </a:endParaRPr>
          </a:p>
          <a:p>
            <a:pPr marL="12700" marR="447040">
              <a:lnSpc>
                <a:spcPct val="112500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any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irregular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change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from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normal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heart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rhythms.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There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are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several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types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of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arrhythmia</a:t>
            </a:r>
            <a:endParaRPr sz="1050">
              <a:latin typeface="Consolas"/>
              <a:cs typeface="Consolas"/>
            </a:endParaRPr>
          </a:p>
          <a:p>
            <a:pPr marL="12700" marR="81280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including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atrial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fibrillation,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premature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contraction,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ventricular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fibrillation,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and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tachycardia.</a:t>
            </a:r>
            <a:endParaRPr sz="1050">
              <a:latin typeface="Consolas"/>
              <a:cs typeface="Consolas"/>
            </a:endParaRPr>
          </a:p>
          <a:p>
            <a:pPr marL="12700" marR="668655">
              <a:lnSpc>
                <a:spcPct val="112400"/>
              </a:lnSpc>
              <a:spcBef>
                <a:spcPts val="1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Although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single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arrhythmia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heartbeat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may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not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have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serious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impact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on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life, continuous</a:t>
            </a:r>
            <a:endParaRPr sz="1050">
              <a:latin typeface="Consolas"/>
              <a:cs typeface="Consolas"/>
            </a:endParaRPr>
          </a:p>
          <a:p>
            <a:pPr marL="12700" marR="5080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arrhythmia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beats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can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result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in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fatal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circumstances.Electrocardiogram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(ECG)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is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non-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invasive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medical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tool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that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displays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rhythm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and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status</a:t>
            </a:r>
            <a:endParaRPr sz="1050">
              <a:latin typeface="Consolas"/>
              <a:cs typeface="Consolas"/>
            </a:endParaRPr>
          </a:p>
          <a:p>
            <a:pPr marL="12700" marR="299720">
              <a:lnSpc>
                <a:spcPct val="112400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of</a:t>
            </a:r>
            <a:r>
              <a:rPr sz="1050" spc="-5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heart.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Therefore,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automatic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detection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of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irregular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heart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rhythms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from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ECG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signals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is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significant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task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in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the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field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of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cardiology.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p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body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html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520" y="8782507"/>
            <a:ext cx="6248400" cy="1061085"/>
          </a:xfrm>
          <a:custGeom>
            <a:avLst/>
            <a:gdLst/>
            <a:ahLst/>
            <a:cxnLst/>
            <a:rect l="l" t="t" r="r" b="b"/>
            <a:pathLst>
              <a:path w="6248400" h="1061084">
                <a:moveTo>
                  <a:pt x="6248146" y="0"/>
                </a:moveTo>
                <a:lnTo>
                  <a:pt x="0" y="0"/>
                </a:lnTo>
                <a:lnTo>
                  <a:pt x="0" y="156972"/>
                </a:lnTo>
                <a:lnTo>
                  <a:pt x="0" y="336804"/>
                </a:lnTo>
                <a:lnTo>
                  <a:pt x="0" y="518160"/>
                </a:lnTo>
                <a:lnTo>
                  <a:pt x="0" y="699516"/>
                </a:lnTo>
                <a:lnTo>
                  <a:pt x="0" y="881176"/>
                </a:lnTo>
                <a:lnTo>
                  <a:pt x="0" y="1061008"/>
                </a:lnTo>
                <a:lnTo>
                  <a:pt x="6248146" y="1061008"/>
                </a:lnTo>
                <a:lnTo>
                  <a:pt x="6248146" y="156972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7108" y="8340090"/>
            <a:ext cx="1784350" cy="1510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83945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1083945" algn="l"/>
              </a:tabLst>
            </a:pPr>
            <a:r>
              <a:rPr sz="1350" spc="-10" dirty="0">
                <a:latin typeface="Arial"/>
                <a:cs typeface="Arial"/>
              </a:rPr>
              <a:t>Info.html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&lt;!DOCTYPE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html&gt;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html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head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.navbar{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5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margin:</a:t>
            </a:r>
            <a:r>
              <a:rPr sz="1050" spc="-5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0px;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864056"/>
            <a:ext cx="6248400" cy="8868410"/>
          </a:xfrm>
          <a:custGeom>
            <a:avLst/>
            <a:gdLst/>
            <a:ahLst/>
            <a:cxnLst/>
            <a:rect l="l" t="t" r="r" b="b"/>
            <a:pathLst>
              <a:path w="6248400" h="8868410">
                <a:moveTo>
                  <a:pt x="6248146" y="8325371"/>
                </a:moveTo>
                <a:lnTo>
                  <a:pt x="0" y="8325371"/>
                </a:lnTo>
                <a:lnTo>
                  <a:pt x="0" y="8506714"/>
                </a:lnTo>
                <a:lnTo>
                  <a:pt x="0" y="8688375"/>
                </a:lnTo>
                <a:lnTo>
                  <a:pt x="0" y="8868207"/>
                </a:lnTo>
                <a:lnTo>
                  <a:pt x="6248146" y="8868207"/>
                </a:lnTo>
                <a:lnTo>
                  <a:pt x="6248146" y="8688375"/>
                </a:lnTo>
                <a:lnTo>
                  <a:pt x="6248146" y="8506714"/>
                </a:lnTo>
                <a:lnTo>
                  <a:pt x="6248146" y="8325371"/>
                </a:lnTo>
                <a:close/>
              </a:path>
              <a:path w="6248400" h="8868410">
                <a:moveTo>
                  <a:pt x="6248146" y="7964183"/>
                </a:moveTo>
                <a:lnTo>
                  <a:pt x="0" y="7964183"/>
                </a:lnTo>
                <a:lnTo>
                  <a:pt x="0" y="8144002"/>
                </a:lnTo>
                <a:lnTo>
                  <a:pt x="0" y="8325358"/>
                </a:lnTo>
                <a:lnTo>
                  <a:pt x="6248146" y="8325358"/>
                </a:lnTo>
                <a:lnTo>
                  <a:pt x="6248146" y="8144002"/>
                </a:lnTo>
                <a:lnTo>
                  <a:pt x="6248146" y="7964183"/>
                </a:lnTo>
                <a:close/>
              </a:path>
              <a:path w="6248400" h="8868410">
                <a:moveTo>
                  <a:pt x="6248146" y="7240333"/>
                </a:moveTo>
                <a:lnTo>
                  <a:pt x="0" y="7240333"/>
                </a:lnTo>
                <a:lnTo>
                  <a:pt x="0" y="7420153"/>
                </a:lnTo>
                <a:lnTo>
                  <a:pt x="0" y="7601509"/>
                </a:lnTo>
                <a:lnTo>
                  <a:pt x="0" y="7782814"/>
                </a:lnTo>
                <a:lnTo>
                  <a:pt x="0" y="7964170"/>
                </a:lnTo>
                <a:lnTo>
                  <a:pt x="6248146" y="7964170"/>
                </a:lnTo>
                <a:lnTo>
                  <a:pt x="6248146" y="7782865"/>
                </a:lnTo>
                <a:lnTo>
                  <a:pt x="6248146" y="7601509"/>
                </a:lnTo>
                <a:lnTo>
                  <a:pt x="6248146" y="7420153"/>
                </a:lnTo>
                <a:lnTo>
                  <a:pt x="6248146" y="7240333"/>
                </a:lnTo>
                <a:close/>
              </a:path>
              <a:path w="6248400" h="8868410">
                <a:moveTo>
                  <a:pt x="6248146" y="6516433"/>
                </a:moveTo>
                <a:lnTo>
                  <a:pt x="0" y="6516433"/>
                </a:lnTo>
                <a:lnTo>
                  <a:pt x="0" y="6696253"/>
                </a:lnTo>
                <a:lnTo>
                  <a:pt x="0" y="6877609"/>
                </a:lnTo>
                <a:lnTo>
                  <a:pt x="0" y="7058965"/>
                </a:lnTo>
                <a:lnTo>
                  <a:pt x="0" y="7240321"/>
                </a:lnTo>
                <a:lnTo>
                  <a:pt x="6248146" y="7240321"/>
                </a:lnTo>
                <a:lnTo>
                  <a:pt x="6248146" y="7058965"/>
                </a:lnTo>
                <a:lnTo>
                  <a:pt x="6248146" y="6877609"/>
                </a:lnTo>
                <a:lnTo>
                  <a:pt x="6248146" y="6696253"/>
                </a:lnTo>
                <a:lnTo>
                  <a:pt x="6248146" y="6516433"/>
                </a:lnTo>
                <a:close/>
              </a:path>
              <a:path w="6248400" h="8868410">
                <a:moveTo>
                  <a:pt x="6248146" y="6334760"/>
                </a:moveTo>
                <a:lnTo>
                  <a:pt x="0" y="6334760"/>
                </a:lnTo>
                <a:lnTo>
                  <a:pt x="0" y="6516421"/>
                </a:lnTo>
                <a:lnTo>
                  <a:pt x="6248146" y="6516421"/>
                </a:lnTo>
                <a:lnTo>
                  <a:pt x="6248146" y="6334760"/>
                </a:lnTo>
                <a:close/>
              </a:path>
              <a:path w="6248400" h="8868410">
                <a:moveTo>
                  <a:pt x="6248146" y="5610796"/>
                </a:moveTo>
                <a:lnTo>
                  <a:pt x="0" y="5610796"/>
                </a:lnTo>
                <a:lnTo>
                  <a:pt x="0" y="5792140"/>
                </a:lnTo>
                <a:lnTo>
                  <a:pt x="0" y="5971972"/>
                </a:lnTo>
                <a:lnTo>
                  <a:pt x="0" y="6153328"/>
                </a:lnTo>
                <a:lnTo>
                  <a:pt x="0" y="6334684"/>
                </a:lnTo>
                <a:lnTo>
                  <a:pt x="6248146" y="6334684"/>
                </a:lnTo>
                <a:lnTo>
                  <a:pt x="6248146" y="6153328"/>
                </a:lnTo>
                <a:lnTo>
                  <a:pt x="6248146" y="5971972"/>
                </a:lnTo>
                <a:lnTo>
                  <a:pt x="6248146" y="5792140"/>
                </a:lnTo>
                <a:lnTo>
                  <a:pt x="6248146" y="5610796"/>
                </a:lnTo>
                <a:close/>
              </a:path>
              <a:path w="6248400" h="8868410">
                <a:moveTo>
                  <a:pt x="6248146" y="5248084"/>
                </a:moveTo>
                <a:lnTo>
                  <a:pt x="0" y="5248084"/>
                </a:lnTo>
                <a:lnTo>
                  <a:pt x="0" y="5429428"/>
                </a:lnTo>
                <a:lnTo>
                  <a:pt x="0" y="5610784"/>
                </a:lnTo>
                <a:lnTo>
                  <a:pt x="6248146" y="5610784"/>
                </a:lnTo>
                <a:lnTo>
                  <a:pt x="6248146" y="5429428"/>
                </a:lnTo>
                <a:lnTo>
                  <a:pt x="6248146" y="5248084"/>
                </a:lnTo>
                <a:close/>
              </a:path>
              <a:path w="6248400" h="8868410">
                <a:moveTo>
                  <a:pt x="6248146" y="4886896"/>
                </a:moveTo>
                <a:lnTo>
                  <a:pt x="0" y="4886896"/>
                </a:lnTo>
                <a:lnTo>
                  <a:pt x="0" y="5068240"/>
                </a:lnTo>
                <a:lnTo>
                  <a:pt x="0" y="5248072"/>
                </a:lnTo>
                <a:lnTo>
                  <a:pt x="6248146" y="5248072"/>
                </a:lnTo>
                <a:lnTo>
                  <a:pt x="6248146" y="5068240"/>
                </a:lnTo>
                <a:lnTo>
                  <a:pt x="6248146" y="4886896"/>
                </a:lnTo>
                <a:close/>
              </a:path>
              <a:path w="6248400" h="8868410">
                <a:moveTo>
                  <a:pt x="6248146" y="4524184"/>
                </a:moveTo>
                <a:lnTo>
                  <a:pt x="0" y="4524184"/>
                </a:lnTo>
                <a:lnTo>
                  <a:pt x="0" y="4705528"/>
                </a:lnTo>
                <a:lnTo>
                  <a:pt x="0" y="4886884"/>
                </a:lnTo>
                <a:lnTo>
                  <a:pt x="6248146" y="4886884"/>
                </a:lnTo>
                <a:lnTo>
                  <a:pt x="6248146" y="4705528"/>
                </a:lnTo>
                <a:lnTo>
                  <a:pt x="6248146" y="4524184"/>
                </a:lnTo>
                <a:close/>
              </a:path>
              <a:path w="6248400" h="8868410">
                <a:moveTo>
                  <a:pt x="6248146" y="3981386"/>
                </a:moveTo>
                <a:lnTo>
                  <a:pt x="0" y="3981386"/>
                </a:lnTo>
                <a:lnTo>
                  <a:pt x="0" y="4162729"/>
                </a:lnTo>
                <a:lnTo>
                  <a:pt x="0" y="4344035"/>
                </a:lnTo>
                <a:lnTo>
                  <a:pt x="0" y="4524172"/>
                </a:lnTo>
                <a:lnTo>
                  <a:pt x="6248146" y="4524172"/>
                </a:lnTo>
                <a:lnTo>
                  <a:pt x="6248146" y="4344086"/>
                </a:lnTo>
                <a:lnTo>
                  <a:pt x="6248146" y="4162729"/>
                </a:lnTo>
                <a:lnTo>
                  <a:pt x="6248146" y="3981386"/>
                </a:lnTo>
                <a:close/>
              </a:path>
              <a:path w="6248400" h="8868410">
                <a:moveTo>
                  <a:pt x="6248146" y="3257486"/>
                </a:moveTo>
                <a:lnTo>
                  <a:pt x="0" y="3257486"/>
                </a:lnTo>
                <a:lnTo>
                  <a:pt x="0" y="3438829"/>
                </a:lnTo>
                <a:lnTo>
                  <a:pt x="0" y="3620185"/>
                </a:lnTo>
                <a:lnTo>
                  <a:pt x="0" y="3800017"/>
                </a:lnTo>
                <a:lnTo>
                  <a:pt x="0" y="3981373"/>
                </a:lnTo>
                <a:lnTo>
                  <a:pt x="6248146" y="3981373"/>
                </a:lnTo>
                <a:lnTo>
                  <a:pt x="6248146" y="3800017"/>
                </a:lnTo>
                <a:lnTo>
                  <a:pt x="6248146" y="3620185"/>
                </a:lnTo>
                <a:lnTo>
                  <a:pt x="6248146" y="3438829"/>
                </a:lnTo>
                <a:lnTo>
                  <a:pt x="6248146" y="3257486"/>
                </a:lnTo>
                <a:close/>
              </a:path>
              <a:path w="6248400" h="8868410">
                <a:moveTo>
                  <a:pt x="6248146" y="2172081"/>
                </a:moveTo>
                <a:lnTo>
                  <a:pt x="0" y="2172081"/>
                </a:lnTo>
                <a:lnTo>
                  <a:pt x="0" y="2352217"/>
                </a:lnTo>
                <a:lnTo>
                  <a:pt x="0" y="2533573"/>
                </a:lnTo>
                <a:lnTo>
                  <a:pt x="0" y="2714929"/>
                </a:lnTo>
                <a:lnTo>
                  <a:pt x="0" y="2896285"/>
                </a:lnTo>
                <a:lnTo>
                  <a:pt x="0" y="3076117"/>
                </a:lnTo>
                <a:lnTo>
                  <a:pt x="0" y="3257473"/>
                </a:lnTo>
                <a:lnTo>
                  <a:pt x="6248146" y="3257473"/>
                </a:lnTo>
                <a:lnTo>
                  <a:pt x="6248146" y="2352217"/>
                </a:lnTo>
                <a:lnTo>
                  <a:pt x="6248146" y="2172081"/>
                </a:lnTo>
                <a:close/>
              </a:path>
              <a:path w="6248400" h="8868410">
                <a:moveTo>
                  <a:pt x="6248146" y="1448117"/>
                </a:moveTo>
                <a:lnTo>
                  <a:pt x="0" y="1448117"/>
                </a:lnTo>
                <a:lnTo>
                  <a:pt x="0" y="1627936"/>
                </a:lnTo>
                <a:lnTo>
                  <a:pt x="0" y="1809292"/>
                </a:lnTo>
                <a:lnTo>
                  <a:pt x="0" y="1990648"/>
                </a:lnTo>
                <a:lnTo>
                  <a:pt x="0" y="2172004"/>
                </a:lnTo>
                <a:lnTo>
                  <a:pt x="6248146" y="2172004"/>
                </a:lnTo>
                <a:lnTo>
                  <a:pt x="6248146" y="1990648"/>
                </a:lnTo>
                <a:lnTo>
                  <a:pt x="6248146" y="1809292"/>
                </a:lnTo>
                <a:lnTo>
                  <a:pt x="6248146" y="1627936"/>
                </a:lnTo>
                <a:lnTo>
                  <a:pt x="6248146" y="1448117"/>
                </a:lnTo>
                <a:close/>
              </a:path>
              <a:path w="6248400" h="8868410">
                <a:moveTo>
                  <a:pt x="6248146" y="724217"/>
                </a:moveTo>
                <a:lnTo>
                  <a:pt x="0" y="724217"/>
                </a:lnTo>
                <a:lnTo>
                  <a:pt x="0" y="904036"/>
                </a:lnTo>
                <a:lnTo>
                  <a:pt x="0" y="1085392"/>
                </a:lnTo>
                <a:lnTo>
                  <a:pt x="0" y="1266748"/>
                </a:lnTo>
                <a:lnTo>
                  <a:pt x="0" y="1448104"/>
                </a:lnTo>
                <a:lnTo>
                  <a:pt x="6248146" y="1448104"/>
                </a:lnTo>
                <a:lnTo>
                  <a:pt x="6248146" y="1266748"/>
                </a:lnTo>
                <a:lnTo>
                  <a:pt x="6248146" y="1085392"/>
                </a:lnTo>
                <a:lnTo>
                  <a:pt x="6248146" y="904036"/>
                </a:lnTo>
                <a:lnTo>
                  <a:pt x="6248146" y="724217"/>
                </a:lnTo>
                <a:close/>
              </a:path>
              <a:path w="6248400" h="8868410">
                <a:moveTo>
                  <a:pt x="6248146" y="0"/>
                </a:moveTo>
                <a:lnTo>
                  <a:pt x="0" y="0"/>
                </a:lnTo>
                <a:lnTo>
                  <a:pt x="0" y="180136"/>
                </a:lnTo>
                <a:lnTo>
                  <a:pt x="0" y="361492"/>
                </a:lnTo>
                <a:lnTo>
                  <a:pt x="0" y="542848"/>
                </a:lnTo>
                <a:lnTo>
                  <a:pt x="0" y="724204"/>
                </a:lnTo>
                <a:lnTo>
                  <a:pt x="6248146" y="724204"/>
                </a:lnTo>
                <a:lnTo>
                  <a:pt x="6248146" y="542848"/>
                </a:lnTo>
                <a:lnTo>
                  <a:pt x="6248146" y="361492"/>
                </a:lnTo>
                <a:lnTo>
                  <a:pt x="6248146" y="180136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22577" y="843433"/>
            <a:ext cx="2665730" cy="889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812800">
              <a:lnSpc>
                <a:spcPct val="113300"/>
              </a:lnSpc>
              <a:spcBef>
                <a:spcPts val="10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padding:10px; background-color:red; opacity:0.5;</a:t>
            </a:r>
            <a:endParaRPr sz="1050">
              <a:latin typeface="Consolas"/>
              <a:cs typeface="Consolas"/>
            </a:endParaRPr>
          </a:p>
          <a:p>
            <a:pPr marL="3048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font-color:black;</a:t>
            </a:r>
            <a:endParaRPr sz="1050">
              <a:latin typeface="Consolas"/>
              <a:cs typeface="Consolas"/>
            </a:endParaRPr>
          </a:p>
          <a:p>
            <a:pPr marL="304800" marR="5080">
              <a:lnSpc>
                <a:spcPts val="1430"/>
              </a:lnSpc>
              <a:spcBef>
                <a:spcPts val="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font-family:'Roboto',sans-serif; font-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style: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italic;</a:t>
            </a:r>
            <a:endParaRPr sz="1050">
              <a:latin typeface="Consolas"/>
              <a:cs typeface="Consolas"/>
            </a:endParaRPr>
          </a:p>
          <a:p>
            <a:pPr marL="3048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border-radius:15px;</a:t>
            </a:r>
            <a:endParaRPr sz="1050">
              <a:latin typeface="Consolas"/>
              <a:cs typeface="Consolas"/>
            </a:endParaRPr>
          </a:p>
          <a:p>
            <a:pPr marL="3048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font-size:30px;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a{</a:t>
            </a:r>
            <a:endParaRPr sz="1050">
              <a:latin typeface="Consolas"/>
              <a:cs typeface="Consolas"/>
            </a:endParaRPr>
          </a:p>
          <a:p>
            <a:pPr marL="304800" marR="1471930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color:grey; float:right;</a:t>
            </a:r>
            <a:endParaRPr sz="1050">
              <a:latin typeface="Consolas"/>
              <a:cs typeface="Consolas"/>
            </a:endParaRPr>
          </a:p>
          <a:p>
            <a:pPr marL="304800" marR="813435">
              <a:lnSpc>
                <a:spcPts val="1430"/>
              </a:lnSpc>
              <a:spcBef>
                <a:spcPts val="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text-decoration:none; font-style:normal; padding-right:20px;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a:hover{</a:t>
            </a:r>
            <a:endParaRPr sz="1050">
              <a:latin typeface="Consolas"/>
              <a:cs typeface="Consolas"/>
            </a:endParaRPr>
          </a:p>
          <a:p>
            <a:pPr marL="304800" marR="664210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background-color:black; color:white;</a:t>
            </a:r>
            <a:endParaRPr sz="1050">
              <a:latin typeface="Consolas"/>
              <a:cs typeface="Consolas"/>
            </a:endParaRPr>
          </a:p>
          <a:p>
            <a:pPr marL="304800" marR="885825">
              <a:lnSpc>
                <a:spcPct val="11290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border-radius:15px;0 font-size:30px; padding-left:10px;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img{</a:t>
            </a:r>
            <a:endParaRPr sz="1050">
              <a:latin typeface="Consolas"/>
              <a:cs typeface="Consolas"/>
            </a:endParaRPr>
          </a:p>
          <a:p>
            <a:pPr marL="304800" marR="1252855">
              <a:lnSpc>
                <a:spcPct val="112999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width:550px; height:400px; padding:10px; margin-top:0px;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img:hover{</a:t>
            </a:r>
            <a:endParaRPr sz="1050">
              <a:latin typeface="Consolas"/>
              <a:cs typeface="Consolas"/>
            </a:endParaRPr>
          </a:p>
          <a:p>
            <a:pPr marL="304800" marR="885825">
              <a:lnSpc>
                <a:spcPct val="11290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border-radius:100px; border-color:grey; border-shadow:10px;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body{</a:t>
            </a:r>
            <a:endParaRPr sz="1050">
              <a:latin typeface="Consolas"/>
              <a:cs typeface="Consolas"/>
            </a:endParaRPr>
          </a:p>
          <a:p>
            <a:pPr marL="304800" marR="664210">
              <a:lnSpc>
                <a:spcPts val="1430"/>
              </a:lnSpc>
              <a:spcBef>
                <a:spcPts val="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background-color:none; background-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size:</a:t>
            </a:r>
            <a:r>
              <a:rPr sz="1050" spc="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cover;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h1{</a:t>
            </a:r>
            <a:endParaRPr sz="1050">
              <a:latin typeface="Consolas"/>
              <a:cs typeface="Consolas"/>
            </a:endParaRPr>
          </a:p>
          <a:p>
            <a:pPr marL="304800" marR="1032510">
              <a:lnSpc>
                <a:spcPts val="1430"/>
              </a:lnSpc>
              <a:spcBef>
                <a:spcPts val="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font-size:100px; text-align:center; color:white;</a:t>
            </a:r>
            <a:endParaRPr sz="1050">
              <a:latin typeface="Consolas"/>
              <a:cs typeface="Consolas"/>
            </a:endParaRPr>
          </a:p>
          <a:p>
            <a:pPr marL="304800" marR="959485">
              <a:lnSpc>
                <a:spcPts val="142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font-style:italic; font-weight:bolder;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h2{</a:t>
            </a:r>
            <a:endParaRPr sz="1050">
              <a:latin typeface="Consolas"/>
              <a:cs typeface="Consolas"/>
            </a:endParaRPr>
          </a:p>
          <a:p>
            <a:pPr marL="304800" marR="1032510">
              <a:lnSpc>
                <a:spcPct val="112400"/>
              </a:lnSpc>
              <a:spcBef>
                <a:spcPts val="1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font-size:50px; text-align:center;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864056"/>
            <a:ext cx="6248400" cy="8507095"/>
          </a:xfrm>
          <a:custGeom>
            <a:avLst/>
            <a:gdLst/>
            <a:ahLst/>
            <a:cxnLst/>
            <a:rect l="l" t="t" r="r" b="b"/>
            <a:pathLst>
              <a:path w="6248400" h="8507095">
                <a:moveTo>
                  <a:pt x="6248146" y="8325371"/>
                </a:moveTo>
                <a:lnTo>
                  <a:pt x="0" y="8325371"/>
                </a:lnTo>
                <a:lnTo>
                  <a:pt x="0" y="8506714"/>
                </a:lnTo>
                <a:lnTo>
                  <a:pt x="6248146" y="8506714"/>
                </a:lnTo>
                <a:lnTo>
                  <a:pt x="6248146" y="8325371"/>
                </a:lnTo>
                <a:close/>
              </a:path>
              <a:path w="6248400" h="8507095">
                <a:moveTo>
                  <a:pt x="6248146" y="7964183"/>
                </a:moveTo>
                <a:lnTo>
                  <a:pt x="0" y="7964183"/>
                </a:lnTo>
                <a:lnTo>
                  <a:pt x="0" y="8144002"/>
                </a:lnTo>
                <a:lnTo>
                  <a:pt x="0" y="8325358"/>
                </a:lnTo>
                <a:lnTo>
                  <a:pt x="6248146" y="8325358"/>
                </a:lnTo>
                <a:lnTo>
                  <a:pt x="6248146" y="8144002"/>
                </a:lnTo>
                <a:lnTo>
                  <a:pt x="6248146" y="7964183"/>
                </a:lnTo>
                <a:close/>
              </a:path>
              <a:path w="6248400" h="8507095">
                <a:moveTo>
                  <a:pt x="6248146" y="7240333"/>
                </a:moveTo>
                <a:lnTo>
                  <a:pt x="0" y="7240333"/>
                </a:lnTo>
                <a:lnTo>
                  <a:pt x="0" y="7420153"/>
                </a:lnTo>
                <a:lnTo>
                  <a:pt x="0" y="7601509"/>
                </a:lnTo>
                <a:lnTo>
                  <a:pt x="0" y="7782814"/>
                </a:lnTo>
                <a:lnTo>
                  <a:pt x="0" y="7964170"/>
                </a:lnTo>
                <a:lnTo>
                  <a:pt x="6248146" y="7964170"/>
                </a:lnTo>
                <a:lnTo>
                  <a:pt x="6248146" y="7782865"/>
                </a:lnTo>
                <a:lnTo>
                  <a:pt x="6248146" y="7601509"/>
                </a:lnTo>
                <a:lnTo>
                  <a:pt x="6248146" y="7420153"/>
                </a:lnTo>
                <a:lnTo>
                  <a:pt x="6248146" y="7240333"/>
                </a:lnTo>
                <a:close/>
              </a:path>
              <a:path w="6248400" h="8507095">
                <a:moveTo>
                  <a:pt x="6248146" y="6516433"/>
                </a:moveTo>
                <a:lnTo>
                  <a:pt x="0" y="6516433"/>
                </a:lnTo>
                <a:lnTo>
                  <a:pt x="0" y="6696253"/>
                </a:lnTo>
                <a:lnTo>
                  <a:pt x="0" y="6877609"/>
                </a:lnTo>
                <a:lnTo>
                  <a:pt x="0" y="7058965"/>
                </a:lnTo>
                <a:lnTo>
                  <a:pt x="0" y="7240321"/>
                </a:lnTo>
                <a:lnTo>
                  <a:pt x="6248146" y="7240321"/>
                </a:lnTo>
                <a:lnTo>
                  <a:pt x="6248146" y="7058965"/>
                </a:lnTo>
                <a:lnTo>
                  <a:pt x="6248146" y="6877609"/>
                </a:lnTo>
                <a:lnTo>
                  <a:pt x="6248146" y="6696253"/>
                </a:lnTo>
                <a:lnTo>
                  <a:pt x="6248146" y="6516433"/>
                </a:lnTo>
                <a:close/>
              </a:path>
              <a:path w="6248400" h="8507095">
                <a:moveTo>
                  <a:pt x="6248146" y="6334760"/>
                </a:moveTo>
                <a:lnTo>
                  <a:pt x="0" y="6334760"/>
                </a:lnTo>
                <a:lnTo>
                  <a:pt x="0" y="6516421"/>
                </a:lnTo>
                <a:lnTo>
                  <a:pt x="6248146" y="6516421"/>
                </a:lnTo>
                <a:lnTo>
                  <a:pt x="6248146" y="6334760"/>
                </a:lnTo>
                <a:close/>
              </a:path>
              <a:path w="6248400" h="8507095">
                <a:moveTo>
                  <a:pt x="6248146" y="5610796"/>
                </a:moveTo>
                <a:lnTo>
                  <a:pt x="0" y="5610796"/>
                </a:lnTo>
                <a:lnTo>
                  <a:pt x="0" y="5792140"/>
                </a:lnTo>
                <a:lnTo>
                  <a:pt x="0" y="5971972"/>
                </a:lnTo>
                <a:lnTo>
                  <a:pt x="0" y="6153328"/>
                </a:lnTo>
                <a:lnTo>
                  <a:pt x="0" y="6334684"/>
                </a:lnTo>
                <a:lnTo>
                  <a:pt x="6248146" y="6334684"/>
                </a:lnTo>
                <a:lnTo>
                  <a:pt x="6248146" y="6153328"/>
                </a:lnTo>
                <a:lnTo>
                  <a:pt x="6248146" y="5971972"/>
                </a:lnTo>
                <a:lnTo>
                  <a:pt x="6248146" y="5792140"/>
                </a:lnTo>
                <a:lnTo>
                  <a:pt x="6248146" y="5610796"/>
                </a:lnTo>
                <a:close/>
              </a:path>
              <a:path w="6248400" h="8507095">
                <a:moveTo>
                  <a:pt x="6248146" y="5248084"/>
                </a:moveTo>
                <a:lnTo>
                  <a:pt x="0" y="5248084"/>
                </a:lnTo>
                <a:lnTo>
                  <a:pt x="0" y="5429428"/>
                </a:lnTo>
                <a:lnTo>
                  <a:pt x="0" y="5610784"/>
                </a:lnTo>
                <a:lnTo>
                  <a:pt x="6248146" y="5610784"/>
                </a:lnTo>
                <a:lnTo>
                  <a:pt x="6248146" y="5429428"/>
                </a:lnTo>
                <a:lnTo>
                  <a:pt x="6248146" y="5248084"/>
                </a:lnTo>
                <a:close/>
              </a:path>
              <a:path w="6248400" h="8507095">
                <a:moveTo>
                  <a:pt x="6248146" y="4886896"/>
                </a:moveTo>
                <a:lnTo>
                  <a:pt x="0" y="4886896"/>
                </a:lnTo>
                <a:lnTo>
                  <a:pt x="0" y="5068240"/>
                </a:lnTo>
                <a:lnTo>
                  <a:pt x="0" y="5248072"/>
                </a:lnTo>
                <a:lnTo>
                  <a:pt x="6248146" y="5248072"/>
                </a:lnTo>
                <a:lnTo>
                  <a:pt x="6248146" y="5068240"/>
                </a:lnTo>
                <a:lnTo>
                  <a:pt x="6248146" y="4886896"/>
                </a:lnTo>
                <a:close/>
              </a:path>
              <a:path w="6248400" h="8507095">
                <a:moveTo>
                  <a:pt x="6248146" y="4524184"/>
                </a:moveTo>
                <a:lnTo>
                  <a:pt x="0" y="4524184"/>
                </a:lnTo>
                <a:lnTo>
                  <a:pt x="0" y="4705528"/>
                </a:lnTo>
                <a:lnTo>
                  <a:pt x="0" y="4886884"/>
                </a:lnTo>
                <a:lnTo>
                  <a:pt x="6248146" y="4886884"/>
                </a:lnTo>
                <a:lnTo>
                  <a:pt x="6248146" y="4705528"/>
                </a:lnTo>
                <a:lnTo>
                  <a:pt x="6248146" y="4524184"/>
                </a:lnTo>
                <a:close/>
              </a:path>
              <a:path w="6248400" h="8507095">
                <a:moveTo>
                  <a:pt x="6248146" y="3981386"/>
                </a:moveTo>
                <a:lnTo>
                  <a:pt x="0" y="3981386"/>
                </a:lnTo>
                <a:lnTo>
                  <a:pt x="0" y="4162729"/>
                </a:lnTo>
                <a:lnTo>
                  <a:pt x="0" y="4344035"/>
                </a:lnTo>
                <a:lnTo>
                  <a:pt x="0" y="4524172"/>
                </a:lnTo>
                <a:lnTo>
                  <a:pt x="6248146" y="4524172"/>
                </a:lnTo>
                <a:lnTo>
                  <a:pt x="6248146" y="4344086"/>
                </a:lnTo>
                <a:lnTo>
                  <a:pt x="6248146" y="4162729"/>
                </a:lnTo>
                <a:lnTo>
                  <a:pt x="6248146" y="3981386"/>
                </a:lnTo>
                <a:close/>
              </a:path>
              <a:path w="6248400" h="8507095">
                <a:moveTo>
                  <a:pt x="6248146" y="3257486"/>
                </a:moveTo>
                <a:lnTo>
                  <a:pt x="0" y="3257486"/>
                </a:lnTo>
                <a:lnTo>
                  <a:pt x="0" y="3438829"/>
                </a:lnTo>
                <a:lnTo>
                  <a:pt x="0" y="3620185"/>
                </a:lnTo>
                <a:lnTo>
                  <a:pt x="0" y="3800017"/>
                </a:lnTo>
                <a:lnTo>
                  <a:pt x="0" y="3981373"/>
                </a:lnTo>
                <a:lnTo>
                  <a:pt x="6248146" y="3981373"/>
                </a:lnTo>
                <a:lnTo>
                  <a:pt x="6248146" y="3800017"/>
                </a:lnTo>
                <a:lnTo>
                  <a:pt x="6248146" y="3620185"/>
                </a:lnTo>
                <a:lnTo>
                  <a:pt x="6248146" y="3438829"/>
                </a:lnTo>
                <a:lnTo>
                  <a:pt x="6248146" y="3257486"/>
                </a:lnTo>
                <a:close/>
              </a:path>
              <a:path w="6248400" h="8507095">
                <a:moveTo>
                  <a:pt x="6248146" y="2172081"/>
                </a:moveTo>
                <a:lnTo>
                  <a:pt x="0" y="2172081"/>
                </a:lnTo>
                <a:lnTo>
                  <a:pt x="0" y="2352217"/>
                </a:lnTo>
                <a:lnTo>
                  <a:pt x="0" y="2533573"/>
                </a:lnTo>
                <a:lnTo>
                  <a:pt x="0" y="2714929"/>
                </a:lnTo>
                <a:lnTo>
                  <a:pt x="0" y="2896285"/>
                </a:lnTo>
                <a:lnTo>
                  <a:pt x="0" y="3076117"/>
                </a:lnTo>
                <a:lnTo>
                  <a:pt x="0" y="3257473"/>
                </a:lnTo>
                <a:lnTo>
                  <a:pt x="6248146" y="3257473"/>
                </a:lnTo>
                <a:lnTo>
                  <a:pt x="6248146" y="2352217"/>
                </a:lnTo>
                <a:lnTo>
                  <a:pt x="6248146" y="2172081"/>
                </a:lnTo>
                <a:close/>
              </a:path>
              <a:path w="6248400" h="8507095">
                <a:moveTo>
                  <a:pt x="6248146" y="1448117"/>
                </a:moveTo>
                <a:lnTo>
                  <a:pt x="0" y="1448117"/>
                </a:lnTo>
                <a:lnTo>
                  <a:pt x="0" y="1627936"/>
                </a:lnTo>
                <a:lnTo>
                  <a:pt x="0" y="1809292"/>
                </a:lnTo>
                <a:lnTo>
                  <a:pt x="0" y="1990648"/>
                </a:lnTo>
                <a:lnTo>
                  <a:pt x="0" y="2172004"/>
                </a:lnTo>
                <a:lnTo>
                  <a:pt x="6248146" y="2172004"/>
                </a:lnTo>
                <a:lnTo>
                  <a:pt x="6248146" y="1990648"/>
                </a:lnTo>
                <a:lnTo>
                  <a:pt x="6248146" y="1809292"/>
                </a:lnTo>
                <a:lnTo>
                  <a:pt x="6248146" y="1627936"/>
                </a:lnTo>
                <a:lnTo>
                  <a:pt x="6248146" y="1448117"/>
                </a:lnTo>
                <a:close/>
              </a:path>
              <a:path w="6248400" h="8507095">
                <a:moveTo>
                  <a:pt x="6248146" y="724217"/>
                </a:moveTo>
                <a:lnTo>
                  <a:pt x="0" y="724217"/>
                </a:lnTo>
                <a:lnTo>
                  <a:pt x="0" y="904036"/>
                </a:lnTo>
                <a:lnTo>
                  <a:pt x="0" y="1085392"/>
                </a:lnTo>
                <a:lnTo>
                  <a:pt x="0" y="1266748"/>
                </a:lnTo>
                <a:lnTo>
                  <a:pt x="0" y="1448104"/>
                </a:lnTo>
                <a:lnTo>
                  <a:pt x="6248146" y="1448104"/>
                </a:lnTo>
                <a:lnTo>
                  <a:pt x="6248146" y="1266748"/>
                </a:lnTo>
                <a:lnTo>
                  <a:pt x="6248146" y="1085392"/>
                </a:lnTo>
                <a:lnTo>
                  <a:pt x="6248146" y="904036"/>
                </a:lnTo>
                <a:lnTo>
                  <a:pt x="6248146" y="724217"/>
                </a:lnTo>
                <a:close/>
              </a:path>
              <a:path w="6248400" h="8507095">
                <a:moveTo>
                  <a:pt x="6248146" y="0"/>
                </a:moveTo>
                <a:lnTo>
                  <a:pt x="0" y="0"/>
                </a:lnTo>
                <a:lnTo>
                  <a:pt x="0" y="180136"/>
                </a:lnTo>
                <a:lnTo>
                  <a:pt x="0" y="361492"/>
                </a:lnTo>
                <a:lnTo>
                  <a:pt x="0" y="542848"/>
                </a:lnTo>
                <a:lnTo>
                  <a:pt x="0" y="724204"/>
                </a:lnTo>
                <a:lnTo>
                  <a:pt x="6248146" y="724204"/>
                </a:lnTo>
                <a:lnTo>
                  <a:pt x="6248146" y="542848"/>
                </a:lnTo>
                <a:lnTo>
                  <a:pt x="6248146" y="361492"/>
                </a:lnTo>
                <a:lnTo>
                  <a:pt x="6248146" y="180136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7108" y="843433"/>
            <a:ext cx="6182995" cy="85337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890269">
              <a:lnSpc>
                <a:spcPct val="100000"/>
              </a:lnSpc>
              <a:spcBef>
                <a:spcPts val="2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color:blue;</a:t>
            </a:r>
            <a:endParaRPr sz="1050">
              <a:latin typeface="Consolas"/>
              <a:cs typeface="Consolas"/>
            </a:endParaRPr>
          </a:p>
          <a:p>
            <a:pPr marL="890269" marR="3891279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font-style:italic; font-weight:bolder;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55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div{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margin-left:50px;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img{</a:t>
            </a:r>
            <a:endParaRPr sz="1050">
              <a:latin typeface="Consolas"/>
              <a:cs typeface="Consolas"/>
            </a:endParaRPr>
          </a:p>
          <a:p>
            <a:pPr marL="890269" marR="4183379">
              <a:lnSpc>
                <a:spcPts val="1430"/>
              </a:lnSpc>
              <a:spcBef>
                <a:spcPts val="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width:1100px; height:600px; padding:10px; margin-top:0px;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8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img:hover{</a:t>
            </a:r>
            <a:endParaRPr sz="1050">
              <a:latin typeface="Consolas"/>
              <a:cs typeface="Consolas"/>
            </a:endParaRPr>
          </a:p>
          <a:p>
            <a:pPr marL="890269" marR="3818254">
              <a:lnSpc>
                <a:spcPct val="11290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border-radius:100px; border-color:grey; border-shadow:10px;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title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&gt;Information</a:t>
            </a:r>
            <a:r>
              <a:rPr sz="1050" spc="-11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about</a:t>
            </a:r>
            <a:r>
              <a:rPr sz="1050" spc="-9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Arrhythmia</a:t>
            </a:r>
            <a:r>
              <a:rPr sz="1050" spc="-9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Classification</a:t>
            </a:r>
            <a:r>
              <a:rPr sz="1050" spc="-9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title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head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body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"navbar"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5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"/upload"</a:t>
            </a:r>
            <a:r>
              <a:rPr sz="1050" spc="-4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&gt;Predict&lt;/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6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"/info"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&gt;Info&lt;/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"/about"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&gt;Home&lt;/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br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h1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u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font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color</a:t>
            </a:r>
            <a:r>
              <a:rPr sz="1050" spc="-25" dirty="0">
                <a:solidFill>
                  <a:srgbClr val="D19A66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'red'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&gt;ECG&lt;/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font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u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h1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h2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&gt;Electrocardiogram&lt;/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h2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671195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img</a:t>
            </a:r>
            <a:r>
              <a:rPr sz="1050" spc="-8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"../static/normal.jpg"</a:t>
            </a:r>
            <a:r>
              <a:rPr sz="1050" spc="-7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title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"normal"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img</a:t>
            </a:r>
            <a:r>
              <a:rPr sz="1050" spc="-10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"../static/vf.jpg"</a:t>
            </a:r>
            <a:r>
              <a:rPr sz="1050" spc="-8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title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"Ventricular</a:t>
            </a:r>
            <a:r>
              <a:rPr sz="1050" spc="-9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Fibrillation"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1324610" indent="585470">
              <a:lnSpc>
                <a:spcPct val="112599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img</a:t>
            </a:r>
            <a:r>
              <a:rPr sz="1050" spc="-9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"../static/pac.jpg"</a:t>
            </a:r>
            <a:r>
              <a:rPr sz="1050" spc="-7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title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"Premature</a:t>
            </a:r>
            <a:r>
              <a:rPr sz="1050" spc="-8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Atrial Contraction"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958850" indent="585470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img</a:t>
            </a:r>
            <a:r>
              <a:rPr sz="1050" spc="-9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"../static/pvc.jpg"</a:t>
            </a:r>
            <a:r>
              <a:rPr sz="1050" spc="-7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title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"Premature</a:t>
            </a:r>
            <a:r>
              <a:rPr sz="1050" spc="-8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Ventricular Contraction"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1031875" indent="585470">
              <a:lnSpc>
                <a:spcPct val="112400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img</a:t>
            </a:r>
            <a:r>
              <a:rPr sz="1050" spc="-7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"../static/rbbb.jpg"</a:t>
            </a:r>
            <a:r>
              <a:rPr sz="1050" spc="-6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title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"Right</a:t>
            </a:r>
            <a:r>
              <a:rPr sz="1050" spc="-7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Bundle</a:t>
            </a:r>
            <a:r>
              <a:rPr sz="1050" spc="-6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Branch Block"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img</a:t>
            </a:r>
            <a:r>
              <a:rPr sz="1050" spc="-7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"../static/lbbb.jpg"</a:t>
            </a:r>
            <a:r>
              <a:rPr sz="1050" spc="-6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title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"Left</a:t>
            </a:r>
            <a:r>
              <a:rPr sz="1050" spc="-6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Bundle</a:t>
            </a:r>
            <a:r>
              <a:rPr sz="1050" spc="-6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Branch</a:t>
            </a:r>
            <a:r>
              <a:rPr sz="1050" spc="-6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Block"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body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html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1525777"/>
            <a:ext cx="6248400" cy="8302625"/>
          </a:xfrm>
          <a:custGeom>
            <a:avLst/>
            <a:gdLst/>
            <a:ahLst/>
            <a:cxnLst/>
            <a:rect l="l" t="t" r="r" b="b"/>
            <a:pathLst>
              <a:path w="6248400" h="8302625">
                <a:moveTo>
                  <a:pt x="6248146" y="7578306"/>
                </a:moveTo>
                <a:lnTo>
                  <a:pt x="0" y="7578306"/>
                </a:lnTo>
                <a:lnTo>
                  <a:pt x="0" y="7759649"/>
                </a:lnTo>
                <a:lnTo>
                  <a:pt x="0" y="7939481"/>
                </a:lnTo>
                <a:lnTo>
                  <a:pt x="0" y="8121142"/>
                </a:lnTo>
                <a:lnTo>
                  <a:pt x="0" y="8302498"/>
                </a:lnTo>
                <a:lnTo>
                  <a:pt x="6248146" y="8302498"/>
                </a:lnTo>
                <a:lnTo>
                  <a:pt x="6248146" y="8121142"/>
                </a:lnTo>
                <a:lnTo>
                  <a:pt x="6248146" y="7939481"/>
                </a:lnTo>
                <a:lnTo>
                  <a:pt x="6248146" y="7759649"/>
                </a:lnTo>
                <a:lnTo>
                  <a:pt x="6248146" y="7578306"/>
                </a:lnTo>
                <a:close/>
              </a:path>
              <a:path w="6248400" h="8302625">
                <a:moveTo>
                  <a:pt x="6248146" y="6311912"/>
                </a:moveTo>
                <a:lnTo>
                  <a:pt x="0" y="6311912"/>
                </a:lnTo>
                <a:lnTo>
                  <a:pt x="0" y="6491732"/>
                </a:lnTo>
                <a:lnTo>
                  <a:pt x="0" y="6673088"/>
                </a:lnTo>
                <a:lnTo>
                  <a:pt x="0" y="7578293"/>
                </a:lnTo>
                <a:lnTo>
                  <a:pt x="6248146" y="7578293"/>
                </a:lnTo>
                <a:lnTo>
                  <a:pt x="6248146" y="6491732"/>
                </a:lnTo>
                <a:lnTo>
                  <a:pt x="6248146" y="6311912"/>
                </a:lnTo>
                <a:close/>
              </a:path>
              <a:path w="6248400" h="8302625">
                <a:moveTo>
                  <a:pt x="6248146" y="5767527"/>
                </a:moveTo>
                <a:lnTo>
                  <a:pt x="0" y="5767527"/>
                </a:lnTo>
                <a:lnTo>
                  <a:pt x="0" y="5949188"/>
                </a:lnTo>
                <a:lnTo>
                  <a:pt x="0" y="6130544"/>
                </a:lnTo>
                <a:lnTo>
                  <a:pt x="0" y="6311900"/>
                </a:lnTo>
                <a:lnTo>
                  <a:pt x="6248146" y="6311900"/>
                </a:lnTo>
                <a:lnTo>
                  <a:pt x="6248146" y="6130544"/>
                </a:lnTo>
                <a:lnTo>
                  <a:pt x="6248146" y="5949188"/>
                </a:lnTo>
                <a:lnTo>
                  <a:pt x="6248146" y="5767527"/>
                </a:lnTo>
                <a:close/>
              </a:path>
              <a:path w="6248400" h="8302625">
                <a:moveTo>
                  <a:pt x="6248146" y="5043563"/>
                </a:moveTo>
                <a:lnTo>
                  <a:pt x="0" y="5043563"/>
                </a:lnTo>
                <a:lnTo>
                  <a:pt x="0" y="5224907"/>
                </a:lnTo>
                <a:lnTo>
                  <a:pt x="0" y="5406263"/>
                </a:lnTo>
                <a:lnTo>
                  <a:pt x="0" y="5587619"/>
                </a:lnTo>
                <a:lnTo>
                  <a:pt x="0" y="5767451"/>
                </a:lnTo>
                <a:lnTo>
                  <a:pt x="6248146" y="5767451"/>
                </a:lnTo>
                <a:lnTo>
                  <a:pt x="6248146" y="5587619"/>
                </a:lnTo>
                <a:lnTo>
                  <a:pt x="6248146" y="5406263"/>
                </a:lnTo>
                <a:lnTo>
                  <a:pt x="6248146" y="5224907"/>
                </a:lnTo>
                <a:lnTo>
                  <a:pt x="6248146" y="5043563"/>
                </a:lnTo>
                <a:close/>
              </a:path>
              <a:path w="6248400" h="8302625">
                <a:moveTo>
                  <a:pt x="6248146" y="4682375"/>
                </a:moveTo>
                <a:lnTo>
                  <a:pt x="0" y="4682375"/>
                </a:lnTo>
                <a:lnTo>
                  <a:pt x="0" y="4863719"/>
                </a:lnTo>
                <a:lnTo>
                  <a:pt x="0" y="5043551"/>
                </a:lnTo>
                <a:lnTo>
                  <a:pt x="6248146" y="5043551"/>
                </a:lnTo>
                <a:lnTo>
                  <a:pt x="6248146" y="4863719"/>
                </a:lnTo>
                <a:lnTo>
                  <a:pt x="6248146" y="4682375"/>
                </a:lnTo>
                <a:close/>
              </a:path>
              <a:path w="6248400" h="8302625">
                <a:moveTo>
                  <a:pt x="6248146" y="4319663"/>
                </a:moveTo>
                <a:lnTo>
                  <a:pt x="0" y="4319663"/>
                </a:lnTo>
                <a:lnTo>
                  <a:pt x="0" y="4501007"/>
                </a:lnTo>
                <a:lnTo>
                  <a:pt x="0" y="4682363"/>
                </a:lnTo>
                <a:lnTo>
                  <a:pt x="6248146" y="4682363"/>
                </a:lnTo>
                <a:lnTo>
                  <a:pt x="6248146" y="4501007"/>
                </a:lnTo>
                <a:lnTo>
                  <a:pt x="6248146" y="4319663"/>
                </a:lnTo>
                <a:close/>
              </a:path>
              <a:path w="6248400" h="8302625">
                <a:moveTo>
                  <a:pt x="6248146" y="3958475"/>
                </a:moveTo>
                <a:lnTo>
                  <a:pt x="0" y="3958475"/>
                </a:lnTo>
                <a:lnTo>
                  <a:pt x="0" y="4139819"/>
                </a:lnTo>
                <a:lnTo>
                  <a:pt x="0" y="4319651"/>
                </a:lnTo>
                <a:lnTo>
                  <a:pt x="6248146" y="4319651"/>
                </a:lnTo>
                <a:lnTo>
                  <a:pt x="6248146" y="4139819"/>
                </a:lnTo>
                <a:lnTo>
                  <a:pt x="6248146" y="3958475"/>
                </a:lnTo>
                <a:close/>
              </a:path>
              <a:path w="6248400" h="8302625">
                <a:moveTo>
                  <a:pt x="6248146" y="3052965"/>
                </a:moveTo>
                <a:lnTo>
                  <a:pt x="0" y="3052965"/>
                </a:lnTo>
                <a:lnTo>
                  <a:pt x="0" y="3234309"/>
                </a:lnTo>
                <a:lnTo>
                  <a:pt x="0" y="3415665"/>
                </a:lnTo>
                <a:lnTo>
                  <a:pt x="0" y="3595459"/>
                </a:lnTo>
                <a:lnTo>
                  <a:pt x="0" y="3777107"/>
                </a:lnTo>
                <a:lnTo>
                  <a:pt x="0" y="3958463"/>
                </a:lnTo>
                <a:lnTo>
                  <a:pt x="6248146" y="3958463"/>
                </a:lnTo>
                <a:lnTo>
                  <a:pt x="6248146" y="3234309"/>
                </a:lnTo>
                <a:lnTo>
                  <a:pt x="6248146" y="3052965"/>
                </a:lnTo>
                <a:close/>
              </a:path>
              <a:path w="6248400" h="8302625">
                <a:moveTo>
                  <a:pt x="6248146" y="2329065"/>
                </a:moveTo>
                <a:lnTo>
                  <a:pt x="0" y="2329065"/>
                </a:lnTo>
                <a:lnTo>
                  <a:pt x="0" y="2510409"/>
                </a:lnTo>
                <a:lnTo>
                  <a:pt x="0" y="2691765"/>
                </a:lnTo>
                <a:lnTo>
                  <a:pt x="0" y="2871597"/>
                </a:lnTo>
                <a:lnTo>
                  <a:pt x="0" y="3052953"/>
                </a:lnTo>
                <a:lnTo>
                  <a:pt x="6248146" y="3052953"/>
                </a:lnTo>
                <a:lnTo>
                  <a:pt x="6248146" y="2871597"/>
                </a:lnTo>
                <a:lnTo>
                  <a:pt x="6248146" y="2691765"/>
                </a:lnTo>
                <a:lnTo>
                  <a:pt x="6248146" y="2510409"/>
                </a:lnTo>
                <a:lnTo>
                  <a:pt x="6248146" y="2329065"/>
                </a:lnTo>
                <a:close/>
              </a:path>
              <a:path w="6248400" h="8302625">
                <a:moveTo>
                  <a:pt x="6248146" y="1786521"/>
                </a:moveTo>
                <a:lnTo>
                  <a:pt x="0" y="1786521"/>
                </a:lnTo>
                <a:lnTo>
                  <a:pt x="0" y="1967877"/>
                </a:lnTo>
                <a:lnTo>
                  <a:pt x="0" y="2147697"/>
                </a:lnTo>
                <a:lnTo>
                  <a:pt x="0" y="2329053"/>
                </a:lnTo>
                <a:lnTo>
                  <a:pt x="6248146" y="2329053"/>
                </a:lnTo>
                <a:lnTo>
                  <a:pt x="6248146" y="2147697"/>
                </a:lnTo>
                <a:lnTo>
                  <a:pt x="6248146" y="1967877"/>
                </a:lnTo>
                <a:lnTo>
                  <a:pt x="6248146" y="1786521"/>
                </a:lnTo>
                <a:close/>
              </a:path>
              <a:path w="6248400" h="8302625">
                <a:moveTo>
                  <a:pt x="6248146" y="1423492"/>
                </a:moveTo>
                <a:lnTo>
                  <a:pt x="0" y="1423492"/>
                </a:lnTo>
                <a:lnTo>
                  <a:pt x="0" y="1605153"/>
                </a:lnTo>
                <a:lnTo>
                  <a:pt x="0" y="1786509"/>
                </a:lnTo>
                <a:lnTo>
                  <a:pt x="6248146" y="1786509"/>
                </a:lnTo>
                <a:lnTo>
                  <a:pt x="6248146" y="1605153"/>
                </a:lnTo>
                <a:lnTo>
                  <a:pt x="6248146" y="1423492"/>
                </a:lnTo>
                <a:close/>
              </a:path>
              <a:path w="6248400" h="8302625">
                <a:moveTo>
                  <a:pt x="6248146" y="1243596"/>
                </a:moveTo>
                <a:lnTo>
                  <a:pt x="0" y="1243596"/>
                </a:lnTo>
                <a:lnTo>
                  <a:pt x="0" y="1423416"/>
                </a:lnTo>
                <a:lnTo>
                  <a:pt x="6248146" y="1423416"/>
                </a:lnTo>
                <a:lnTo>
                  <a:pt x="6248146" y="1243596"/>
                </a:lnTo>
                <a:close/>
              </a:path>
              <a:path w="6248400" h="8302625">
                <a:moveTo>
                  <a:pt x="6248146" y="519696"/>
                </a:moveTo>
                <a:lnTo>
                  <a:pt x="0" y="519696"/>
                </a:lnTo>
                <a:lnTo>
                  <a:pt x="0" y="699516"/>
                </a:lnTo>
                <a:lnTo>
                  <a:pt x="0" y="880872"/>
                </a:lnTo>
                <a:lnTo>
                  <a:pt x="0" y="1062228"/>
                </a:lnTo>
                <a:lnTo>
                  <a:pt x="0" y="1243584"/>
                </a:lnTo>
                <a:lnTo>
                  <a:pt x="6248146" y="1243584"/>
                </a:lnTo>
                <a:lnTo>
                  <a:pt x="6248146" y="1062228"/>
                </a:lnTo>
                <a:lnTo>
                  <a:pt x="6248146" y="880872"/>
                </a:lnTo>
                <a:lnTo>
                  <a:pt x="6248146" y="699516"/>
                </a:lnTo>
                <a:lnTo>
                  <a:pt x="6248146" y="519696"/>
                </a:lnTo>
                <a:close/>
              </a:path>
              <a:path w="6248400" h="8302625">
                <a:moveTo>
                  <a:pt x="6248146" y="0"/>
                </a:moveTo>
                <a:lnTo>
                  <a:pt x="0" y="0"/>
                </a:lnTo>
                <a:lnTo>
                  <a:pt x="0" y="156972"/>
                </a:lnTo>
                <a:lnTo>
                  <a:pt x="0" y="338328"/>
                </a:lnTo>
                <a:lnTo>
                  <a:pt x="0" y="519684"/>
                </a:lnTo>
                <a:lnTo>
                  <a:pt x="6248146" y="519684"/>
                </a:lnTo>
                <a:lnTo>
                  <a:pt x="6248146" y="338328"/>
                </a:lnTo>
                <a:lnTo>
                  <a:pt x="6248146" y="156972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7108" y="1083309"/>
            <a:ext cx="5744210" cy="8751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83945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1083945" algn="l"/>
              </a:tabLst>
            </a:pPr>
            <a:r>
              <a:rPr sz="1350" spc="-10" dirty="0">
                <a:latin typeface="Arial"/>
                <a:cs typeface="Arial"/>
              </a:rPr>
              <a:t>Base.html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html</a:t>
            </a:r>
            <a:r>
              <a:rPr sz="1050" spc="-3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lang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"en"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head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meta</a:t>
            </a:r>
            <a:r>
              <a:rPr sz="1050" spc="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charset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"UTF-</a:t>
            </a:r>
            <a:r>
              <a:rPr sz="1050" spc="-25" dirty="0">
                <a:solidFill>
                  <a:srgbClr val="97C379"/>
                </a:solidFill>
                <a:latin typeface="Consolas"/>
                <a:cs typeface="Consolas"/>
              </a:rPr>
              <a:t>8"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meta</a:t>
            </a:r>
            <a:r>
              <a:rPr sz="1050" spc="-1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name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"viewport"</a:t>
            </a:r>
            <a:r>
              <a:rPr sz="1050" spc="-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content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"width=device-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width,</a:t>
            </a:r>
            <a:r>
              <a:rPr sz="1050" spc="-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initial-scale=1.0"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meta</a:t>
            </a:r>
            <a:r>
              <a:rPr sz="1050" spc="-1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http-equiv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"X-UA-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Compatible"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content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"ie=edge"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title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&gt;Predict&lt;/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title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10160" indent="292735">
              <a:lnSpc>
                <a:spcPts val="1430"/>
              </a:lnSpc>
              <a:spcBef>
                <a:spcPts val="7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link</a:t>
            </a:r>
            <a:r>
              <a:rPr sz="1050" spc="-3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"https://cdn.bootcss.com/bootstrap/4.0.0/css/bootstrap.min.css"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rel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"stylesheet"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299085" indent="292735">
              <a:lnSpc>
                <a:spcPts val="1420"/>
              </a:lnSpc>
              <a:spcBef>
                <a:spcPts val="1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script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"https://cdn.bootcss.com/popper.js/1.12.9/umd/popper.min.js"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script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script</a:t>
            </a:r>
            <a:r>
              <a:rPr sz="1050" spc="-5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"https://cdn.bootcss.com/jquery/3.3.1/jquery.min.js"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script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226695" indent="292735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script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"https://cdn.bootcss.com/bootstrap/4.0.0/js/bootstrap.min.js"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script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957580" indent="292735">
              <a:lnSpc>
                <a:spcPts val="1430"/>
              </a:lnSpc>
              <a:spcBef>
                <a:spcPts val="6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link</a:t>
            </a:r>
            <a:r>
              <a:rPr sz="1050" spc="-8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{{</a:t>
            </a:r>
            <a:r>
              <a:rPr sz="1050" spc="-8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url_for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'static'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r>
              <a:rPr sz="1050" spc="-8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filename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'css/main.css'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)</a:t>
            </a:r>
            <a:r>
              <a:rPr sz="1050" spc="-8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C578DD"/>
                </a:solidFill>
                <a:latin typeface="Consolas"/>
                <a:cs typeface="Consolas"/>
              </a:rPr>
              <a:t>}}</a:t>
            </a:r>
            <a:r>
              <a:rPr sz="1050" spc="-25" dirty="0">
                <a:solidFill>
                  <a:srgbClr val="97C379"/>
                </a:solidFill>
                <a:latin typeface="Consolas"/>
                <a:cs typeface="Consolas"/>
              </a:rPr>
              <a:t>"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rel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"stylesheet"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.bar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2700" marR="4037329">
              <a:lnSpc>
                <a:spcPct val="113100"/>
              </a:lnSpc>
              <a:spcBef>
                <a:spcPts val="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margin: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0px;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padding:20px; background-color:white; opacity:0.6; color:black;</a:t>
            </a:r>
            <a:endParaRPr sz="1050">
              <a:latin typeface="Consolas"/>
              <a:cs typeface="Consolas"/>
            </a:endParaRPr>
          </a:p>
          <a:p>
            <a:pPr marL="12700" marR="3378835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font-family:'Roboto',sans-serif; font-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style: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 italic;</a:t>
            </a:r>
            <a:endParaRPr sz="1050">
              <a:latin typeface="Consolas"/>
              <a:cs typeface="Consolas"/>
            </a:endParaRPr>
          </a:p>
          <a:p>
            <a:pPr marL="12700" marR="4331335">
              <a:lnSpc>
                <a:spcPts val="1430"/>
              </a:lnSpc>
              <a:spcBef>
                <a:spcPts val="6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border-radius:20px; font-size:25px;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a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2700" marR="4845050">
              <a:lnSpc>
                <a:spcPct val="11330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color:grey; float:right;</a:t>
            </a:r>
            <a:endParaRPr sz="1050">
              <a:latin typeface="Consolas"/>
              <a:cs typeface="Consolas"/>
            </a:endParaRPr>
          </a:p>
          <a:p>
            <a:pPr marL="12700" marR="4185285">
              <a:lnSpc>
                <a:spcPct val="11290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text-decoration:none; font-style:normal; padding-right:20px;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a:hover{</a:t>
            </a:r>
            <a:endParaRPr sz="1050">
              <a:latin typeface="Consolas"/>
              <a:cs typeface="Consolas"/>
            </a:endParaRPr>
          </a:p>
          <a:p>
            <a:pPr marL="12700" marR="4037329">
              <a:lnSpc>
                <a:spcPts val="1430"/>
              </a:lnSpc>
              <a:spcBef>
                <a:spcPts val="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background-color:black; color:white;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border-radius:15px;0</a:t>
            </a:r>
            <a:endParaRPr sz="1050">
              <a:latin typeface="Consolas"/>
              <a:cs typeface="Consolas"/>
            </a:endParaRPr>
          </a:p>
          <a:p>
            <a:pPr marL="12700" marR="4404360">
              <a:lnSpc>
                <a:spcPct val="112400"/>
              </a:lnSpc>
              <a:spcBef>
                <a:spcPts val="1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font-size:30px; padding-left:10px;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body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864056"/>
            <a:ext cx="6248400" cy="4705985"/>
          </a:xfrm>
          <a:custGeom>
            <a:avLst/>
            <a:gdLst/>
            <a:ahLst/>
            <a:cxnLst/>
            <a:rect l="l" t="t" r="r" b="b"/>
            <a:pathLst>
              <a:path w="6248400" h="4705985">
                <a:moveTo>
                  <a:pt x="6248146" y="4524184"/>
                </a:moveTo>
                <a:lnTo>
                  <a:pt x="0" y="4524184"/>
                </a:lnTo>
                <a:lnTo>
                  <a:pt x="0" y="4705528"/>
                </a:lnTo>
                <a:lnTo>
                  <a:pt x="6248146" y="4705528"/>
                </a:lnTo>
                <a:lnTo>
                  <a:pt x="6248146" y="4524184"/>
                </a:lnTo>
                <a:close/>
              </a:path>
              <a:path w="6248400" h="4705985">
                <a:moveTo>
                  <a:pt x="6248146" y="3981386"/>
                </a:moveTo>
                <a:lnTo>
                  <a:pt x="0" y="3981386"/>
                </a:lnTo>
                <a:lnTo>
                  <a:pt x="0" y="4162729"/>
                </a:lnTo>
                <a:lnTo>
                  <a:pt x="0" y="4344035"/>
                </a:lnTo>
                <a:lnTo>
                  <a:pt x="0" y="4524172"/>
                </a:lnTo>
                <a:lnTo>
                  <a:pt x="6248146" y="4524172"/>
                </a:lnTo>
                <a:lnTo>
                  <a:pt x="6248146" y="4344086"/>
                </a:lnTo>
                <a:lnTo>
                  <a:pt x="6248146" y="4162729"/>
                </a:lnTo>
                <a:lnTo>
                  <a:pt x="6248146" y="3981386"/>
                </a:lnTo>
                <a:close/>
              </a:path>
              <a:path w="6248400" h="4705985">
                <a:moveTo>
                  <a:pt x="6248146" y="3257486"/>
                </a:moveTo>
                <a:lnTo>
                  <a:pt x="0" y="3257486"/>
                </a:lnTo>
                <a:lnTo>
                  <a:pt x="0" y="3438829"/>
                </a:lnTo>
                <a:lnTo>
                  <a:pt x="0" y="3620185"/>
                </a:lnTo>
                <a:lnTo>
                  <a:pt x="0" y="3800017"/>
                </a:lnTo>
                <a:lnTo>
                  <a:pt x="0" y="3981373"/>
                </a:lnTo>
                <a:lnTo>
                  <a:pt x="6248146" y="3981373"/>
                </a:lnTo>
                <a:lnTo>
                  <a:pt x="6248146" y="3800017"/>
                </a:lnTo>
                <a:lnTo>
                  <a:pt x="6248146" y="3620185"/>
                </a:lnTo>
                <a:lnTo>
                  <a:pt x="6248146" y="3438829"/>
                </a:lnTo>
                <a:lnTo>
                  <a:pt x="6248146" y="3257486"/>
                </a:lnTo>
                <a:close/>
              </a:path>
              <a:path w="6248400" h="4705985">
                <a:moveTo>
                  <a:pt x="6248146" y="2172081"/>
                </a:moveTo>
                <a:lnTo>
                  <a:pt x="0" y="2172081"/>
                </a:lnTo>
                <a:lnTo>
                  <a:pt x="0" y="2352217"/>
                </a:lnTo>
                <a:lnTo>
                  <a:pt x="0" y="2533573"/>
                </a:lnTo>
                <a:lnTo>
                  <a:pt x="0" y="2714929"/>
                </a:lnTo>
                <a:lnTo>
                  <a:pt x="0" y="2896285"/>
                </a:lnTo>
                <a:lnTo>
                  <a:pt x="0" y="3076117"/>
                </a:lnTo>
                <a:lnTo>
                  <a:pt x="0" y="3257473"/>
                </a:lnTo>
                <a:lnTo>
                  <a:pt x="6248146" y="3257473"/>
                </a:lnTo>
                <a:lnTo>
                  <a:pt x="6248146" y="2352217"/>
                </a:lnTo>
                <a:lnTo>
                  <a:pt x="6248146" y="2172081"/>
                </a:lnTo>
                <a:close/>
              </a:path>
              <a:path w="6248400" h="4705985">
                <a:moveTo>
                  <a:pt x="6248146" y="1448117"/>
                </a:moveTo>
                <a:lnTo>
                  <a:pt x="0" y="1448117"/>
                </a:lnTo>
                <a:lnTo>
                  <a:pt x="0" y="1627936"/>
                </a:lnTo>
                <a:lnTo>
                  <a:pt x="0" y="1809292"/>
                </a:lnTo>
                <a:lnTo>
                  <a:pt x="0" y="1990648"/>
                </a:lnTo>
                <a:lnTo>
                  <a:pt x="0" y="2172004"/>
                </a:lnTo>
                <a:lnTo>
                  <a:pt x="6248146" y="2172004"/>
                </a:lnTo>
                <a:lnTo>
                  <a:pt x="6248146" y="1990648"/>
                </a:lnTo>
                <a:lnTo>
                  <a:pt x="6248146" y="1809292"/>
                </a:lnTo>
                <a:lnTo>
                  <a:pt x="6248146" y="1627936"/>
                </a:lnTo>
                <a:lnTo>
                  <a:pt x="6248146" y="1448117"/>
                </a:lnTo>
                <a:close/>
              </a:path>
              <a:path w="6248400" h="4705985">
                <a:moveTo>
                  <a:pt x="6248146" y="724217"/>
                </a:moveTo>
                <a:lnTo>
                  <a:pt x="0" y="724217"/>
                </a:lnTo>
                <a:lnTo>
                  <a:pt x="0" y="904036"/>
                </a:lnTo>
                <a:lnTo>
                  <a:pt x="0" y="1085392"/>
                </a:lnTo>
                <a:lnTo>
                  <a:pt x="0" y="1266748"/>
                </a:lnTo>
                <a:lnTo>
                  <a:pt x="0" y="1448104"/>
                </a:lnTo>
                <a:lnTo>
                  <a:pt x="6248146" y="1448104"/>
                </a:lnTo>
                <a:lnTo>
                  <a:pt x="6248146" y="1266748"/>
                </a:lnTo>
                <a:lnTo>
                  <a:pt x="6248146" y="1085392"/>
                </a:lnTo>
                <a:lnTo>
                  <a:pt x="6248146" y="904036"/>
                </a:lnTo>
                <a:lnTo>
                  <a:pt x="6248146" y="724217"/>
                </a:lnTo>
                <a:close/>
              </a:path>
              <a:path w="6248400" h="4705985">
                <a:moveTo>
                  <a:pt x="6248146" y="0"/>
                </a:moveTo>
                <a:lnTo>
                  <a:pt x="0" y="0"/>
                </a:lnTo>
                <a:lnTo>
                  <a:pt x="0" y="180136"/>
                </a:lnTo>
                <a:lnTo>
                  <a:pt x="0" y="361492"/>
                </a:lnTo>
                <a:lnTo>
                  <a:pt x="0" y="542848"/>
                </a:lnTo>
                <a:lnTo>
                  <a:pt x="0" y="724204"/>
                </a:lnTo>
                <a:lnTo>
                  <a:pt x="6248146" y="724204"/>
                </a:lnTo>
                <a:lnTo>
                  <a:pt x="6248146" y="542848"/>
                </a:lnTo>
                <a:lnTo>
                  <a:pt x="6248146" y="361492"/>
                </a:lnTo>
                <a:lnTo>
                  <a:pt x="6248146" y="180136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7108" y="843433"/>
            <a:ext cx="5815965" cy="47326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 marR="5080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background-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image:</a:t>
            </a:r>
            <a:r>
              <a:rPr sz="1050" spc="10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url("https://i.makeagif.com/media/9-23-2015/PUEusc.gif"); background-size:cover;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head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body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"bar"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6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"/upload"</a:t>
            </a:r>
            <a:r>
              <a:rPr sz="1050" spc="-5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&gt;Predict&lt;/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"/info"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&gt;Info&lt;/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href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"/about"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&gt;Home&lt;/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br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"container"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76835" indent="511809">
              <a:lnSpc>
                <a:spcPct val="112400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r>
              <a:rPr sz="1050" spc="-5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60AEEE"/>
                </a:solidFill>
                <a:latin typeface="Consolas"/>
                <a:cs typeface="Consolas"/>
              </a:rPr>
              <a:t>id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"content"</a:t>
            </a:r>
            <a:r>
              <a:rPr sz="1050" spc="-2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"margin-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top:2em"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{%</a:t>
            </a:r>
            <a:r>
              <a:rPr sz="1050" spc="-4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block</a:t>
            </a:r>
            <a:r>
              <a:rPr sz="1050" spc="-3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content</a:t>
            </a:r>
            <a:r>
              <a:rPr sz="1050" spc="-3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C578DD"/>
                </a:solidFill>
                <a:latin typeface="Consolas"/>
                <a:cs typeface="Consolas"/>
              </a:rPr>
              <a:t>%}{%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endblock</a:t>
            </a:r>
            <a:r>
              <a:rPr sz="1050" spc="-4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C578DD"/>
                </a:solidFill>
                <a:latin typeface="Consolas"/>
                <a:cs typeface="Consolas"/>
              </a:rPr>
              <a:t>%}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body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footer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1102360" indent="292735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script</a:t>
            </a:r>
            <a:r>
              <a:rPr sz="1050" spc="-9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src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{{</a:t>
            </a:r>
            <a:r>
              <a:rPr sz="1050" spc="-8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url_for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'static'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r>
              <a:rPr sz="1050" spc="-8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filename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'js/main.js'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)</a:t>
            </a:r>
            <a:r>
              <a:rPr sz="1050" spc="-7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C578DD"/>
                </a:solidFill>
                <a:latin typeface="Consolas"/>
                <a:cs typeface="Consolas"/>
              </a:rPr>
              <a:t>}}</a:t>
            </a:r>
            <a:r>
              <a:rPr sz="1050" spc="-25" dirty="0">
                <a:solidFill>
                  <a:srgbClr val="97C379"/>
                </a:solidFill>
                <a:latin typeface="Consolas"/>
                <a:cs typeface="Consolas"/>
              </a:rPr>
              <a:t>"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type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"text/javascript"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script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footer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html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133" y="5986653"/>
            <a:ext cx="11430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sz="1350" spc="-10" dirty="0">
                <a:latin typeface="Arial"/>
                <a:cs typeface="Arial"/>
              </a:rPr>
              <a:t>Index6.html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1520" y="6429120"/>
            <a:ext cx="6248400" cy="3387090"/>
          </a:xfrm>
          <a:custGeom>
            <a:avLst/>
            <a:gdLst/>
            <a:ahLst/>
            <a:cxnLst/>
            <a:rect l="l" t="t" r="r" b="b"/>
            <a:pathLst>
              <a:path w="6248400" h="3387090">
                <a:moveTo>
                  <a:pt x="6248146" y="851992"/>
                </a:moveTo>
                <a:lnTo>
                  <a:pt x="0" y="851992"/>
                </a:lnTo>
                <a:lnTo>
                  <a:pt x="0" y="1033653"/>
                </a:lnTo>
                <a:lnTo>
                  <a:pt x="0" y="1215009"/>
                </a:lnTo>
                <a:lnTo>
                  <a:pt x="0" y="3386963"/>
                </a:lnTo>
                <a:lnTo>
                  <a:pt x="6248146" y="3386963"/>
                </a:lnTo>
                <a:lnTo>
                  <a:pt x="6248146" y="1033653"/>
                </a:lnTo>
                <a:lnTo>
                  <a:pt x="6248146" y="851992"/>
                </a:lnTo>
                <a:close/>
              </a:path>
              <a:path w="6248400" h="3387090">
                <a:moveTo>
                  <a:pt x="6248146" y="309384"/>
                </a:moveTo>
                <a:lnTo>
                  <a:pt x="0" y="309384"/>
                </a:lnTo>
                <a:lnTo>
                  <a:pt x="0" y="490728"/>
                </a:lnTo>
                <a:lnTo>
                  <a:pt x="0" y="670560"/>
                </a:lnTo>
                <a:lnTo>
                  <a:pt x="0" y="851916"/>
                </a:lnTo>
                <a:lnTo>
                  <a:pt x="6248146" y="851916"/>
                </a:lnTo>
                <a:lnTo>
                  <a:pt x="6248146" y="670560"/>
                </a:lnTo>
                <a:lnTo>
                  <a:pt x="6248146" y="490728"/>
                </a:lnTo>
                <a:lnTo>
                  <a:pt x="6248146" y="309384"/>
                </a:lnTo>
                <a:close/>
              </a:path>
              <a:path w="6248400" h="3387090">
                <a:moveTo>
                  <a:pt x="6248146" y="0"/>
                </a:moveTo>
                <a:lnTo>
                  <a:pt x="0" y="0"/>
                </a:lnTo>
                <a:lnTo>
                  <a:pt x="0" y="309372"/>
                </a:lnTo>
                <a:lnTo>
                  <a:pt x="6248146" y="309372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37108" y="6739508"/>
            <a:ext cx="6109970" cy="3082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{%</a:t>
            </a:r>
            <a:r>
              <a:rPr sz="1050" spc="-3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extends</a:t>
            </a:r>
            <a:r>
              <a:rPr sz="1050" spc="-3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"base.html"</a:t>
            </a:r>
            <a:r>
              <a:rPr sz="1050" spc="-2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%}</a:t>
            </a:r>
            <a:r>
              <a:rPr sz="1050" spc="-3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{%</a:t>
            </a:r>
            <a:r>
              <a:rPr sz="1050" spc="-3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block</a:t>
            </a:r>
            <a:r>
              <a:rPr sz="1050" spc="-2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content</a:t>
            </a:r>
            <a:r>
              <a:rPr sz="1050" spc="-1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C578DD"/>
                </a:solidFill>
                <a:latin typeface="Consolas"/>
                <a:cs typeface="Consolas"/>
              </a:rPr>
              <a:t>%}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050">
              <a:latin typeface="Consolas"/>
              <a:cs typeface="Consolas"/>
            </a:endParaRPr>
          </a:p>
          <a:p>
            <a:pPr marL="12700" marR="518795">
              <a:lnSpc>
                <a:spcPct val="113599"/>
              </a:lnSpc>
              <a:spcBef>
                <a:spcPts val="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h2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"color:white;font-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family:Times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New</a:t>
            </a:r>
            <a:r>
              <a:rPr sz="1050" spc="-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Roman;font-size:60"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&gt;ECG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Arrhythmia</a:t>
            </a:r>
            <a:r>
              <a:rPr sz="1050" spc="-5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Classification&lt;/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h2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form</a:t>
            </a:r>
            <a:r>
              <a:rPr sz="1050" spc="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id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"upload-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file"</a:t>
            </a:r>
            <a:r>
              <a:rPr sz="1050" spc="2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method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"post"</a:t>
            </a:r>
            <a:r>
              <a:rPr sz="1050" spc="1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enctype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"multipart/form-data"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90269" marR="1544320" indent="-585470">
              <a:lnSpc>
                <a:spcPct val="113300"/>
              </a:lnSpc>
              <a:tabLst>
                <a:tab pos="1184275" algn="l"/>
              </a:tabLst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		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label</a:t>
            </a:r>
            <a:r>
              <a:rPr sz="1050" spc="-4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for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"imageUpload"</a:t>
            </a:r>
            <a:r>
              <a:rPr sz="1050" spc="-4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"upload-label"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 Choose...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label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input</a:t>
            </a:r>
            <a:r>
              <a:rPr sz="1050" spc="-5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type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"file"</a:t>
            </a:r>
            <a:r>
              <a:rPr sz="1050" spc="-5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name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"file"</a:t>
            </a:r>
            <a:r>
              <a:rPr sz="1050" spc="-5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60AEEE"/>
                </a:solidFill>
                <a:latin typeface="Consolas"/>
                <a:cs typeface="Consolas"/>
              </a:rPr>
              <a:t>id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"imageUpload"</a:t>
            </a:r>
            <a:r>
              <a:rPr sz="1050" spc="-4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accept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".png,</a:t>
            </a:r>
            <a:r>
              <a:rPr sz="1050" spc="-5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.jpg,</a:t>
            </a:r>
            <a:r>
              <a:rPr sz="1050" spc="-4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.jpeg"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form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232410">
              <a:lnSpc>
                <a:spcPct val="1000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"image-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section"</a:t>
            </a:r>
            <a:r>
              <a:rPr sz="1050" spc="-1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"display:none;"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5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"img-preview"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id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"imagePreview"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864056"/>
            <a:ext cx="6248400" cy="2896870"/>
          </a:xfrm>
          <a:custGeom>
            <a:avLst/>
            <a:gdLst/>
            <a:ahLst/>
            <a:cxnLst/>
            <a:rect l="l" t="t" r="r" b="b"/>
            <a:pathLst>
              <a:path w="6248400" h="2896870">
                <a:moveTo>
                  <a:pt x="6248146" y="2172081"/>
                </a:moveTo>
                <a:lnTo>
                  <a:pt x="0" y="2172081"/>
                </a:lnTo>
                <a:lnTo>
                  <a:pt x="0" y="2352217"/>
                </a:lnTo>
                <a:lnTo>
                  <a:pt x="0" y="2533573"/>
                </a:lnTo>
                <a:lnTo>
                  <a:pt x="0" y="2714929"/>
                </a:lnTo>
                <a:lnTo>
                  <a:pt x="0" y="2896285"/>
                </a:lnTo>
                <a:lnTo>
                  <a:pt x="6248146" y="2896285"/>
                </a:lnTo>
                <a:lnTo>
                  <a:pt x="6248146" y="2714929"/>
                </a:lnTo>
                <a:lnTo>
                  <a:pt x="6248146" y="2533573"/>
                </a:lnTo>
                <a:lnTo>
                  <a:pt x="6248146" y="2352217"/>
                </a:lnTo>
                <a:lnTo>
                  <a:pt x="6248146" y="2172081"/>
                </a:lnTo>
                <a:close/>
              </a:path>
              <a:path w="6248400" h="2896870">
                <a:moveTo>
                  <a:pt x="6248146" y="1448117"/>
                </a:moveTo>
                <a:lnTo>
                  <a:pt x="0" y="1448117"/>
                </a:lnTo>
                <a:lnTo>
                  <a:pt x="0" y="1627936"/>
                </a:lnTo>
                <a:lnTo>
                  <a:pt x="0" y="1809292"/>
                </a:lnTo>
                <a:lnTo>
                  <a:pt x="0" y="1990648"/>
                </a:lnTo>
                <a:lnTo>
                  <a:pt x="0" y="2172004"/>
                </a:lnTo>
                <a:lnTo>
                  <a:pt x="6248146" y="2172004"/>
                </a:lnTo>
                <a:lnTo>
                  <a:pt x="6248146" y="1990648"/>
                </a:lnTo>
                <a:lnTo>
                  <a:pt x="6248146" y="1809292"/>
                </a:lnTo>
                <a:lnTo>
                  <a:pt x="6248146" y="1627936"/>
                </a:lnTo>
                <a:lnTo>
                  <a:pt x="6248146" y="1448117"/>
                </a:lnTo>
                <a:close/>
              </a:path>
              <a:path w="6248400" h="2896870">
                <a:moveTo>
                  <a:pt x="6248146" y="724217"/>
                </a:moveTo>
                <a:lnTo>
                  <a:pt x="0" y="724217"/>
                </a:lnTo>
                <a:lnTo>
                  <a:pt x="0" y="904036"/>
                </a:lnTo>
                <a:lnTo>
                  <a:pt x="0" y="1085392"/>
                </a:lnTo>
                <a:lnTo>
                  <a:pt x="0" y="1266748"/>
                </a:lnTo>
                <a:lnTo>
                  <a:pt x="0" y="1448104"/>
                </a:lnTo>
                <a:lnTo>
                  <a:pt x="6248146" y="1448104"/>
                </a:lnTo>
                <a:lnTo>
                  <a:pt x="6248146" y="1266748"/>
                </a:lnTo>
                <a:lnTo>
                  <a:pt x="6248146" y="1085392"/>
                </a:lnTo>
                <a:lnTo>
                  <a:pt x="6248146" y="904036"/>
                </a:lnTo>
                <a:lnTo>
                  <a:pt x="6248146" y="724217"/>
                </a:lnTo>
                <a:close/>
              </a:path>
              <a:path w="6248400" h="2896870">
                <a:moveTo>
                  <a:pt x="6248146" y="0"/>
                </a:moveTo>
                <a:lnTo>
                  <a:pt x="0" y="0"/>
                </a:lnTo>
                <a:lnTo>
                  <a:pt x="0" y="180136"/>
                </a:lnTo>
                <a:lnTo>
                  <a:pt x="0" y="361492"/>
                </a:lnTo>
                <a:lnTo>
                  <a:pt x="0" y="542848"/>
                </a:lnTo>
                <a:lnTo>
                  <a:pt x="0" y="724204"/>
                </a:lnTo>
                <a:lnTo>
                  <a:pt x="6248146" y="724204"/>
                </a:lnTo>
                <a:lnTo>
                  <a:pt x="6248146" y="542848"/>
                </a:lnTo>
                <a:lnTo>
                  <a:pt x="6248146" y="361492"/>
                </a:lnTo>
                <a:lnTo>
                  <a:pt x="6248146" y="180136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7108" y="843433"/>
            <a:ext cx="5450205" cy="29229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98170">
              <a:lnSpc>
                <a:spcPct val="100000"/>
              </a:lnSpc>
              <a:spcBef>
                <a:spcPts val="26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12700" marR="5080" indent="877569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button</a:t>
            </a:r>
            <a:r>
              <a:rPr sz="1050" spc="-3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type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"button"</a:t>
            </a:r>
            <a:r>
              <a:rPr sz="1050" spc="-2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"btn</a:t>
            </a:r>
            <a:r>
              <a:rPr sz="1050" spc="-3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btn-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primary</a:t>
            </a:r>
            <a:r>
              <a:rPr sz="1050" spc="-3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btn-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lg</a:t>
            </a:r>
            <a:r>
              <a:rPr sz="1050" spc="-2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</a:t>
            </a:r>
            <a:r>
              <a:rPr sz="1050" spc="-2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id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"btn- predict"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&gt;Predict!&lt;/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button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6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class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"loader"</a:t>
            </a:r>
            <a:r>
              <a:rPr sz="1050" spc="-5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style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"display:none;"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h3</a:t>
            </a:r>
            <a:r>
              <a:rPr sz="1050" spc="-8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style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"color:white"</a:t>
            </a:r>
            <a:r>
              <a:rPr sz="1050" spc="-6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id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"result"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&lt;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span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h3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&lt;/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520" y="3760342"/>
            <a:ext cx="6248400" cy="723900"/>
          </a:xfrm>
          <a:custGeom>
            <a:avLst/>
            <a:gdLst/>
            <a:ahLst/>
            <a:cxnLst/>
            <a:rect l="l" t="t" r="r" b="b"/>
            <a:pathLst>
              <a:path w="6248400" h="723900">
                <a:moveTo>
                  <a:pt x="6248146" y="361200"/>
                </a:moveTo>
                <a:lnTo>
                  <a:pt x="0" y="361200"/>
                </a:lnTo>
                <a:lnTo>
                  <a:pt x="0" y="542544"/>
                </a:lnTo>
                <a:lnTo>
                  <a:pt x="0" y="723900"/>
                </a:lnTo>
                <a:lnTo>
                  <a:pt x="6248146" y="723900"/>
                </a:lnTo>
                <a:lnTo>
                  <a:pt x="6248146" y="542544"/>
                </a:lnTo>
                <a:lnTo>
                  <a:pt x="6248146" y="361200"/>
                </a:lnTo>
                <a:close/>
              </a:path>
              <a:path w="6248400" h="723900">
                <a:moveTo>
                  <a:pt x="6248146" y="0"/>
                </a:moveTo>
                <a:lnTo>
                  <a:pt x="0" y="0"/>
                </a:lnTo>
                <a:lnTo>
                  <a:pt x="0" y="179832"/>
                </a:lnTo>
                <a:lnTo>
                  <a:pt x="0" y="361188"/>
                </a:lnTo>
                <a:lnTo>
                  <a:pt x="6248146" y="361188"/>
                </a:lnTo>
                <a:lnTo>
                  <a:pt x="6248146" y="179832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7108" y="4303903"/>
            <a:ext cx="1051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{%</a:t>
            </a:r>
            <a:r>
              <a:rPr sz="1050" spc="-3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endblock</a:t>
            </a:r>
            <a:r>
              <a:rPr sz="1050" spc="-3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C578DD"/>
                </a:solidFill>
                <a:latin typeface="Consolas"/>
                <a:cs typeface="Consolas"/>
              </a:rPr>
              <a:t>%}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1520" y="5344032"/>
            <a:ext cx="6248400" cy="4499610"/>
          </a:xfrm>
          <a:custGeom>
            <a:avLst/>
            <a:gdLst/>
            <a:ahLst/>
            <a:cxnLst/>
            <a:rect l="l" t="t" r="r" b="b"/>
            <a:pathLst>
              <a:path w="6248400" h="4499609">
                <a:moveTo>
                  <a:pt x="6248146" y="1966036"/>
                </a:moveTo>
                <a:lnTo>
                  <a:pt x="0" y="1966036"/>
                </a:lnTo>
                <a:lnTo>
                  <a:pt x="0" y="2147697"/>
                </a:lnTo>
                <a:lnTo>
                  <a:pt x="0" y="2327529"/>
                </a:lnTo>
                <a:lnTo>
                  <a:pt x="0" y="4499483"/>
                </a:lnTo>
                <a:lnTo>
                  <a:pt x="6248146" y="4499483"/>
                </a:lnTo>
                <a:lnTo>
                  <a:pt x="6248146" y="2147697"/>
                </a:lnTo>
                <a:lnTo>
                  <a:pt x="6248146" y="1966036"/>
                </a:lnTo>
                <a:close/>
              </a:path>
              <a:path w="6248400" h="4499609">
                <a:moveTo>
                  <a:pt x="6248146" y="1242072"/>
                </a:moveTo>
                <a:lnTo>
                  <a:pt x="0" y="1242072"/>
                </a:lnTo>
                <a:lnTo>
                  <a:pt x="0" y="1423416"/>
                </a:lnTo>
                <a:lnTo>
                  <a:pt x="0" y="1603248"/>
                </a:lnTo>
                <a:lnTo>
                  <a:pt x="0" y="1784604"/>
                </a:lnTo>
                <a:lnTo>
                  <a:pt x="0" y="1965960"/>
                </a:lnTo>
                <a:lnTo>
                  <a:pt x="6248146" y="1965960"/>
                </a:lnTo>
                <a:lnTo>
                  <a:pt x="6248146" y="1784604"/>
                </a:lnTo>
                <a:lnTo>
                  <a:pt x="6248146" y="1603248"/>
                </a:lnTo>
                <a:lnTo>
                  <a:pt x="6248146" y="1423416"/>
                </a:lnTo>
                <a:lnTo>
                  <a:pt x="6248146" y="1242072"/>
                </a:lnTo>
                <a:close/>
              </a:path>
              <a:path w="6248400" h="4499609">
                <a:moveTo>
                  <a:pt x="6248146" y="879360"/>
                </a:moveTo>
                <a:lnTo>
                  <a:pt x="0" y="879360"/>
                </a:lnTo>
                <a:lnTo>
                  <a:pt x="0" y="1060704"/>
                </a:lnTo>
                <a:lnTo>
                  <a:pt x="0" y="1242060"/>
                </a:lnTo>
                <a:lnTo>
                  <a:pt x="6248146" y="1242060"/>
                </a:lnTo>
                <a:lnTo>
                  <a:pt x="6248146" y="1060704"/>
                </a:lnTo>
                <a:lnTo>
                  <a:pt x="6248146" y="879360"/>
                </a:lnTo>
                <a:close/>
              </a:path>
              <a:path w="6248400" h="4499609">
                <a:moveTo>
                  <a:pt x="6248146" y="518172"/>
                </a:moveTo>
                <a:lnTo>
                  <a:pt x="0" y="518172"/>
                </a:lnTo>
                <a:lnTo>
                  <a:pt x="0" y="699516"/>
                </a:lnTo>
                <a:lnTo>
                  <a:pt x="0" y="879348"/>
                </a:lnTo>
                <a:lnTo>
                  <a:pt x="6248146" y="879348"/>
                </a:lnTo>
                <a:lnTo>
                  <a:pt x="6248146" y="699516"/>
                </a:lnTo>
                <a:lnTo>
                  <a:pt x="6248146" y="518172"/>
                </a:lnTo>
                <a:close/>
              </a:path>
              <a:path w="6248400" h="4499609">
                <a:moveTo>
                  <a:pt x="6248146" y="155460"/>
                </a:moveTo>
                <a:lnTo>
                  <a:pt x="0" y="155460"/>
                </a:lnTo>
                <a:lnTo>
                  <a:pt x="0" y="336804"/>
                </a:lnTo>
                <a:lnTo>
                  <a:pt x="0" y="518160"/>
                </a:lnTo>
                <a:lnTo>
                  <a:pt x="6248146" y="518160"/>
                </a:lnTo>
                <a:lnTo>
                  <a:pt x="6248146" y="336804"/>
                </a:lnTo>
                <a:lnTo>
                  <a:pt x="6248146" y="155460"/>
                </a:lnTo>
                <a:close/>
              </a:path>
              <a:path w="6248400" h="4499609">
                <a:moveTo>
                  <a:pt x="6248146" y="0"/>
                </a:moveTo>
                <a:lnTo>
                  <a:pt x="0" y="0"/>
                </a:lnTo>
                <a:lnTo>
                  <a:pt x="0" y="155448"/>
                </a:lnTo>
                <a:lnTo>
                  <a:pt x="6248146" y="155448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37108" y="4899786"/>
            <a:ext cx="3763645" cy="4949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83945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1083945" algn="l"/>
              </a:tabLst>
            </a:pPr>
            <a:r>
              <a:rPr sz="1350" spc="-10" dirty="0">
                <a:latin typeface="Arial"/>
                <a:cs typeface="Arial"/>
              </a:rPr>
              <a:t>main.css</a:t>
            </a:r>
            <a:endParaRPr sz="1350">
              <a:latin typeface="Arial"/>
              <a:cs typeface="Arial"/>
            </a:endParaRPr>
          </a:p>
          <a:p>
            <a:pPr marL="305435" marR="2423160" indent="-293370">
              <a:lnSpc>
                <a:spcPct val="113300"/>
              </a:lnSpc>
              <a:spcBef>
                <a:spcPts val="1515"/>
              </a:spcBef>
            </a:pP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.img-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preview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width: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256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height: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256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 marR="1543685">
              <a:lnSpc>
                <a:spcPct val="112400"/>
              </a:lnSpc>
              <a:spcBef>
                <a:spcPts val="1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position: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relative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border: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5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solid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 #F8F8F8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 marR="5080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box-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shadow: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2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4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rgba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r>
              <a:rPr sz="1050" spc="-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0.1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 margin-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top:</a:t>
            </a:r>
            <a:r>
              <a:rPr sz="1050" spc="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1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em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margin-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bottom: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1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em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50">
              <a:latin typeface="Consolas"/>
              <a:cs typeface="Consolas"/>
            </a:endParaRPr>
          </a:p>
          <a:p>
            <a:pPr marL="305435" marR="2423160" indent="-293370" algn="just">
              <a:lnSpc>
                <a:spcPct val="113599"/>
              </a:lnSpc>
            </a:pP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.img-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preview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&gt;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div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width: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100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%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 algn="just">
              <a:lnSpc>
                <a:spcPct val="100000"/>
              </a:lnSpc>
              <a:spcBef>
                <a:spcPts val="15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height: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100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%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 marR="1323975" algn="just">
              <a:lnSpc>
                <a:spcPct val="113300"/>
              </a:lnSpc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background-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size:</a:t>
            </a:r>
            <a:r>
              <a:rPr sz="1050" spc="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256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256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background-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repeat:</a:t>
            </a:r>
            <a:r>
              <a:rPr sz="1050" spc="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no-repeat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background-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position: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center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50">
              <a:latin typeface="Consolas"/>
              <a:cs typeface="Consolas"/>
            </a:endParaRPr>
          </a:p>
          <a:p>
            <a:pPr marL="305435" marR="2277110" indent="-293370">
              <a:lnSpc>
                <a:spcPct val="113300"/>
              </a:lnSpc>
            </a:pP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input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[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type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=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"file"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]</a:t>
            </a:r>
            <a:r>
              <a:rPr sz="1050" spc="-10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display: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none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.upload-label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 marR="1836420">
              <a:lnSpc>
                <a:spcPct val="112400"/>
              </a:lnSpc>
              <a:spcBef>
                <a:spcPts val="1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display:</a:t>
            </a:r>
            <a:r>
              <a:rPr sz="1050" spc="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inline-block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padding: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12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3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30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864056"/>
            <a:ext cx="6248400" cy="4524375"/>
          </a:xfrm>
          <a:custGeom>
            <a:avLst/>
            <a:gdLst/>
            <a:ahLst/>
            <a:cxnLst/>
            <a:rect l="l" t="t" r="r" b="b"/>
            <a:pathLst>
              <a:path w="6248400" h="4524375">
                <a:moveTo>
                  <a:pt x="6248146" y="3981386"/>
                </a:moveTo>
                <a:lnTo>
                  <a:pt x="0" y="3981386"/>
                </a:lnTo>
                <a:lnTo>
                  <a:pt x="0" y="4162729"/>
                </a:lnTo>
                <a:lnTo>
                  <a:pt x="0" y="4344035"/>
                </a:lnTo>
                <a:lnTo>
                  <a:pt x="0" y="4524172"/>
                </a:lnTo>
                <a:lnTo>
                  <a:pt x="6248146" y="4524172"/>
                </a:lnTo>
                <a:lnTo>
                  <a:pt x="6248146" y="4344086"/>
                </a:lnTo>
                <a:lnTo>
                  <a:pt x="6248146" y="4162729"/>
                </a:lnTo>
                <a:lnTo>
                  <a:pt x="6248146" y="3981386"/>
                </a:lnTo>
                <a:close/>
              </a:path>
              <a:path w="6248400" h="4524375">
                <a:moveTo>
                  <a:pt x="6248146" y="3257486"/>
                </a:moveTo>
                <a:lnTo>
                  <a:pt x="0" y="3257486"/>
                </a:lnTo>
                <a:lnTo>
                  <a:pt x="0" y="3438829"/>
                </a:lnTo>
                <a:lnTo>
                  <a:pt x="0" y="3620185"/>
                </a:lnTo>
                <a:lnTo>
                  <a:pt x="0" y="3800017"/>
                </a:lnTo>
                <a:lnTo>
                  <a:pt x="0" y="3981373"/>
                </a:lnTo>
                <a:lnTo>
                  <a:pt x="6248146" y="3981373"/>
                </a:lnTo>
                <a:lnTo>
                  <a:pt x="6248146" y="3800017"/>
                </a:lnTo>
                <a:lnTo>
                  <a:pt x="6248146" y="3620185"/>
                </a:lnTo>
                <a:lnTo>
                  <a:pt x="6248146" y="3438829"/>
                </a:lnTo>
                <a:lnTo>
                  <a:pt x="6248146" y="3257486"/>
                </a:lnTo>
                <a:close/>
              </a:path>
              <a:path w="6248400" h="4524375">
                <a:moveTo>
                  <a:pt x="6248146" y="2172081"/>
                </a:moveTo>
                <a:lnTo>
                  <a:pt x="0" y="2172081"/>
                </a:lnTo>
                <a:lnTo>
                  <a:pt x="0" y="2352217"/>
                </a:lnTo>
                <a:lnTo>
                  <a:pt x="0" y="2533573"/>
                </a:lnTo>
                <a:lnTo>
                  <a:pt x="0" y="2714929"/>
                </a:lnTo>
                <a:lnTo>
                  <a:pt x="0" y="2896285"/>
                </a:lnTo>
                <a:lnTo>
                  <a:pt x="0" y="3076117"/>
                </a:lnTo>
                <a:lnTo>
                  <a:pt x="0" y="3257473"/>
                </a:lnTo>
                <a:lnTo>
                  <a:pt x="6248146" y="3257473"/>
                </a:lnTo>
                <a:lnTo>
                  <a:pt x="6248146" y="2352217"/>
                </a:lnTo>
                <a:lnTo>
                  <a:pt x="6248146" y="2172081"/>
                </a:lnTo>
                <a:close/>
              </a:path>
              <a:path w="6248400" h="4524375">
                <a:moveTo>
                  <a:pt x="6248146" y="1448117"/>
                </a:moveTo>
                <a:lnTo>
                  <a:pt x="0" y="1448117"/>
                </a:lnTo>
                <a:lnTo>
                  <a:pt x="0" y="1627936"/>
                </a:lnTo>
                <a:lnTo>
                  <a:pt x="0" y="1809292"/>
                </a:lnTo>
                <a:lnTo>
                  <a:pt x="0" y="1990648"/>
                </a:lnTo>
                <a:lnTo>
                  <a:pt x="0" y="2172004"/>
                </a:lnTo>
                <a:lnTo>
                  <a:pt x="6248146" y="2172004"/>
                </a:lnTo>
                <a:lnTo>
                  <a:pt x="6248146" y="1990648"/>
                </a:lnTo>
                <a:lnTo>
                  <a:pt x="6248146" y="1809292"/>
                </a:lnTo>
                <a:lnTo>
                  <a:pt x="6248146" y="1627936"/>
                </a:lnTo>
                <a:lnTo>
                  <a:pt x="6248146" y="1448117"/>
                </a:lnTo>
                <a:close/>
              </a:path>
              <a:path w="6248400" h="4524375">
                <a:moveTo>
                  <a:pt x="6248146" y="724217"/>
                </a:moveTo>
                <a:lnTo>
                  <a:pt x="0" y="724217"/>
                </a:lnTo>
                <a:lnTo>
                  <a:pt x="0" y="904036"/>
                </a:lnTo>
                <a:lnTo>
                  <a:pt x="0" y="1085392"/>
                </a:lnTo>
                <a:lnTo>
                  <a:pt x="0" y="1266748"/>
                </a:lnTo>
                <a:lnTo>
                  <a:pt x="0" y="1448104"/>
                </a:lnTo>
                <a:lnTo>
                  <a:pt x="6248146" y="1448104"/>
                </a:lnTo>
                <a:lnTo>
                  <a:pt x="6248146" y="1266748"/>
                </a:lnTo>
                <a:lnTo>
                  <a:pt x="6248146" y="1085392"/>
                </a:lnTo>
                <a:lnTo>
                  <a:pt x="6248146" y="904036"/>
                </a:lnTo>
                <a:lnTo>
                  <a:pt x="6248146" y="724217"/>
                </a:lnTo>
                <a:close/>
              </a:path>
              <a:path w="6248400" h="4524375">
                <a:moveTo>
                  <a:pt x="6248146" y="0"/>
                </a:moveTo>
                <a:lnTo>
                  <a:pt x="0" y="0"/>
                </a:lnTo>
                <a:lnTo>
                  <a:pt x="0" y="180136"/>
                </a:lnTo>
                <a:lnTo>
                  <a:pt x="0" y="361492"/>
                </a:lnTo>
                <a:lnTo>
                  <a:pt x="0" y="542848"/>
                </a:lnTo>
                <a:lnTo>
                  <a:pt x="0" y="724204"/>
                </a:lnTo>
                <a:lnTo>
                  <a:pt x="6248146" y="724204"/>
                </a:lnTo>
                <a:lnTo>
                  <a:pt x="6248146" y="542848"/>
                </a:lnTo>
                <a:lnTo>
                  <a:pt x="6248146" y="361492"/>
                </a:lnTo>
                <a:lnTo>
                  <a:pt x="6248146" y="180136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7108" y="843433"/>
            <a:ext cx="3470275" cy="455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 marR="1689735">
              <a:lnSpc>
                <a:spcPct val="113300"/>
              </a:lnSpc>
              <a:spcBef>
                <a:spcPts val="10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background: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#39D2B4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color: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#fff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 marR="1689735">
              <a:lnSpc>
                <a:spcPct val="112900"/>
              </a:lnSpc>
              <a:spcBef>
                <a:spcPts val="5"/>
              </a:spcBef>
            </a:pP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font-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size: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1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em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transition: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all</a:t>
            </a:r>
            <a:r>
              <a:rPr sz="1050" spc="-30" dirty="0">
                <a:solidFill>
                  <a:srgbClr val="D19A66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.4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s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cursor: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pointer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050">
              <a:latin typeface="Consolas"/>
              <a:cs typeface="Consolas"/>
            </a:endParaRPr>
          </a:p>
          <a:p>
            <a:pPr marL="305435" marR="1689735" indent="-293370">
              <a:lnSpc>
                <a:spcPct val="112900"/>
              </a:lnSpc>
            </a:pP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.upload-label</a:t>
            </a:r>
            <a:r>
              <a:rPr sz="1050" spc="-10" dirty="0">
                <a:solidFill>
                  <a:srgbClr val="55B6C2"/>
                </a:solidFill>
                <a:latin typeface="Consolas"/>
                <a:cs typeface="Consolas"/>
              </a:rPr>
              <a:t>:hover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{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background: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#34495E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color: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#39D2B4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.loader</a:t>
            </a:r>
            <a:r>
              <a:rPr sz="1050" spc="-35" dirty="0">
                <a:solidFill>
                  <a:srgbClr val="D19A66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 marR="5080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border: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8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solid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#f3f3f3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/*</a:t>
            </a:r>
            <a:r>
              <a:rPr sz="1050" i="1" spc="-1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Light</a:t>
            </a:r>
            <a:r>
              <a:rPr sz="1050" i="1" spc="-2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grey</a:t>
            </a:r>
            <a:r>
              <a:rPr sz="1050" i="1" spc="-25" dirty="0">
                <a:solidFill>
                  <a:srgbClr val="7E848E"/>
                </a:solidFill>
                <a:latin typeface="Consolas"/>
                <a:cs typeface="Consolas"/>
              </a:rPr>
              <a:t> */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top: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8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solid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#3498db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/*</a:t>
            </a:r>
            <a:r>
              <a:rPr sz="1050" i="1" spc="-2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Blue</a:t>
            </a:r>
            <a:r>
              <a:rPr sz="1050" i="1" spc="-1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spc="-25" dirty="0">
                <a:solidFill>
                  <a:srgbClr val="7E848E"/>
                </a:solidFill>
                <a:latin typeface="Consolas"/>
                <a:cs typeface="Consolas"/>
              </a:rPr>
              <a:t>*/ 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border-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radius:</a:t>
            </a:r>
            <a:r>
              <a:rPr sz="1050" spc="-1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D19A66"/>
                </a:solidFill>
                <a:latin typeface="Consolas"/>
                <a:cs typeface="Consolas"/>
              </a:rPr>
              <a:t>50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%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 marR="2203450">
              <a:lnSpc>
                <a:spcPts val="1430"/>
              </a:lnSpc>
              <a:spcBef>
                <a:spcPts val="65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width: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50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height: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50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px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90"/>
              </a:spcBef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animation: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spin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1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s</a:t>
            </a:r>
            <a:r>
              <a:rPr sz="1050" spc="-2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linear</a:t>
            </a:r>
            <a:r>
              <a:rPr sz="1050" spc="-25" dirty="0">
                <a:solidFill>
                  <a:srgbClr val="D19A66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infinite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;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@keyframes</a:t>
            </a:r>
            <a:r>
              <a:rPr sz="1050" spc="-3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DF6C75"/>
                </a:solidFill>
                <a:latin typeface="Consolas"/>
                <a:cs typeface="Consolas"/>
              </a:rPr>
              <a:t>spin</a:t>
            </a:r>
            <a:r>
              <a:rPr sz="1050" i="1" spc="-3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 marR="590550">
              <a:lnSpc>
                <a:spcPct val="113300"/>
              </a:lnSpc>
            </a:pP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0%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transform: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rotate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deg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100%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transform:</a:t>
            </a: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rotate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360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deg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520" y="6247764"/>
            <a:ext cx="6248400" cy="3596004"/>
          </a:xfrm>
          <a:custGeom>
            <a:avLst/>
            <a:gdLst/>
            <a:ahLst/>
            <a:cxnLst/>
            <a:rect l="l" t="t" r="r" b="b"/>
            <a:pathLst>
              <a:path w="6248400" h="3596004">
                <a:moveTo>
                  <a:pt x="6248146" y="1062304"/>
                </a:moveTo>
                <a:lnTo>
                  <a:pt x="0" y="1062304"/>
                </a:lnTo>
                <a:lnTo>
                  <a:pt x="0" y="1243965"/>
                </a:lnTo>
                <a:lnTo>
                  <a:pt x="0" y="1423797"/>
                </a:lnTo>
                <a:lnTo>
                  <a:pt x="0" y="3595751"/>
                </a:lnTo>
                <a:lnTo>
                  <a:pt x="6248146" y="3595751"/>
                </a:lnTo>
                <a:lnTo>
                  <a:pt x="6248146" y="1243965"/>
                </a:lnTo>
                <a:lnTo>
                  <a:pt x="6248146" y="1062304"/>
                </a:lnTo>
                <a:close/>
              </a:path>
              <a:path w="6248400" h="3596004">
                <a:moveTo>
                  <a:pt x="6248146" y="338340"/>
                </a:moveTo>
                <a:lnTo>
                  <a:pt x="0" y="338340"/>
                </a:lnTo>
                <a:lnTo>
                  <a:pt x="0" y="519684"/>
                </a:lnTo>
                <a:lnTo>
                  <a:pt x="0" y="699516"/>
                </a:lnTo>
                <a:lnTo>
                  <a:pt x="0" y="880872"/>
                </a:lnTo>
                <a:lnTo>
                  <a:pt x="0" y="1062228"/>
                </a:lnTo>
                <a:lnTo>
                  <a:pt x="6248146" y="1062228"/>
                </a:lnTo>
                <a:lnTo>
                  <a:pt x="6248146" y="880872"/>
                </a:lnTo>
                <a:lnTo>
                  <a:pt x="6248146" y="699516"/>
                </a:lnTo>
                <a:lnTo>
                  <a:pt x="6248146" y="519684"/>
                </a:lnTo>
                <a:lnTo>
                  <a:pt x="6248146" y="338340"/>
                </a:lnTo>
                <a:close/>
              </a:path>
              <a:path w="6248400" h="3596004">
                <a:moveTo>
                  <a:pt x="6248146" y="0"/>
                </a:moveTo>
                <a:lnTo>
                  <a:pt x="0" y="0"/>
                </a:lnTo>
                <a:lnTo>
                  <a:pt x="0" y="156972"/>
                </a:lnTo>
                <a:lnTo>
                  <a:pt x="0" y="338328"/>
                </a:lnTo>
                <a:lnTo>
                  <a:pt x="6248146" y="338328"/>
                </a:lnTo>
                <a:lnTo>
                  <a:pt x="6248146" y="156972"/>
                </a:lnTo>
                <a:lnTo>
                  <a:pt x="6248146" y="0"/>
                </a:lnTo>
                <a:close/>
              </a:path>
            </a:pathLst>
          </a:custGeom>
          <a:solidFill>
            <a:srgbClr val="282C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7108" y="5805297"/>
            <a:ext cx="6109335" cy="4044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83945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1083945" algn="l"/>
              </a:tabLst>
            </a:pPr>
            <a:r>
              <a:rPr sz="1350" spc="-10" dirty="0">
                <a:latin typeface="Arial"/>
                <a:cs typeface="Arial"/>
              </a:rPr>
              <a:t>Main.js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E4C07A"/>
                </a:solidFill>
                <a:latin typeface="Consolas"/>
                <a:cs typeface="Consolas"/>
              </a:rPr>
              <a:t>document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ready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C578DD"/>
                </a:solidFill>
                <a:latin typeface="Consolas"/>
                <a:cs typeface="Consolas"/>
              </a:rPr>
              <a:t>function</a:t>
            </a:r>
            <a:r>
              <a:rPr sz="1050" spc="4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()</a:t>
            </a:r>
            <a:r>
              <a:rPr sz="1050" spc="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//</a:t>
            </a:r>
            <a:r>
              <a:rPr sz="1050" i="1" spc="-1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spc="-20" dirty="0">
                <a:solidFill>
                  <a:srgbClr val="7E848E"/>
                </a:solidFill>
                <a:latin typeface="Consolas"/>
                <a:cs typeface="Consolas"/>
              </a:rPr>
              <a:t>Init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'.image-section'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hide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'.loader'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hide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'#result'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hide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</a:pP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//</a:t>
            </a:r>
            <a:r>
              <a:rPr sz="1050" i="1" spc="-2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Upload</a:t>
            </a:r>
            <a:r>
              <a:rPr sz="1050" i="1" spc="-1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spc="-10" dirty="0">
                <a:solidFill>
                  <a:srgbClr val="7E848E"/>
                </a:solidFill>
                <a:latin typeface="Consolas"/>
                <a:cs typeface="Consolas"/>
              </a:rPr>
              <a:t>Preview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60"/>
              </a:spcBef>
            </a:pP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function</a:t>
            </a:r>
            <a:r>
              <a:rPr sz="1050" spc="-4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60AEEE"/>
                </a:solidFill>
                <a:latin typeface="Consolas"/>
                <a:cs typeface="Consolas"/>
              </a:rPr>
              <a:t>readURL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i="1" dirty="0">
                <a:solidFill>
                  <a:srgbClr val="DF6C75"/>
                </a:solidFill>
                <a:latin typeface="Consolas"/>
                <a:cs typeface="Consolas"/>
              </a:rPr>
              <a:t>input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)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 {</a:t>
            </a:r>
            <a:endParaRPr sz="1050">
              <a:latin typeface="Consolas"/>
              <a:cs typeface="Consolas"/>
            </a:endParaRPr>
          </a:p>
          <a:p>
            <a:pPr marL="890269" marR="2862580" indent="-292735">
              <a:lnSpc>
                <a:spcPct val="113300"/>
              </a:lnSpc>
            </a:pP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if</a:t>
            </a:r>
            <a:r>
              <a:rPr sz="1050" spc="-5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i="1" dirty="0">
                <a:solidFill>
                  <a:srgbClr val="DF6C75"/>
                </a:solidFill>
                <a:latin typeface="Consolas"/>
                <a:cs typeface="Consolas"/>
              </a:rPr>
              <a:t>input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files</a:t>
            </a:r>
            <a:r>
              <a:rPr sz="1050" spc="-45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&amp;&amp;</a:t>
            </a:r>
            <a:r>
              <a:rPr sz="1050" spc="-50" dirty="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DF6C75"/>
                </a:solidFill>
                <a:latin typeface="Consolas"/>
                <a:cs typeface="Consolas"/>
              </a:rPr>
              <a:t>input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files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[</a:t>
            </a:r>
            <a:r>
              <a:rPr sz="105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])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var</a:t>
            </a:r>
            <a:r>
              <a:rPr sz="1050" spc="-2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reader</a:t>
            </a:r>
            <a:r>
              <a:rPr sz="1050" spc="-20" dirty="0">
                <a:solidFill>
                  <a:srgbClr val="DF6C75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=</a:t>
            </a:r>
            <a:r>
              <a:rPr sz="1050" spc="-20" dirty="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new</a:t>
            </a:r>
            <a:r>
              <a:rPr sz="1050" spc="-2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E4C07A"/>
                </a:solidFill>
                <a:latin typeface="Consolas"/>
                <a:cs typeface="Consolas"/>
              </a:rPr>
              <a:t>FileReader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reader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dirty="0">
                <a:solidFill>
                  <a:srgbClr val="60AEEE"/>
                </a:solidFill>
                <a:latin typeface="Consolas"/>
                <a:cs typeface="Consolas"/>
              </a:rPr>
              <a:t>onload</a:t>
            </a:r>
            <a:r>
              <a:rPr sz="1050" spc="-45" dirty="0">
                <a:solidFill>
                  <a:srgbClr val="60AEE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=</a:t>
            </a:r>
            <a:r>
              <a:rPr sz="1050" spc="-45" dirty="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function</a:t>
            </a:r>
            <a:r>
              <a:rPr sz="1050" spc="-4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i="1" dirty="0">
                <a:solidFill>
                  <a:srgbClr val="DF6C75"/>
                </a:solidFill>
                <a:latin typeface="Consolas"/>
                <a:cs typeface="Consolas"/>
              </a:rPr>
              <a:t>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)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18491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'#imagePreview'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css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'background-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image'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'url('</a:t>
            </a:r>
            <a:r>
              <a:rPr sz="1050" spc="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+</a:t>
            </a:r>
            <a:r>
              <a:rPr sz="1050" spc="10" dirty="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sz="1050" i="1" spc="-10" dirty="0">
                <a:solidFill>
                  <a:srgbClr val="DF6C75"/>
                </a:solidFill>
                <a:latin typeface="Consolas"/>
                <a:cs typeface="Consolas"/>
              </a:rPr>
              <a:t>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target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result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+</a:t>
            </a:r>
            <a:r>
              <a:rPr sz="1050" spc="-5" dirty="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')'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118491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'#imagePreview'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hide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 marL="118491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'#imagePreview'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fadeIn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650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55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890269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reader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readAsDataURL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i="1" spc="-10" dirty="0">
                <a:solidFill>
                  <a:srgbClr val="DF6C75"/>
                </a:solidFill>
                <a:latin typeface="Consolas"/>
                <a:cs typeface="Consolas"/>
              </a:rPr>
              <a:t>input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files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[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]);</a:t>
            </a:r>
            <a:endParaRPr sz="1050">
              <a:latin typeface="Consolas"/>
              <a:cs typeface="Consolas"/>
            </a:endParaRPr>
          </a:p>
          <a:p>
            <a:pPr marL="598170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70"/>
              </a:spcBef>
            </a:pP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}</a:t>
            </a:r>
            <a:endParaRPr sz="1050">
              <a:latin typeface="Consolas"/>
              <a:cs typeface="Consolas"/>
            </a:endParaRPr>
          </a:p>
          <a:p>
            <a:pPr marL="305435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"#imageUpload"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change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C578DD"/>
                </a:solidFill>
                <a:latin typeface="Consolas"/>
                <a:cs typeface="Consolas"/>
              </a:rPr>
              <a:t>function</a:t>
            </a:r>
            <a:r>
              <a:rPr sz="1050" spc="4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()</a:t>
            </a:r>
            <a:r>
              <a:rPr sz="1050" spc="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519" y="864057"/>
            <a:ext cx="6248400" cy="6334760"/>
          </a:xfrm>
          <a:prstGeom prst="rect">
            <a:avLst/>
          </a:prstGeom>
          <a:solidFill>
            <a:srgbClr val="282C34"/>
          </a:solidFill>
        </p:spPr>
        <p:txBody>
          <a:bodyPr vert="horz" wrap="square" lIns="0" tIns="13335" rIns="0" bIns="0" rtlCol="0">
            <a:spAutoFit/>
          </a:bodyPr>
          <a:lstStyle/>
          <a:p>
            <a:pPr marL="60325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'.image-section'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show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  <a:spcBef>
                <a:spcPts val="165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'#btn-predict'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show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'#result'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text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603250" marR="4170045">
              <a:lnSpc>
                <a:spcPct val="112400"/>
              </a:lnSpc>
              <a:spcBef>
                <a:spcPts val="1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'#result'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hide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 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readURL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E4C07A"/>
                </a:solidFill>
                <a:latin typeface="Consolas"/>
                <a:cs typeface="Consolas"/>
              </a:rPr>
              <a:t>this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311150">
              <a:lnSpc>
                <a:spcPct val="100000"/>
              </a:lnSpc>
              <a:spcBef>
                <a:spcPts val="170"/>
              </a:spcBef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});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nsolas"/>
              <a:cs typeface="Consolas"/>
            </a:endParaRPr>
          </a:p>
          <a:p>
            <a:pPr marL="311150">
              <a:lnSpc>
                <a:spcPct val="100000"/>
              </a:lnSpc>
            </a:pP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//</a:t>
            </a:r>
            <a:r>
              <a:rPr sz="1050" i="1" spc="-1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spc="-10" dirty="0">
                <a:solidFill>
                  <a:srgbClr val="7E848E"/>
                </a:solidFill>
                <a:latin typeface="Consolas"/>
                <a:cs typeface="Consolas"/>
              </a:rPr>
              <a:t>Predict</a:t>
            </a:r>
            <a:endParaRPr sz="1050">
              <a:latin typeface="Consolas"/>
              <a:cs typeface="Consolas"/>
            </a:endParaRPr>
          </a:p>
          <a:p>
            <a:pPr marL="31115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'#btn-predict'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click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C578DD"/>
                </a:solidFill>
                <a:latin typeface="Consolas"/>
                <a:cs typeface="Consolas"/>
              </a:rPr>
              <a:t>function</a:t>
            </a:r>
            <a:r>
              <a:rPr sz="1050" spc="5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()</a:t>
            </a:r>
            <a:r>
              <a:rPr sz="1050" spc="5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  <a:spcBef>
                <a:spcPts val="170"/>
              </a:spcBef>
            </a:pP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var</a:t>
            </a:r>
            <a:r>
              <a:rPr sz="1050" spc="-25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form_data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=</a:t>
            </a:r>
            <a:r>
              <a:rPr sz="1050" spc="-10" dirty="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new</a:t>
            </a:r>
            <a:r>
              <a:rPr sz="1050" spc="-1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E4C07A"/>
                </a:solidFill>
                <a:latin typeface="Consolas"/>
                <a:cs typeface="Consolas"/>
              </a:rPr>
              <a:t>FormData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'#upload-file'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)[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0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]);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</a:pP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//</a:t>
            </a:r>
            <a:r>
              <a:rPr sz="1050" i="1" spc="-3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Show</a:t>
            </a:r>
            <a:r>
              <a:rPr sz="1050" i="1" spc="-3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loading</a:t>
            </a:r>
            <a:r>
              <a:rPr sz="1050" i="1" spc="-3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spc="-10" dirty="0">
                <a:solidFill>
                  <a:srgbClr val="7E848E"/>
                </a:solidFill>
                <a:latin typeface="Consolas"/>
                <a:cs typeface="Consolas"/>
              </a:rPr>
              <a:t>animation</a:t>
            </a: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  <a:spcBef>
                <a:spcPts val="16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E4C07A"/>
                </a:solidFill>
                <a:latin typeface="Consolas"/>
                <a:cs typeface="Consolas"/>
              </a:rPr>
              <a:t>this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hide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'.loader'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show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</a:pP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//</a:t>
            </a:r>
            <a:r>
              <a:rPr sz="1050" i="1" spc="-4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Make</a:t>
            </a:r>
            <a:r>
              <a:rPr sz="1050" i="1" spc="-4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prediction</a:t>
            </a:r>
            <a:r>
              <a:rPr sz="1050" i="1" spc="-4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by</a:t>
            </a:r>
            <a:r>
              <a:rPr sz="1050" i="1" spc="-4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calling</a:t>
            </a:r>
            <a:r>
              <a:rPr sz="1050" i="1" spc="-4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api</a:t>
            </a:r>
            <a:r>
              <a:rPr sz="1050" i="1" spc="-2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spc="-10" dirty="0">
                <a:solidFill>
                  <a:srgbClr val="7E848E"/>
                </a:solidFill>
                <a:latin typeface="Consolas"/>
                <a:cs typeface="Consolas"/>
              </a:rPr>
              <a:t>/predict</a:t>
            </a: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  <a:spcBef>
                <a:spcPts val="155"/>
              </a:spcBef>
            </a:pP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ajax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({</a:t>
            </a:r>
            <a:endParaRPr sz="1050">
              <a:latin typeface="Consolas"/>
              <a:cs typeface="Consolas"/>
            </a:endParaRPr>
          </a:p>
          <a:p>
            <a:pPr marL="895985" marR="4169410">
              <a:lnSpc>
                <a:spcPct val="113300"/>
              </a:lnSpc>
            </a:pP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type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'POST'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,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url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2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'/predict'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,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data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3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F6C75"/>
                </a:solidFill>
                <a:latin typeface="Consolas"/>
                <a:cs typeface="Consolas"/>
              </a:rPr>
              <a:t>form_data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endParaRPr sz="1050">
              <a:latin typeface="Consolas"/>
              <a:cs typeface="Consolas"/>
            </a:endParaRPr>
          </a:p>
          <a:p>
            <a:pPr marL="895985" marR="3949700">
              <a:lnSpc>
                <a:spcPts val="1430"/>
              </a:lnSpc>
              <a:spcBef>
                <a:spcPts val="65"/>
              </a:spcBef>
            </a:pP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contentType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8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false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,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cache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false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,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processData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8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false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, </a:t>
            </a:r>
            <a:r>
              <a:rPr sz="1050" dirty="0">
                <a:solidFill>
                  <a:srgbClr val="DF6C75"/>
                </a:solidFill>
                <a:latin typeface="Consolas"/>
                <a:cs typeface="Consolas"/>
              </a:rPr>
              <a:t>async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40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true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,</a:t>
            </a:r>
            <a:endParaRPr sz="1050">
              <a:latin typeface="Consolas"/>
              <a:cs typeface="Consolas"/>
            </a:endParaRPr>
          </a:p>
          <a:p>
            <a:pPr marL="895985">
              <a:lnSpc>
                <a:spcPct val="100000"/>
              </a:lnSpc>
              <a:spcBef>
                <a:spcPts val="75"/>
              </a:spcBef>
            </a:pPr>
            <a:r>
              <a:rPr sz="1050" dirty="0">
                <a:solidFill>
                  <a:srgbClr val="60AEEE"/>
                </a:solidFill>
                <a:latin typeface="Consolas"/>
                <a:cs typeface="Consolas"/>
              </a:rPr>
              <a:t>success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:</a:t>
            </a:r>
            <a:r>
              <a:rPr sz="1050" spc="-3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C578DD"/>
                </a:solidFill>
                <a:latin typeface="Consolas"/>
                <a:cs typeface="Consolas"/>
              </a:rPr>
              <a:t>function</a:t>
            </a:r>
            <a:r>
              <a:rPr sz="1050" spc="-40" dirty="0">
                <a:solidFill>
                  <a:srgbClr val="C578DD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i="1" dirty="0">
                <a:solidFill>
                  <a:srgbClr val="DF6C75"/>
                </a:solidFill>
                <a:latin typeface="Consolas"/>
                <a:cs typeface="Consolas"/>
              </a:rPr>
              <a:t>data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)</a:t>
            </a:r>
            <a:r>
              <a:rPr sz="1050" spc="-45" dirty="0">
                <a:solidFill>
                  <a:srgbClr val="ABB1BE"/>
                </a:solidFill>
                <a:latin typeface="Consolas"/>
                <a:cs typeface="Consolas"/>
              </a:rPr>
              <a:t> </a:t>
            </a:r>
            <a:r>
              <a:rPr sz="1050" spc="-50" dirty="0">
                <a:solidFill>
                  <a:srgbClr val="ABB1BE"/>
                </a:solidFill>
                <a:latin typeface="Consolas"/>
                <a:cs typeface="Consolas"/>
              </a:rPr>
              <a:t>{</a:t>
            </a:r>
            <a:endParaRPr sz="1050">
              <a:latin typeface="Consolas"/>
              <a:cs typeface="Consolas"/>
            </a:endParaRPr>
          </a:p>
          <a:p>
            <a:pPr marL="1189990">
              <a:lnSpc>
                <a:spcPct val="100000"/>
              </a:lnSpc>
              <a:spcBef>
                <a:spcPts val="165"/>
              </a:spcBef>
            </a:pP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//</a:t>
            </a:r>
            <a:r>
              <a:rPr sz="1050" i="1" spc="-3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Get</a:t>
            </a:r>
            <a:r>
              <a:rPr sz="1050" i="1" spc="-3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and</a:t>
            </a:r>
            <a:r>
              <a:rPr sz="1050" i="1" spc="-3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display</a:t>
            </a:r>
            <a:r>
              <a:rPr sz="1050" i="1" spc="-25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dirty="0">
                <a:solidFill>
                  <a:srgbClr val="7E848E"/>
                </a:solidFill>
                <a:latin typeface="Consolas"/>
                <a:cs typeface="Consolas"/>
              </a:rPr>
              <a:t>the</a:t>
            </a:r>
            <a:r>
              <a:rPr sz="1050" i="1" spc="-30" dirty="0">
                <a:solidFill>
                  <a:srgbClr val="7E848E"/>
                </a:solidFill>
                <a:latin typeface="Consolas"/>
                <a:cs typeface="Consolas"/>
              </a:rPr>
              <a:t> </a:t>
            </a:r>
            <a:r>
              <a:rPr sz="1050" i="1" spc="-10" dirty="0">
                <a:solidFill>
                  <a:srgbClr val="7E848E"/>
                </a:solidFill>
                <a:latin typeface="Consolas"/>
                <a:cs typeface="Consolas"/>
              </a:rPr>
              <a:t>result</a:t>
            </a:r>
            <a:endParaRPr sz="1050">
              <a:latin typeface="Consolas"/>
              <a:cs typeface="Consolas"/>
            </a:endParaRPr>
          </a:p>
          <a:p>
            <a:pPr marL="118999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'.loader'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hide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();</a:t>
            </a:r>
            <a:endParaRPr sz="1050">
              <a:latin typeface="Consolas"/>
              <a:cs typeface="Consolas"/>
            </a:endParaRPr>
          </a:p>
          <a:p>
            <a:pPr marL="1189990">
              <a:lnSpc>
                <a:spcPct val="100000"/>
              </a:lnSpc>
              <a:spcBef>
                <a:spcPts val="170"/>
              </a:spcBef>
            </a:pP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'#result'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fadeIn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D19A66"/>
                </a:solidFill>
                <a:latin typeface="Consolas"/>
                <a:cs typeface="Consolas"/>
              </a:rPr>
              <a:t>600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1189990" marR="2191385">
              <a:lnSpc>
                <a:spcPts val="1430"/>
              </a:lnSpc>
              <a:spcBef>
                <a:spcPts val="60"/>
              </a:spcBef>
              <a:tabLst>
                <a:tab pos="3316604" algn="l"/>
              </a:tabLst>
            </a:pPr>
            <a:r>
              <a:rPr sz="1050" dirty="0">
                <a:solidFill>
                  <a:srgbClr val="60AEEE"/>
                </a:solidFill>
                <a:latin typeface="Consolas"/>
                <a:cs typeface="Consolas"/>
              </a:rPr>
              <a:t>$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'#result'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).</a:t>
            </a:r>
            <a:r>
              <a:rPr sz="1050" dirty="0">
                <a:solidFill>
                  <a:srgbClr val="60AEEE"/>
                </a:solidFill>
                <a:latin typeface="Consolas"/>
                <a:cs typeface="Consolas"/>
              </a:rPr>
              <a:t>text</a:t>
            </a:r>
            <a:r>
              <a:rPr sz="105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'</a:t>
            </a:r>
            <a:r>
              <a:rPr sz="1050" spc="-110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Result:</a:t>
            </a:r>
            <a:r>
              <a:rPr sz="1050" dirty="0">
                <a:solidFill>
                  <a:srgbClr val="97C379"/>
                </a:solidFill>
                <a:latin typeface="Consolas"/>
                <a:cs typeface="Consolas"/>
              </a:rPr>
              <a:t>	'</a:t>
            </a:r>
            <a:r>
              <a:rPr sz="1050" spc="-15" dirty="0">
                <a:solidFill>
                  <a:srgbClr val="97C379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55B6C2"/>
                </a:solidFill>
                <a:latin typeface="Consolas"/>
                <a:cs typeface="Consolas"/>
              </a:rPr>
              <a:t>+</a:t>
            </a:r>
            <a:r>
              <a:rPr sz="1050" spc="-10" dirty="0">
                <a:solidFill>
                  <a:srgbClr val="55B6C2"/>
                </a:solidFill>
                <a:latin typeface="Consolas"/>
                <a:cs typeface="Consolas"/>
              </a:rPr>
              <a:t> </a:t>
            </a:r>
            <a:r>
              <a:rPr sz="1050" i="1" spc="-10" dirty="0">
                <a:solidFill>
                  <a:srgbClr val="DF6C75"/>
                </a:solidFill>
                <a:latin typeface="Consolas"/>
                <a:cs typeface="Consolas"/>
              </a:rPr>
              <a:t>data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 </a:t>
            </a:r>
            <a:r>
              <a:rPr sz="1050" spc="-10" dirty="0">
                <a:solidFill>
                  <a:srgbClr val="E4C07A"/>
                </a:solidFill>
                <a:latin typeface="Consolas"/>
                <a:cs typeface="Consolas"/>
              </a:rPr>
              <a:t>console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.</a:t>
            </a:r>
            <a:r>
              <a:rPr sz="1050" spc="-10" dirty="0">
                <a:solidFill>
                  <a:srgbClr val="60AEEE"/>
                </a:solidFill>
                <a:latin typeface="Consolas"/>
                <a:cs typeface="Consolas"/>
              </a:rPr>
              <a:t>log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(</a:t>
            </a:r>
            <a:r>
              <a:rPr sz="1050" spc="-10" dirty="0">
                <a:solidFill>
                  <a:srgbClr val="97C379"/>
                </a:solidFill>
                <a:latin typeface="Consolas"/>
                <a:cs typeface="Consolas"/>
              </a:rPr>
              <a:t>'Success!'</a:t>
            </a:r>
            <a:r>
              <a:rPr sz="1050" spc="-10" dirty="0">
                <a:solidFill>
                  <a:srgbClr val="ABB1BE"/>
                </a:solidFill>
                <a:latin typeface="Consolas"/>
                <a:cs typeface="Consolas"/>
              </a:rPr>
              <a:t>);</a:t>
            </a:r>
            <a:endParaRPr sz="1050">
              <a:latin typeface="Consolas"/>
              <a:cs typeface="Consolas"/>
            </a:endParaRPr>
          </a:p>
          <a:p>
            <a:pPr marL="895985">
              <a:lnSpc>
                <a:spcPct val="100000"/>
              </a:lnSpc>
              <a:spcBef>
                <a:spcPts val="90"/>
              </a:spcBef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},</a:t>
            </a:r>
            <a:endParaRPr sz="1050">
              <a:latin typeface="Consolas"/>
              <a:cs typeface="Consolas"/>
            </a:endParaRPr>
          </a:p>
          <a:p>
            <a:pPr marL="603250">
              <a:lnSpc>
                <a:spcPct val="100000"/>
              </a:lnSpc>
              <a:spcBef>
                <a:spcPts val="170"/>
              </a:spcBef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});</a:t>
            </a:r>
            <a:endParaRPr sz="1050">
              <a:latin typeface="Consolas"/>
              <a:cs typeface="Consolas"/>
            </a:endParaRPr>
          </a:p>
          <a:p>
            <a:pPr marL="311150">
              <a:lnSpc>
                <a:spcPct val="100000"/>
              </a:lnSpc>
              <a:spcBef>
                <a:spcPts val="155"/>
              </a:spcBef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});</a:t>
            </a:r>
            <a:endParaRPr sz="10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Consolas"/>
              <a:cs typeface="Consolas"/>
            </a:endParaRPr>
          </a:p>
          <a:p>
            <a:pPr marL="17780">
              <a:lnSpc>
                <a:spcPct val="100000"/>
              </a:lnSpc>
            </a:pPr>
            <a:r>
              <a:rPr sz="1050" spc="-25" dirty="0">
                <a:solidFill>
                  <a:srgbClr val="ABB1BE"/>
                </a:solidFill>
                <a:latin typeface="Consolas"/>
                <a:cs typeface="Consolas"/>
              </a:rPr>
              <a:t>});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0133" y="7616190"/>
            <a:ext cx="78803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sz="1350" spc="-10" dirty="0">
                <a:latin typeface="Arial"/>
                <a:cs typeface="Arial"/>
              </a:rPr>
              <a:t>App.py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1519" y="8034273"/>
            <a:ext cx="6248400" cy="1727200"/>
          </a:xfrm>
          <a:prstGeom prst="rect">
            <a:avLst/>
          </a:prstGeom>
          <a:solidFill>
            <a:srgbClr val="2B2B2B"/>
          </a:solidFill>
        </p:spPr>
        <p:txBody>
          <a:bodyPr vert="horz" wrap="square" lIns="0" tIns="0" rIns="0" bIns="0" rtlCol="0">
            <a:spAutoFit/>
          </a:bodyPr>
          <a:lstStyle/>
          <a:p>
            <a:pPr marL="17780">
              <a:lnSpc>
                <a:spcPts val="990"/>
              </a:lnSpc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import</a:t>
            </a:r>
            <a:r>
              <a:rPr sz="1000" spc="-4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A9B7C5"/>
                </a:solidFill>
                <a:latin typeface="Courier New"/>
                <a:cs typeface="Courier New"/>
              </a:rPr>
              <a:t>os</a:t>
            </a:r>
            <a:endParaRPr sz="1000">
              <a:latin typeface="Courier New"/>
              <a:cs typeface="Courier New"/>
            </a:endParaRPr>
          </a:p>
          <a:p>
            <a:pPr marL="17780" marR="2639695">
              <a:lnSpc>
                <a:spcPts val="1140"/>
              </a:lnSpc>
              <a:spcBef>
                <a:spcPts val="50"/>
              </a:spcBef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import</a:t>
            </a:r>
            <a:r>
              <a:rPr sz="1000" spc="-3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numpy</a:t>
            </a:r>
            <a:r>
              <a:rPr sz="1000" spc="-2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as</a:t>
            </a:r>
            <a:r>
              <a:rPr sz="1000" spc="-3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np</a:t>
            </a:r>
            <a:r>
              <a:rPr sz="1000" spc="-2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#used</a:t>
            </a:r>
            <a:r>
              <a:rPr sz="10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for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numerical</a:t>
            </a:r>
            <a:r>
              <a:rPr sz="10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analysis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from</a:t>
            </a:r>
            <a:r>
              <a:rPr sz="1000" spc="-3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flask</a:t>
            </a:r>
            <a:r>
              <a:rPr sz="1000" spc="-3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import</a:t>
            </a:r>
            <a:r>
              <a:rPr sz="1000" spc="-3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Flask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request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render_template</a:t>
            </a:r>
            <a:endParaRPr sz="1000">
              <a:latin typeface="Courier New"/>
              <a:cs typeface="Courier New"/>
            </a:endParaRPr>
          </a:p>
          <a:p>
            <a:pPr marL="17780">
              <a:lnSpc>
                <a:spcPts val="1065"/>
              </a:lnSpc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Flask-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It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is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our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framework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which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we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are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going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to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use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to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run/serve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our</a:t>
            </a:r>
            <a:endParaRPr sz="1000">
              <a:latin typeface="Courier New"/>
              <a:cs typeface="Courier New"/>
            </a:endParaRPr>
          </a:p>
          <a:p>
            <a:pPr marL="17780">
              <a:lnSpc>
                <a:spcPts val="1135"/>
              </a:lnSpc>
            </a:pP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application.</a:t>
            </a:r>
            <a:endParaRPr sz="1000">
              <a:latin typeface="Courier New"/>
              <a:cs typeface="Courier New"/>
            </a:endParaRPr>
          </a:p>
          <a:p>
            <a:pPr marL="17780" marR="278130">
              <a:lnSpc>
                <a:spcPts val="1130"/>
              </a:lnSpc>
              <a:spcBef>
                <a:spcPts val="65"/>
              </a:spcBef>
            </a:pP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#request-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for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accessing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file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which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was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uploaded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by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user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on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our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application.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#render_template-</a:t>
            </a:r>
            <a:r>
              <a:rPr sz="10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used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for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rendering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html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pages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Courier New"/>
              <a:cs typeface="Courier New"/>
            </a:endParaRPr>
          </a:p>
          <a:p>
            <a:pPr marL="17780" marR="734695">
              <a:lnSpc>
                <a:spcPts val="1130"/>
              </a:lnSpc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from</a:t>
            </a:r>
            <a:r>
              <a:rPr sz="1000" spc="-65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tensorflow.keras.models</a:t>
            </a:r>
            <a:r>
              <a:rPr sz="1000" spc="-5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import</a:t>
            </a:r>
            <a:r>
              <a:rPr sz="1000" spc="-5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load_model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#to</a:t>
            </a:r>
            <a:r>
              <a:rPr sz="1000" spc="-5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load</a:t>
            </a:r>
            <a:r>
              <a:rPr sz="10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our</a:t>
            </a:r>
            <a:r>
              <a:rPr sz="10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trained</a:t>
            </a:r>
            <a:r>
              <a:rPr sz="10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model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from</a:t>
            </a:r>
            <a:r>
              <a:rPr sz="1000" spc="1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tensorflow.keras.preprocessing</a:t>
            </a:r>
            <a:r>
              <a:rPr sz="1000" spc="2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import</a:t>
            </a:r>
            <a:r>
              <a:rPr sz="1000" spc="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image</a:t>
            </a:r>
            <a:endParaRPr sz="1000">
              <a:latin typeface="Courier New"/>
              <a:cs typeface="Courier New"/>
            </a:endParaRPr>
          </a:p>
          <a:p>
            <a:pPr marL="17780">
              <a:lnSpc>
                <a:spcPct val="100000"/>
              </a:lnSpc>
              <a:spcBef>
                <a:spcPts val="1040"/>
              </a:spcBef>
            </a:pP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app=Flask(</a:t>
            </a:r>
            <a:r>
              <a:rPr sz="1000" u="sng" spc="-30" dirty="0">
                <a:solidFill>
                  <a:srgbClr val="A9B7C5"/>
                </a:solidFill>
                <a:uFill>
                  <a:solidFill>
                    <a:srgbClr val="A8B6C4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name</a:t>
            </a:r>
            <a:r>
              <a:rPr sz="1000" u="sng" spc="-30" dirty="0">
                <a:solidFill>
                  <a:srgbClr val="A9B7C5"/>
                </a:solidFill>
                <a:uFill>
                  <a:solidFill>
                    <a:srgbClr val="A8B6C4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#our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flask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app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20" y="864056"/>
            <a:ext cx="6248400" cy="7195184"/>
          </a:xfrm>
          <a:custGeom>
            <a:avLst/>
            <a:gdLst/>
            <a:ahLst/>
            <a:cxnLst/>
            <a:rect l="l" t="t" r="r" b="b"/>
            <a:pathLst>
              <a:path w="6248400" h="7195184">
                <a:moveTo>
                  <a:pt x="6248146" y="6474968"/>
                </a:moveTo>
                <a:lnTo>
                  <a:pt x="0" y="6474968"/>
                </a:lnTo>
                <a:lnTo>
                  <a:pt x="0" y="6618529"/>
                </a:lnTo>
                <a:lnTo>
                  <a:pt x="0" y="6763309"/>
                </a:lnTo>
                <a:lnTo>
                  <a:pt x="0" y="6906565"/>
                </a:lnTo>
                <a:lnTo>
                  <a:pt x="0" y="7049821"/>
                </a:lnTo>
                <a:lnTo>
                  <a:pt x="0" y="7194601"/>
                </a:lnTo>
                <a:lnTo>
                  <a:pt x="6248146" y="7194601"/>
                </a:lnTo>
                <a:lnTo>
                  <a:pt x="6248146" y="7049821"/>
                </a:lnTo>
                <a:lnTo>
                  <a:pt x="6248146" y="6906565"/>
                </a:lnTo>
                <a:lnTo>
                  <a:pt x="6248146" y="6763309"/>
                </a:lnTo>
                <a:lnTo>
                  <a:pt x="6248146" y="6618529"/>
                </a:lnTo>
                <a:lnTo>
                  <a:pt x="6248146" y="6474968"/>
                </a:lnTo>
                <a:close/>
              </a:path>
              <a:path w="6248400" h="7195184">
                <a:moveTo>
                  <a:pt x="6248146" y="5610796"/>
                </a:moveTo>
                <a:lnTo>
                  <a:pt x="0" y="5610796"/>
                </a:lnTo>
                <a:lnTo>
                  <a:pt x="0" y="5755564"/>
                </a:lnTo>
                <a:lnTo>
                  <a:pt x="0" y="5898820"/>
                </a:lnTo>
                <a:lnTo>
                  <a:pt x="0" y="6043600"/>
                </a:lnTo>
                <a:lnTo>
                  <a:pt x="0" y="6186856"/>
                </a:lnTo>
                <a:lnTo>
                  <a:pt x="0" y="6330112"/>
                </a:lnTo>
                <a:lnTo>
                  <a:pt x="0" y="6474892"/>
                </a:lnTo>
                <a:lnTo>
                  <a:pt x="6248146" y="6474892"/>
                </a:lnTo>
                <a:lnTo>
                  <a:pt x="6248146" y="5755564"/>
                </a:lnTo>
                <a:lnTo>
                  <a:pt x="6248146" y="5610796"/>
                </a:lnTo>
                <a:close/>
              </a:path>
              <a:path w="6248400" h="7195184">
                <a:moveTo>
                  <a:pt x="6248146" y="5324284"/>
                </a:moveTo>
                <a:lnTo>
                  <a:pt x="0" y="5324284"/>
                </a:lnTo>
                <a:lnTo>
                  <a:pt x="0" y="5467528"/>
                </a:lnTo>
                <a:lnTo>
                  <a:pt x="0" y="5610784"/>
                </a:lnTo>
                <a:lnTo>
                  <a:pt x="6248146" y="5610784"/>
                </a:lnTo>
                <a:lnTo>
                  <a:pt x="6248146" y="5467528"/>
                </a:lnTo>
                <a:lnTo>
                  <a:pt x="6248146" y="5324284"/>
                </a:lnTo>
                <a:close/>
              </a:path>
              <a:path w="6248400" h="7195184">
                <a:moveTo>
                  <a:pt x="6248146" y="5036248"/>
                </a:moveTo>
                <a:lnTo>
                  <a:pt x="0" y="5036248"/>
                </a:lnTo>
                <a:lnTo>
                  <a:pt x="0" y="5179492"/>
                </a:lnTo>
                <a:lnTo>
                  <a:pt x="0" y="5324272"/>
                </a:lnTo>
                <a:lnTo>
                  <a:pt x="6248146" y="5324272"/>
                </a:lnTo>
                <a:lnTo>
                  <a:pt x="6248146" y="5179492"/>
                </a:lnTo>
                <a:lnTo>
                  <a:pt x="6248146" y="5036248"/>
                </a:lnTo>
                <a:close/>
              </a:path>
              <a:path w="6248400" h="7195184">
                <a:moveTo>
                  <a:pt x="6248146" y="4604956"/>
                </a:moveTo>
                <a:lnTo>
                  <a:pt x="0" y="4604956"/>
                </a:lnTo>
                <a:lnTo>
                  <a:pt x="0" y="4748200"/>
                </a:lnTo>
                <a:lnTo>
                  <a:pt x="0" y="4891456"/>
                </a:lnTo>
                <a:lnTo>
                  <a:pt x="0" y="5036236"/>
                </a:lnTo>
                <a:lnTo>
                  <a:pt x="6248146" y="5036236"/>
                </a:lnTo>
                <a:lnTo>
                  <a:pt x="6248146" y="4891456"/>
                </a:lnTo>
                <a:lnTo>
                  <a:pt x="6248146" y="4748200"/>
                </a:lnTo>
                <a:lnTo>
                  <a:pt x="6248146" y="4604956"/>
                </a:lnTo>
                <a:close/>
              </a:path>
              <a:path w="6248400" h="7195184">
                <a:moveTo>
                  <a:pt x="6248146" y="4171886"/>
                </a:moveTo>
                <a:lnTo>
                  <a:pt x="0" y="4171886"/>
                </a:lnTo>
                <a:lnTo>
                  <a:pt x="0" y="4316615"/>
                </a:lnTo>
                <a:lnTo>
                  <a:pt x="0" y="4460164"/>
                </a:lnTo>
                <a:lnTo>
                  <a:pt x="0" y="4604944"/>
                </a:lnTo>
                <a:lnTo>
                  <a:pt x="6248146" y="4604944"/>
                </a:lnTo>
                <a:lnTo>
                  <a:pt x="6248146" y="4460164"/>
                </a:lnTo>
                <a:lnTo>
                  <a:pt x="6248146" y="4316654"/>
                </a:lnTo>
                <a:lnTo>
                  <a:pt x="6248146" y="4171886"/>
                </a:lnTo>
                <a:close/>
              </a:path>
              <a:path w="6248400" h="7195184">
                <a:moveTo>
                  <a:pt x="6248146" y="3740594"/>
                </a:moveTo>
                <a:lnTo>
                  <a:pt x="0" y="3740594"/>
                </a:lnTo>
                <a:lnTo>
                  <a:pt x="0" y="3883837"/>
                </a:lnTo>
                <a:lnTo>
                  <a:pt x="0" y="4028617"/>
                </a:lnTo>
                <a:lnTo>
                  <a:pt x="0" y="4171873"/>
                </a:lnTo>
                <a:lnTo>
                  <a:pt x="6248146" y="4171873"/>
                </a:lnTo>
                <a:lnTo>
                  <a:pt x="6248146" y="4028617"/>
                </a:lnTo>
                <a:lnTo>
                  <a:pt x="6248146" y="3883837"/>
                </a:lnTo>
                <a:lnTo>
                  <a:pt x="6248146" y="3740594"/>
                </a:lnTo>
                <a:close/>
              </a:path>
              <a:path w="6248400" h="7195184">
                <a:moveTo>
                  <a:pt x="6248146" y="3452558"/>
                </a:moveTo>
                <a:lnTo>
                  <a:pt x="0" y="3452558"/>
                </a:lnTo>
                <a:lnTo>
                  <a:pt x="0" y="3597325"/>
                </a:lnTo>
                <a:lnTo>
                  <a:pt x="0" y="3740581"/>
                </a:lnTo>
                <a:lnTo>
                  <a:pt x="6248146" y="3740581"/>
                </a:lnTo>
                <a:lnTo>
                  <a:pt x="6248146" y="3597325"/>
                </a:lnTo>
                <a:lnTo>
                  <a:pt x="6248146" y="3452558"/>
                </a:lnTo>
                <a:close/>
              </a:path>
              <a:path w="6248400" h="7195184">
                <a:moveTo>
                  <a:pt x="6248146" y="3164522"/>
                </a:moveTo>
                <a:lnTo>
                  <a:pt x="0" y="3164522"/>
                </a:lnTo>
                <a:lnTo>
                  <a:pt x="0" y="3309289"/>
                </a:lnTo>
                <a:lnTo>
                  <a:pt x="0" y="3452545"/>
                </a:lnTo>
                <a:lnTo>
                  <a:pt x="6248146" y="3452545"/>
                </a:lnTo>
                <a:lnTo>
                  <a:pt x="6248146" y="3309289"/>
                </a:lnTo>
                <a:lnTo>
                  <a:pt x="6248146" y="3164522"/>
                </a:lnTo>
                <a:close/>
              </a:path>
              <a:path w="6248400" h="7195184">
                <a:moveTo>
                  <a:pt x="6248146" y="2878010"/>
                </a:moveTo>
                <a:lnTo>
                  <a:pt x="0" y="2878010"/>
                </a:lnTo>
                <a:lnTo>
                  <a:pt x="0" y="3021253"/>
                </a:lnTo>
                <a:lnTo>
                  <a:pt x="0" y="3164509"/>
                </a:lnTo>
                <a:lnTo>
                  <a:pt x="6248146" y="3164509"/>
                </a:lnTo>
                <a:lnTo>
                  <a:pt x="6248146" y="3021253"/>
                </a:lnTo>
                <a:lnTo>
                  <a:pt x="6248146" y="2878010"/>
                </a:lnTo>
                <a:close/>
              </a:path>
              <a:path w="6248400" h="7195184">
                <a:moveTo>
                  <a:pt x="6248146" y="2301938"/>
                </a:moveTo>
                <a:lnTo>
                  <a:pt x="0" y="2301938"/>
                </a:lnTo>
                <a:lnTo>
                  <a:pt x="0" y="2445181"/>
                </a:lnTo>
                <a:lnTo>
                  <a:pt x="0" y="2589961"/>
                </a:lnTo>
                <a:lnTo>
                  <a:pt x="0" y="2733217"/>
                </a:lnTo>
                <a:lnTo>
                  <a:pt x="0" y="2877997"/>
                </a:lnTo>
                <a:lnTo>
                  <a:pt x="6248146" y="2877997"/>
                </a:lnTo>
                <a:lnTo>
                  <a:pt x="6248146" y="2733217"/>
                </a:lnTo>
                <a:lnTo>
                  <a:pt x="6248146" y="2589961"/>
                </a:lnTo>
                <a:lnTo>
                  <a:pt x="6248146" y="2445181"/>
                </a:lnTo>
                <a:lnTo>
                  <a:pt x="6248146" y="2301938"/>
                </a:lnTo>
                <a:close/>
              </a:path>
              <a:path w="6248400" h="7195184">
                <a:moveTo>
                  <a:pt x="6248146" y="2158365"/>
                </a:moveTo>
                <a:lnTo>
                  <a:pt x="0" y="2158365"/>
                </a:lnTo>
                <a:lnTo>
                  <a:pt x="0" y="2301925"/>
                </a:lnTo>
                <a:lnTo>
                  <a:pt x="6248146" y="2301925"/>
                </a:lnTo>
                <a:lnTo>
                  <a:pt x="6248146" y="2158365"/>
                </a:lnTo>
                <a:close/>
              </a:path>
              <a:path w="6248400" h="7195184">
                <a:moveTo>
                  <a:pt x="6248146" y="1870265"/>
                </a:moveTo>
                <a:lnTo>
                  <a:pt x="0" y="1870265"/>
                </a:lnTo>
                <a:lnTo>
                  <a:pt x="0" y="2013508"/>
                </a:lnTo>
                <a:lnTo>
                  <a:pt x="0" y="2158288"/>
                </a:lnTo>
                <a:lnTo>
                  <a:pt x="6248146" y="2158288"/>
                </a:lnTo>
                <a:lnTo>
                  <a:pt x="6248146" y="2013508"/>
                </a:lnTo>
                <a:lnTo>
                  <a:pt x="6248146" y="1870265"/>
                </a:lnTo>
                <a:close/>
              </a:path>
              <a:path w="6248400" h="7195184">
                <a:moveTo>
                  <a:pt x="6248146" y="1150937"/>
                </a:moveTo>
                <a:lnTo>
                  <a:pt x="0" y="1150937"/>
                </a:lnTo>
                <a:lnTo>
                  <a:pt x="0" y="1294180"/>
                </a:lnTo>
                <a:lnTo>
                  <a:pt x="0" y="1438960"/>
                </a:lnTo>
                <a:lnTo>
                  <a:pt x="0" y="1582216"/>
                </a:lnTo>
                <a:lnTo>
                  <a:pt x="0" y="1725472"/>
                </a:lnTo>
                <a:lnTo>
                  <a:pt x="0" y="1870252"/>
                </a:lnTo>
                <a:lnTo>
                  <a:pt x="6248146" y="1870252"/>
                </a:lnTo>
                <a:lnTo>
                  <a:pt x="6248146" y="1725472"/>
                </a:lnTo>
                <a:lnTo>
                  <a:pt x="6248146" y="1582216"/>
                </a:lnTo>
                <a:lnTo>
                  <a:pt x="6248146" y="1438960"/>
                </a:lnTo>
                <a:lnTo>
                  <a:pt x="6248146" y="1294180"/>
                </a:lnTo>
                <a:lnTo>
                  <a:pt x="6248146" y="1150937"/>
                </a:lnTo>
                <a:close/>
              </a:path>
              <a:path w="6248400" h="7195184">
                <a:moveTo>
                  <a:pt x="6248146" y="574865"/>
                </a:moveTo>
                <a:lnTo>
                  <a:pt x="0" y="574865"/>
                </a:lnTo>
                <a:lnTo>
                  <a:pt x="0" y="719632"/>
                </a:lnTo>
                <a:lnTo>
                  <a:pt x="0" y="862888"/>
                </a:lnTo>
                <a:lnTo>
                  <a:pt x="0" y="1006144"/>
                </a:lnTo>
                <a:lnTo>
                  <a:pt x="0" y="1150924"/>
                </a:lnTo>
                <a:lnTo>
                  <a:pt x="6248146" y="1150924"/>
                </a:lnTo>
                <a:lnTo>
                  <a:pt x="6248146" y="1006144"/>
                </a:lnTo>
                <a:lnTo>
                  <a:pt x="6248146" y="862888"/>
                </a:lnTo>
                <a:lnTo>
                  <a:pt x="6248146" y="719632"/>
                </a:lnTo>
                <a:lnTo>
                  <a:pt x="6248146" y="574865"/>
                </a:lnTo>
                <a:close/>
              </a:path>
              <a:path w="6248400" h="7195184">
                <a:moveTo>
                  <a:pt x="6248146" y="0"/>
                </a:moveTo>
                <a:lnTo>
                  <a:pt x="0" y="0"/>
                </a:lnTo>
                <a:lnTo>
                  <a:pt x="0" y="143560"/>
                </a:lnTo>
                <a:lnTo>
                  <a:pt x="0" y="286816"/>
                </a:lnTo>
                <a:lnTo>
                  <a:pt x="0" y="431596"/>
                </a:lnTo>
                <a:lnTo>
                  <a:pt x="0" y="574852"/>
                </a:lnTo>
                <a:lnTo>
                  <a:pt x="6248146" y="574852"/>
                </a:lnTo>
                <a:lnTo>
                  <a:pt x="6248146" y="431596"/>
                </a:lnTo>
                <a:lnTo>
                  <a:pt x="6248146" y="286816"/>
                </a:lnTo>
                <a:lnTo>
                  <a:pt x="6248146" y="143560"/>
                </a:lnTo>
                <a:lnTo>
                  <a:pt x="6248146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37108" y="830072"/>
            <a:ext cx="6122670" cy="7227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model=load_model(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'ECG.h5'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#loading</a:t>
            </a:r>
            <a:r>
              <a:rPr sz="1000" spc="6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6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model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3815715">
              <a:lnSpc>
                <a:spcPts val="1140"/>
              </a:lnSpc>
              <a:spcBef>
                <a:spcPts val="5"/>
              </a:spcBef>
            </a:pPr>
            <a:r>
              <a:rPr sz="1000" dirty="0">
                <a:solidFill>
                  <a:srgbClr val="BAB529"/>
                </a:solidFill>
                <a:latin typeface="Courier New"/>
                <a:cs typeface="Courier New"/>
              </a:rPr>
              <a:t>@app.route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"/"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7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#default</a:t>
            </a:r>
            <a:r>
              <a:rPr sz="1000" spc="-7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route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def</a:t>
            </a:r>
            <a:r>
              <a:rPr sz="1000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FC56C"/>
                </a:solidFill>
                <a:latin typeface="Courier New"/>
                <a:cs typeface="Courier New"/>
              </a:rPr>
              <a:t>about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():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00"/>
              </a:lnSpc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return</a:t>
            </a:r>
            <a:r>
              <a:rPr sz="1000" spc="3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render_template(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"about.html"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#rendering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html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page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3434715">
              <a:lnSpc>
                <a:spcPts val="1130"/>
              </a:lnSpc>
            </a:pPr>
            <a:r>
              <a:rPr sz="1000" dirty="0">
                <a:solidFill>
                  <a:srgbClr val="BAB529"/>
                </a:solidFill>
                <a:latin typeface="Courier New"/>
                <a:cs typeface="Courier New"/>
              </a:rPr>
              <a:t>@app.route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"/about"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8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#default</a:t>
            </a:r>
            <a:r>
              <a:rPr sz="1000" spc="-8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route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def</a:t>
            </a:r>
            <a:r>
              <a:rPr sz="1000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FC56C"/>
                </a:solidFill>
                <a:latin typeface="Courier New"/>
                <a:cs typeface="Courier New"/>
              </a:rPr>
              <a:t>home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():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10"/>
              </a:lnSpc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return</a:t>
            </a:r>
            <a:r>
              <a:rPr sz="1000" spc="3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render_template(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"about.html"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#rendering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html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page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3510915">
              <a:lnSpc>
                <a:spcPts val="1130"/>
              </a:lnSpc>
            </a:pPr>
            <a:r>
              <a:rPr sz="1000" dirty="0">
                <a:solidFill>
                  <a:srgbClr val="BAB529"/>
                </a:solidFill>
                <a:latin typeface="Courier New"/>
                <a:cs typeface="Courier New"/>
              </a:rPr>
              <a:t>@app.route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"/info"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8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#default</a:t>
            </a:r>
            <a:r>
              <a:rPr sz="1000" spc="-8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route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def</a:t>
            </a:r>
            <a:r>
              <a:rPr sz="1000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FC56C"/>
                </a:solidFill>
                <a:latin typeface="Courier New"/>
                <a:cs typeface="Courier New"/>
              </a:rPr>
              <a:t>information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():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00"/>
              </a:lnSpc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return</a:t>
            </a:r>
            <a:r>
              <a:rPr sz="1000" spc="3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render_template(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"info.html"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#rendering</a:t>
            </a:r>
            <a:r>
              <a:rPr sz="10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html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page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3357879">
              <a:lnSpc>
                <a:spcPts val="1140"/>
              </a:lnSpc>
              <a:spcBef>
                <a:spcPts val="5"/>
              </a:spcBef>
            </a:pPr>
            <a:r>
              <a:rPr sz="1000" dirty="0">
                <a:solidFill>
                  <a:srgbClr val="BAB529"/>
                </a:solidFill>
                <a:latin typeface="Courier New"/>
                <a:cs typeface="Courier New"/>
              </a:rPr>
              <a:t>@app.route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"/upload"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8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#default</a:t>
            </a:r>
            <a:r>
              <a:rPr sz="1000" spc="-8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route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def</a:t>
            </a:r>
            <a:r>
              <a:rPr sz="1000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FC56C"/>
                </a:solidFill>
                <a:latin typeface="Courier New"/>
                <a:cs typeface="Courier New"/>
              </a:rPr>
              <a:t>test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():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05"/>
              </a:lnSpc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return</a:t>
            </a:r>
            <a:r>
              <a:rPr sz="1000" spc="25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render_template(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"index6.html"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#rendering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html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page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691515">
              <a:lnSpc>
                <a:spcPts val="1140"/>
              </a:lnSpc>
            </a:pPr>
            <a:r>
              <a:rPr sz="1000" spc="-10" dirty="0">
                <a:solidFill>
                  <a:srgbClr val="BAB529"/>
                </a:solidFill>
                <a:latin typeface="Courier New"/>
                <a:cs typeface="Courier New"/>
              </a:rPr>
              <a:t>@app.route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"/predict"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AA4825"/>
                </a:solidFill>
                <a:latin typeface="Courier New"/>
                <a:cs typeface="Courier New"/>
              </a:rPr>
              <a:t>methods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=[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"GET"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"POST"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])</a:t>
            </a:r>
            <a:r>
              <a:rPr sz="1000" spc="2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#route</a:t>
            </a:r>
            <a:r>
              <a:rPr sz="10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for</a:t>
            </a:r>
            <a:r>
              <a:rPr sz="1000" spc="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our</a:t>
            </a:r>
            <a:r>
              <a:rPr sz="10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prediction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def</a:t>
            </a:r>
            <a:r>
              <a:rPr sz="1000" spc="-2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FC56C"/>
                </a:solidFill>
                <a:latin typeface="Courier New"/>
                <a:cs typeface="Courier New"/>
              </a:rPr>
              <a:t>upload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():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065"/>
              </a:lnSpc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if</a:t>
            </a:r>
            <a:r>
              <a:rPr sz="1000" spc="-15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request.method==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'POST'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endParaRPr sz="1000">
              <a:latin typeface="Courier New"/>
              <a:cs typeface="Courier New"/>
            </a:endParaRPr>
          </a:p>
          <a:p>
            <a:pPr marL="622300" marR="691515">
              <a:lnSpc>
                <a:spcPts val="1140"/>
              </a:lnSpc>
              <a:spcBef>
                <a:spcPts val="55"/>
              </a:spcBef>
            </a:pP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f=request.files[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'file'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]</a:t>
            </a:r>
            <a:r>
              <a:rPr sz="1000" spc="-7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#requesting</a:t>
            </a:r>
            <a:r>
              <a:rPr sz="1000" spc="-7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-7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file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basepath=os.path.dirname(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'</a:t>
            </a:r>
            <a:r>
              <a:rPr sz="1000" u="sng" spc="-45" dirty="0">
                <a:solidFill>
                  <a:srgbClr val="6A8658"/>
                </a:solidFill>
                <a:uFill>
                  <a:solidFill>
                    <a:srgbClr val="698557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file</a:t>
            </a:r>
            <a:r>
              <a:rPr sz="1000" u="sng" spc="-45" dirty="0">
                <a:solidFill>
                  <a:srgbClr val="6A8658"/>
                </a:solidFill>
                <a:uFill>
                  <a:solidFill>
                    <a:srgbClr val="698557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'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#storing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file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directory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70"/>
              </a:lnSpc>
            </a:pP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filepath=os.path.join(basepath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"uploads"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f.filename)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#storing</a:t>
            </a:r>
            <a:r>
              <a:rPr sz="1000" spc="6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7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file</a:t>
            </a:r>
            <a:r>
              <a:rPr sz="1000" spc="6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in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uploads</a:t>
            </a:r>
            <a:r>
              <a:rPr sz="1000" spc="-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folder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f.save(filepath)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#saving</a:t>
            </a:r>
            <a:r>
              <a:rPr sz="1000" spc="-8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-7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file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  <a:spcBef>
                <a:spcPts val="1065"/>
              </a:spcBef>
            </a:pP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img=image.load_img(filepath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AA4825"/>
                </a:solidFill>
                <a:latin typeface="Courier New"/>
                <a:cs typeface="Courier New"/>
              </a:rPr>
              <a:t>target_size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=(</a:t>
            </a:r>
            <a:r>
              <a:rPr sz="1000" spc="-10" dirty="0">
                <a:solidFill>
                  <a:srgbClr val="6896BA"/>
                </a:solidFill>
                <a:latin typeface="Courier New"/>
                <a:cs typeface="Courier New"/>
              </a:rPr>
              <a:t>64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6896BA"/>
                </a:solidFill>
                <a:latin typeface="Courier New"/>
                <a:cs typeface="Courier New"/>
              </a:rPr>
              <a:t>64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))</a:t>
            </a:r>
            <a:r>
              <a:rPr sz="1000" spc="1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#load</a:t>
            </a:r>
            <a:r>
              <a:rPr sz="1000" spc="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and</a:t>
            </a:r>
            <a:r>
              <a:rPr sz="1000" spc="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reshaping</a:t>
            </a:r>
            <a:r>
              <a:rPr sz="1000" spc="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image</a:t>
            </a:r>
            <a:endParaRPr sz="1000">
              <a:latin typeface="Courier New"/>
              <a:cs typeface="Courier New"/>
            </a:endParaRPr>
          </a:p>
          <a:p>
            <a:pPr marL="622300" marR="690245">
              <a:lnSpc>
                <a:spcPts val="1130"/>
              </a:lnSpc>
              <a:spcBef>
                <a:spcPts val="70"/>
              </a:spcBef>
            </a:pP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x=image.img_to_array(img)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#converting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image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to</a:t>
            </a:r>
            <a:r>
              <a:rPr sz="10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array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x=np.expand_dims(x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AA4825"/>
                </a:solidFill>
                <a:latin typeface="Courier New"/>
                <a:cs typeface="Courier New"/>
              </a:rPr>
              <a:t>axis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=</a:t>
            </a:r>
            <a:r>
              <a:rPr sz="1000" spc="-10" dirty="0">
                <a:solidFill>
                  <a:srgbClr val="6896BA"/>
                </a:solidFill>
                <a:latin typeface="Courier New"/>
                <a:cs typeface="Courier New"/>
              </a:rPr>
              <a:t>0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#changing</a:t>
            </a:r>
            <a:r>
              <a:rPr sz="10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dimensions</a:t>
            </a:r>
            <a:r>
              <a:rPr sz="10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of</a:t>
            </a:r>
            <a:r>
              <a:rPr sz="10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image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 marL="622300" marR="2443480">
              <a:lnSpc>
                <a:spcPts val="1130"/>
              </a:lnSpc>
            </a:pP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pred=model.predict(x)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#predicting</a:t>
            </a:r>
            <a:r>
              <a:rPr sz="1000" spc="1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classes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y_pred</a:t>
            </a:r>
            <a:r>
              <a:rPr sz="1000" spc="-25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A9B7C5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np.argmax(pred)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10"/>
              </a:lnSpc>
            </a:pPr>
            <a:r>
              <a:rPr sz="1000" spc="-10" dirty="0">
                <a:solidFill>
                  <a:srgbClr val="8787C5"/>
                </a:solidFill>
                <a:latin typeface="Courier New"/>
                <a:cs typeface="Courier New"/>
              </a:rPr>
              <a:t>print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"prediction"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y_pred)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#printing</a:t>
            </a:r>
            <a:r>
              <a:rPr sz="1000" spc="6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6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prediction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urier New"/>
              <a:cs typeface="Courier New"/>
            </a:endParaRPr>
          </a:p>
          <a:p>
            <a:pPr marL="12700" marR="919480" indent="609600">
              <a:lnSpc>
                <a:spcPts val="1130"/>
              </a:lnSpc>
              <a:spcBef>
                <a:spcPts val="5"/>
              </a:spcBef>
            </a:pP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index=[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'Left</a:t>
            </a:r>
            <a:r>
              <a:rPr sz="1000" spc="-20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Bundle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Branch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 Block'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'Normal'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'Premature</a:t>
            </a:r>
            <a:r>
              <a:rPr sz="1000" spc="-5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Atrial Contraction'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endParaRPr sz="1000">
              <a:latin typeface="Courier New"/>
              <a:cs typeface="Courier New"/>
            </a:endParaRPr>
          </a:p>
          <a:p>
            <a:pPr marL="546100">
              <a:lnSpc>
                <a:spcPts val="1070"/>
              </a:lnSpc>
            </a:pP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'Premature</a:t>
            </a:r>
            <a:r>
              <a:rPr sz="1000" spc="-60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Ventricular</a:t>
            </a:r>
            <a:r>
              <a:rPr sz="1000" spc="-55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Contractions'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spc="-55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'Right</a:t>
            </a:r>
            <a:r>
              <a:rPr sz="1000" spc="-55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Bundle</a:t>
            </a:r>
            <a:r>
              <a:rPr sz="1000" spc="-55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Branch</a:t>
            </a:r>
            <a:endParaRPr sz="1000">
              <a:latin typeface="Courier New"/>
              <a:cs typeface="Courier New"/>
            </a:endParaRPr>
          </a:p>
          <a:p>
            <a:pPr marL="622300" marR="3510279" indent="-610235">
              <a:lnSpc>
                <a:spcPts val="1130"/>
              </a:lnSpc>
              <a:spcBef>
                <a:spcPts val="65"/>
              </a:spcBef>
            </a:pP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Block'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,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'Ventricular</a:t>
            </a:r>
            <a:r>
              <a:rPr sz="1000" spc="-114" dirty="0">
                <a:solidFill>
                  <a:srgbClr val="6A8658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6A8658"/>
                </a:solidFill>
                <a:latin typeface="Courier New"/>
                <a:cs typeface="Courier New"/>
              </a:rPr>
              <a:t>Fibrillation'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] result=</a:t>
            </a:r>
            <a:r>
              <a:rPr sz="1000" spc="-10" dirty="0">
                <a:solidFill>
                  <a:srgbClr val="8787C5"/>
                </a:solidFill>
                <a:latin typeface="Courier New"/>
                <a:cs typeface="Courier New"/>
              </a:rPr>
              <a:t>str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(index[y_pred])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 marL="317500" marR="2748280" indent="304165">
              <a:lnSpc>
                <a:spcPts val="1130"/>
              </a:lnSpc>
              <a:tabLst>
                <a:tab pos="1765300" algn="l"/>
              </a:tabLst>
            </a:pP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return</a:t>
            </a:r>
            <a:r>
              <a:rPr sz="1000" spc="-4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result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	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#returning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the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result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return</a:t>
            </a:r>
            <a:r>
              <a:rPr sz="1000" spc="-4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CC7831"/>
                </a:solidFill>
                <a:latin typeface="Courier New"/>
                <a:cs typeface="Courier New"/>
              </a:rPr>
              <a:t>None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 marL="12700" marR="3815715">
              <a:lnSpc>
                <a:spcPts val="1140"/>
              </a:lnSpc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#port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int(os.getenv("PORT")) </a:t>
            </a:r>
            <a:r>
              <a:rPr sz="1000" dirty="0">
                <a:solidFill>
                  <a:srgbClr val="CC7831"/>
                </a:solidFill>
                <a:latin typeface="Courier New"/>
                <a:cs typeface="Courier New"/>
              </a:rPr>
              <a:t>if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 </a:t>
            </a:r>
            <a:r>
              <a:rPr sz="1000" u="sng" spc="-15" dirty="0">
                <a:solidFill>
                  <a:srgbClr val="A9B7C5"/>
                </a:solidFill>
                <a:uFill>
                  <a:solidFill>
                    <a:srgbClr val="A8B6C4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name</a:t>
            </a:r>
            <a:r>
              <a:rPr sz="1000" u="sng" spc="-15" dirty="0">
                <a:solidFill>
                  <a:srgbClr val="A9B7C5"/>
                </a:solidFill>
                <a:uFill>
                  <a:solidFill>
                    <a:srgbClr val="A8B6C4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A9B7C5"/>
                </a:solidFill>
                <a:latin typeface="Courier New"/>
                <a:cs typeface="Courier New"/>
              </a:rPr>
              <a:t>==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"</a:t>
            </a:r>
            <a:r>
              <a:rPr sz="1000" u="sng" spc="-15" dirty="0">
                <a:solidFill>
                  <a:srgbClr val="6A8658"/>
                </a:solidFill>
                <a:uFill>
                  <a:solidFill>
                    <a:srgbClr val="698557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dirty="0">
                <a:solidFill>
                  <a:srgbClr val="6A8658"/>
                </a:solidFill>
                <a:latin typeface="Courier New"/>
                <a:cs typeface="Courier New"/>
              </a:rPr>
              <a:t>main</a:t>
            </a:r>
            <a:r>
              <a:rPr sz="1000" u="sng" spc="-10" dirty="0">
                <a:solidFill>
                  <a:srgbClr val="6A8658"/>
                </a:solidFill>
                <a:uFill>
                  <a:solidFill>
                    <a:srgbClr val="698557"/>
                  </a:solidFill>
                </a:uFill>
                <a:latin typeface="Courier New"/>
                <a:cs typeface="Courier New"/>
              </a:rPr>
              <a:t>  </a:t>
            </a:r>
            <a:r>
              <a:rPr sz="1000" spc="-25" dirty="0">
                <a:solidFill>
                  <a:srgbClr val="6A8658"/>
                </a:solidFill>
                <a:latin typeface="Courier New"/>
                <a:cs typeface="Courier New"/>
              </a:rPr>
              <a:t>"</a:t>
            </a:r>
            <a:r>
              <a:rPr sz="1000" spc="-25" dirty="0">
                <a:solidFill>
                  <a:srgbClr val="A9B7C5"/>
                </a:solidFill>
                <a:latin typeface="Courier New"/>
                <a:cs typeface="Courier New"/>
              </a:rPr>
              <a:t>: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065"/>
              </a:lnSpc>
            </a:pP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app.run(</a:t>
            </a:r>
            <a:r>
              <a:rPr sz="1000" spc="-10" dirty="0">
                <a:solidFill>
                  <a:srgbClr val="AA4825"/>
                </a:solidFill>
                <a:latin typeface="Courier New"/>
                <a:cs typeface="Courier New"/>
              </a:rPr>
              <a:t>debug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=</a:t>
            </a:r>
            <a:r>
              <a:rPr sz="1000" spc="-10" dirty="0">
                <a:solidFill>
                  <a:srgbClr val="CC7831"/>
                </a:solidFill>
                <a:latin typeface="Courier New"/>
                <a:cs typeface="Courier New"/>
              </a:rPr>
              <a:t>False</a:t>
            </a:r>
            <a:r>
              <a:rPr sz="1000" spc="-10" dirty="0">
                <a:solidFill>
                  <a:srgbClr val="A9B7C5"/>
                </a:solidFill>
                <a:latin typeface="Courier New"/>
                <a:cs typeface="Courier New"/>
              </a:rPr>
              <a:t>)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#running</a:t>
            </a:r>
            <a:r>
              <a:rPr sz="1000" spc="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our</a:t>
            </a:r>
            <a:r>
              <a:rPr sz="1000" spc="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app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5"/>
              </a:lnSpc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#app.run(host='0.0.0.0',</a:t>
            </a:r>
            <a:r>
              <a:rPr sz="1000" spc="-1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port=8000)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1520" y="8058657"/>
            <a:ext cx="6248400" cy="288290"/>
          </a:xfrm>
          <a:custGeom>
            <a:avLst/>
            <a:gdLst/>
            <a:ahLst/>
            <a:cxnLst/>
            <a:rect l="l" t="t" r="r" b="b"/>
            <a:pathLst>
              <a:path w="6248400" h="288290">
                <a:moveTo>
                  <a:pt x="6248146" y="0"/>
                </a:moveTo>
                <a:lnTo>
                  <a:pt x="0" y="0"/>
                </a:lnTo>
                <a:lnTo>
                  <a:pt x="0" y="143256"/>
                </a:lnTo>
                <a:lnTo>
                  <a:pt x="0" y="288036"/>
                </a:lnTo>
                <a:lnTo>
                  <a:pt x="6248146" y="288036"/>
                </a:lnTo>
                <a:lnTo>
                  <a:pt x="6248146" y="143256"/>
                </a:lnTo>
                <a:lnTo>
                  <a:pt x="6248146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0133" y="1083309"/>
            <a:ext cx="158940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</a:tabLst>
            </a:pPr>
            <a:r>
              <a:rPr sz="1350" dirty="0">
                <a:latin typeface="Arial"/>
                <a:cs typeface="Arial"/>
              </a:rPr>
              <a:t>Run</a:t>
            </a:r>
            <a:r>
              <a:rPr sz="1350" spc="-20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the</a:t>
            </a:r>
            <a:r>
              <a:rPr sz="1350" spc="-25" dirty="0">
                <a:latin typeface="Arial"/>
                <a:cs typeface="Arial"/>
              </a:rPr>
              <a:t> </a:t>
            </a:r>
            <a:r>
              <a:rPr sz="1350" dirty="0">
                <a:latin typeface="Arial"/>
                <a:cs typeface="Arial"/>
              </a:rPr>
              <a:t>flask</a:t>
            </a:r>
            <a:r>
              <a:rPr sz="1350" spc="-30" dirty="0">
                <a:latin typeface="Arial"/>
                <a:cs typeface="Arial"/>
              </a:rPr>
              <a:t> </a:t>
            </a:r>
            <a:r>
              <a:rPr sz="1350" spc="-25" dirty="0">
                <a:latin typeface="Arial"/>
                <a:cs typeface="Arial"/>
              </a:rPr>
              <a:t>app</a:t>
            </a:r>
            <a:endParaRPr sz="13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00" y="1501533"/>
            <a:ext cx="5524500" cy="2663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300" y="1965909"/>
            <a:ext cx="6210300" cy="10198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1183893"/>
            <a:ext cx="4713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OUTPUT</a:t>
            </a:r>
            <a:r>
              <a:rPr spc="-245" dirty="0"/>
              <a:t> </a:t>
            </a:r>
            <a:r>
              <a:rPr spc="-40" dirty="0"/>
              <a:t>of</a:t>
            </a:r>
            <a:r>
              <a:rPr spc="-245" dirty="0"/>
              <a:t> </a:t>
            </a:r>
            <a:r>
              <a:rPr spc="-40" dirty="0"/>
              <a:t>Flask</a:t>
            </a:r>
            <a:r>
              <a:rPr spc="-240" dirty="0"/>
              <a:t> </a:t>
            </a:r>
            <a:r>
              <a:rPr spc="-45" dirty="0"/>
              <a:t>App</a:t>
            </a:r>
            <a:r>
              <a:rPr spc="-250" dirty="0"/>
              <a:t> </a:t>
            </a:r>
            <a:r>
              <a:rPr spc="-75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108" y="1987041"/>
            <a:ext cx="6489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rebuchet MS"/>
                <a:cs typeface="Trebuchet MS"/>
              </a:rPr>
              <a:t>About.html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299" y="1733041"/>
              <a:ext cx="6184900" cy="32638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299" y="5378195"/>
              <a:ext cx="6233795" cy="328244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02004" y="1304290"/>
            <a:ext cx="646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solidFill>
                  <a:srgbClr val="34465C"/>
                </a:solidFill>
                <a:latin typeface="Trebuchet MS"/>
                <a:cs typeface="Trebuchet MS"/>
              </a:rPr>
              <a:t>info.html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299" y="1066799"/>
              <a:ext cx="6210300" cy="32702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299" y="4648326"/>
              <a:ext cx="6210300" cy="327647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1974" y="1066799"/>
              <a:ext cx="6197600" cy="32702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299" y="4648326"/>
              <a:ext cx="6210300" cy="327025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399" y="1219199"/>
            <a:ext cx="6210300" cy="327025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299" y="1554607"/>
              <a:ext cx="6210300" cy="32764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9299" y="5747003"/>
              <a:ext cx="6209157" cy="326707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37108" y="1046733"/>
            <a:ext cx="873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35" dirty="0">
                <a:latin typeface="Trebuchet MS"/>
                <a:cs typeface="Trebuchet MS"/>
              </a:rPr>
              <a:t>Predict.html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764" y="912494"/>
            <a:ext cx="6209157" cy="328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399" y="1887855"/>
            <a:ext cx="5943600" cy="28575"/>
          </a:xfrm>
          <a:custGeom>
            <a:avLst/>
            <a:gdLst/>
            <a:ahLst/>
            <a:cxnLst/>
            <a:rect l="l" t="t" r="r" b="b"/>
            <a:pathLst>
              <a:path w="5943600" h="28575">
                <a:moveTo>
                  <a:pt x="5943600" y="0"/>
                </a:moveTo>
                <a:lnTo>
                  <a:pt x="0" y="0"/>
                </a:lnTo>
                <a:lnTo>
                  <a:pt x="0" y="28575"/>
                </a:lnTo>
                <a:lnTo>
                  <a:pt x="5943600" y="28575"/>
                </a:lnTo>
                <a:lnTo>
                  <a:pt x="5943600" y="0"/>
                </a:lnTo>
                <a:close/>
              </a:path>
            </a:pathLst>
          </a:custGeom>
          <a:solidFill>
            <a:srgbClr val="123A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004" y="1295145"/>
            <a:ext cx="592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Advantages,</a:t>
            </a:r>
            <a:r>
              <a:rPr spc="-200" dirty="0"/>
              <a:t> </a:t>
            </a:r>
            <a:r>
              <a:rPr spc="-45" dirty="0"/>
              <a:t>Disadvantages</a:t>
            </a:r>
            <a:r>
              <a:rPr spc="-200" dirty="0"/>
              <a:t> </a:t>
            </a:r>
            <a:r>
              <a:rPr spc="-75" dirty="0"/>
              <a:t>and</a:t>
            </a:r>
            <a:r>
              <a:rPr spc="-190" dirty="0"/>
              <a:t> </a:t>
            </a:r>
            <a:r>
              <a:rPr spc="-50" dirty="0"/>
              <a:t>Applications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630"/>
              </a:spcBef>
            </a:pPr>
            <a:r>
              <a:rPr spc="-10" dirty="0"/>
              <a:t>Advantages</a:t>
            </a:r>
          </a:p>
          <a:p>
            <a:pPr marL="469265" indent="-226695">
              <a:lnSpc>
                <a:spcPct val="100000"/>
              </a:lnSpc>
              <a:spcBef>
                <a:spcPts val="470"/>
              </a:spcBef>
              <a:buClr>
                <a:srgbClr val="000000"/>
              </a:buClr>
              <a:buSzPct val="104761"/>
              <a:buFont typeface="Times New Roman"/>
              <a:buChar char="●"/>
              <a:tabLst>
                <a:tab pos="469265" algn="l"/>
              </a:tabLst>
            </a:pP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proposed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r>
              <a:rPr sz="1050" b="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0" dirty="0">
                <a:solidFill>
                  <a:srgbClr val="34465C"/>
                </a:solidFill>
                <a:latin typeface="Trebuchet MS"/>
                <a:cs typeface="Trebuchet MS"/>
              </a:rPr>
              <a:t>predicts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Arrhythmia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images</a:t>
            </a:r>
            <a:r>
              <a:rPr sz="1050" b="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with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050" b="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high</a:t>
            </a:r>
            <a:r>
              <a:rPr sz="1050" b="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accuracy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45" dirty="0">
                <a:solidFill>
                  <a:srgbClr val="34465C"/>
                </a:solidFill>
                <a:latin typeface="Trebuchet MS"/>
                <a:cs typeface="Trebuchet MS"/>
              </a:rPr>
              <a:t>rate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nearly </a:t>
            </a:r>
            <a:r>
              <a:rPr sz="1050" b="0" spc="35" dirty="0">
                <a:solidFill>
                  <a:srgbClr val="34465C"/>
                </a:solidFill>
                <a:latin typeface="Trebuchet MS"/>
                <a:cs typeface="Trebuchet MS"/>
              </a:rPr>
              <a:t>96%</a:t>
            </a:r>
            <a:endParaRPr sz="1050">
              <a:latin typeface="Trebuchet MS"/>
              <a:cs typeface="Trebuchet MS"/>
            </a:endParaRPr>
          </a:p>
          <a:p>
            <a:pPr marL="469265" marR="147320" indent="-226695">
              <a:lnSpc>
                <a:spcPct val="118100"/>
              </a:lnSpc>
              <a:spcBef>
                <a:spcPts val="95"/>
              </a:spcBef>
              <a:buClr>
                <a:srgbClr val="000000"/>
              </a:buClr>
              <a:buSzPct val="104761"/>
              <a:buFont typeface="Times New Roman"/>
              <a:buChar char="●"/>
              <a:tabLst>
                <a:tab pos="471170" algn="l"/>
              </a:tabLst>
            </a:pP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early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detection</a:t>
            </a:r>
            <a:r>
              <a:rPr sz="1050" b="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5" dirty="0">
                <a:solidFill>
                  <a:srgbClr val="34465C"/>
                </a:solidFill>
                <a:latin typeface="Trebuchet MS"/>
                <a:cs typeface="Trebuchet MS"/>
              </a:rPr>
              <a:t>Arrhythmia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gives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better</a:t>
            </a:r>
            <a:r>
              <a:rPr sz="1050" b="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understanding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disease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causes,</a:t>
            </a:r>
            <a:r>
              <a:rPr sz="1050" b="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initiates 	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therapeutic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interventions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enables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developing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appropriate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treatments.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0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</a:pPr>
            <a:r>
              <a:rPr spc="-10" dirty="0">
                <a:solidFill>
                  <a:srgbClr val="FF0000"/>
                </a:solidFill>
              </a:rPr>
              <a:t>Disadvantages</a:t>
            </a:r>
          </a:p>
          <a:p>
            <a:pPr marL="126364" indent="-113664">
              <a:lnSpc>
                <a:spcPct val="100000"/>
              </a:lnSpc>
              <a:spcBef>
                <a:spcPts val="385"/>
              </a:spcBef>
              <a:buFont typeface="Times New Roman"/>
              <a:buChar char="●"/>
              <a:tabLst>
                <a:tab pos="126364" algn="l"/>
              </a:tabLst>
            </a:pP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Not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useful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for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identifying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different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stages</a:t>
            </a:r>
            <a:r>
              <a:rPr sz="1050" b="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5" dirty="0">
                <a:solidFill>
                  <a:srgbClr val="34465C"/>
                </a:solidFill>
                <a:latin typeface="Trebuchet MS"/>
                <a:cs typeface="Trebuchet MS"/>
              </a:rPr>
              <a:t>Arrhythmia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disease.</a:t>
            </a:r>
            <a:endParaRPr sz="105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Times New Roman"/>
              <a:buChar char="●"/>
              <a:tabLst>
                <a:tab pos="126364" algn="l"/>
              </a:tabLst>
            </a:pP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Not</a:t>
            </a:r>
            <a:r>
              <a:rPr sz="1050" b="0" spc="-9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useful</a:t>
            </a:r>
            <a:r>
              <a:rPr sz="1050" b="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b="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monitoring</a:t>
            </a:r>
            <a:r>
              <a:rPr sz="1050" b="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motor</a:t>
            </a:r>
            <a:r>
              <a:rPr sz="1050" b="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symptoms</a:t>
            </a:r>
            <a:endParaRPr sz="10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34465C"/>
              </a:buClr>
              <a:buFont typeface="Times New Roman"/>
              <a:buChar char="●"/>
            </a:pPr>
            <a:endParaRPr sz="1050">
              <a:latin typeface="Trebuchet MS"/>
              <a:cs typeface="Trebuchet MS"/>
            </a:endParaRPr>
          </a:p>
          <a:p>
            <a:pPr marL="13970">
              <a:lnSpc>
                <a:spcPct val="100000"/>
              </a:lnSpc>
            </a:pPr>
            <a:r>
              <a:rPr spc="-10" dirty="0">
                <a:solidFill>
                  <a:srgbClr val="123A7D"/>
                </a:solidFill>
              </a:rPr>
              <a:t>Applications</a:t>
            </a:r>
          </a:p>
          <a:p>
            <a:pPr marL="126364" indent="-113664">
              <a:lnSpc>
                <a:spcPct val="100000"/>
              </a:lnSpc>
              <a:spcBef>
                <a:spcPts val="385"/>
              </a:spcBef>
              <a:buFont typeface="Times New Roman"/>
              <a:buChar char="●"/>
              <a:tabLst>
                <a:tab pos="126364" algn="l"/>
              </a:tabLst>
            </a:pP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It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b="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useful</a:t>
            </a:r>
            <a:r>
              <a:rPr sz="1050" b="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for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identifying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0" dirty="0">
                <a:solidFill>
                  <a:srgbClr val="34465C"/>
                </a:solidFill>
                <a:latin typeface="Trebuchet MS"/>
                <a:cs typeface="Trebuchet MS"/>
              </a:rPr>
              <a:t>arrhythmia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disease</a:t>
            </a:r>
            <a:r>
              <a:rPr sz="1050" b="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at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an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early</a:t>
            </a:r>
            <a:r>
              <a:rPr sz="1050" b="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stage.</a:t>
            </a:r>
            <a:endParaRPr sz="105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250"/>
              </a:spcBef>
              <a:buFont typeface="Times New Roman"/>
              <a:buChar char="●"/>
              <a:tabLst>
                <a:tab pos="126364" algn="l"/>
              </a:tabLst>
            </a:pPr>
            <a:r>
              <a:rPr sz="1050" b="0" spc="-35" dirty="0">
                <a:solidFill>
                  <a:srgbClr val="34465C"/>
                </a:solidFill>
                <a:latin typeface="Trebuchet MS"/>
                <a:cs typeface="Trebuchet MS"/>
              </a:rPr>
              <a:t>It</a:t>
            </a:r>
            <a:r>
              <a:rPr sz="1050" b="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b="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dirty="0">
                <a:solidFill>
                  <a:srgbClr val="34465C"/>
                </a:solidFill>
                <a:latin typeface="Trebuchet MS"/>
                <a:cs typeface="Trebuchet MS"/>
              </a:rPr>
              <a:t>useful</a:t>
            </a:r>
            <a:r>
              <a:rPr sz="1050" b="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4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b="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25" dirty="0">
                <a:solidFill>
                  <a:srgbClr val="34465C"/>
                </a:solidFill>
                <a:latin typeface="Trebuchet MS"/>
                <a:cs typeface="Trebuchet MS"/>
              </a:rPr>
              <a:t>detecting</a:t>
            </a:r>
            <a:r>
              <a:rPr sz="1050" b="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cardiovascular</a:t>
            </a:r>
            <a:r>
              <a:rPr sz="1050" b="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b="0" spc="-10" dirty="0">
                <a:solidFill>
                  <a:srgbClr val="34465C"/>
                </a:solidFill>
                <a:latin typeface="Trebuchet MS"/>
                <a:cs typeface="Trebuchet MS"/>
              </a:rPr>
              <a:t>disorders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362074"/>
            <a:ext cx="5943600" cy="5436235"/>
          </a:xfrm>
          <a:custGeom>
            <a:avLst/>
            <a:gdLst/>
            <a:ahLst/>
            <a:cxnLst/>
            <a:rect l="l" t="t" r="r" b="b"/>
            <a:pathLst>
              <a:path w="5943600" h="5436234">
                <a:moveTo>
                  <a:pt x="5943600" y="5407660"/>
                </a:moveTo>
                <a:lnTo>
                  <a:pt x="0" y="5407660"/>
                </a:lnTo>
                <a:lnTo>
                  <a:pt x="0" y="5436235"/>
                </a:lnTo>
                <a:lnTo>
                  <a:pt x="5943600" y="5436235"/>
                </a:lnTo>
                <a:lnTo>
                  <a:pt x="5943600" y="5407660"/>
                </a:lnTo>
                <a:close/>
              </a:path>
              <a:path w="5943600" h="5436234">
                <a:moveTo>
                  <a:pt x="5943600" y="3551555"/>
                </a:moveTo>
                <a:lnTo>
                  <a:pt x="0" y="3551555"/>
                </a:lnTo>
                <a:lnTo>
                  <a:pt x="0" y="3580130"/>
                </a:lnTo>
                <a:lnTo>
                  <a:pt x="5943600" y="3580130"/>
                </a:lnTo>
                <a:lnTo>
                  <a:pt x="5943600" y="3551555"/>
                </a:lnTo>
                <a:close/>
              </a:path>
              <a:path w="5943600" h="5436234">
                <a:moveTo>
                  <a:pt x="5943600" y="0"/>
                </a:moveTo>
                <a:lnTo>
                  <a:pt x="0" y="0"/>
                </a:lnTo>
                <a:lnTo>
                  <a:pt x="0" y="28575"/>
                </a:lnTo>
                <a:lnTo>
                  <a:pt x="5943600" y="28575"/>
                </a:lnTo>
                <a:lnTo>
                  <a:pt x="5943600" y="0"/>
                </a:lnTo>
                <a:close/>
              </a:path>
            </a:pathLst>
          </a:custGeom>
          <a:solidFill>
            <a:srgbClr val="123A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480" y="1323492"/>
            <a:ext cx="5654675" cy="1572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 marR="1670685" indent="118745">
              <a:lnSpc>
                <a:spcPct val="130500"/>
              </a:lnSpc>
              <a:spcBef>
                <a:spcPts val="95"/>
              </a:spcBef>
              <a:buFont typeface="Times New Roman"/>
              <a:buChar char="●"/>
              <a:tabLst>
                <a:tab pos="132715" algn="l"/>
              </a:tabLst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Cardiovascular</a:t>
            </a:r>
            <a:r>
              <a:rPr sz="1050" spc="-7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disease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major</a:t>
            </a:r>
            <a:r>
              <a:rPr sz="1050" spc="-7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health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problem</a:t>
            </a:r>
            <a:r>
              <a:rPr sz="105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today's</a:t>
            </a:r>
            <a:r>
              <a:rPr sz="1050" spc="-7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world. The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early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diagnosis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cardiac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arrhythmia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highly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relies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on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ECG.</a:t>
            </a:r>
            <a:endParaRPr sz="1050">
              <a:latin typeface="Trebuchet MS"/>
              <a:cs typeface="Trebuchet MS"/>
            </a:endParaRPr>
          </a:p>
          <a:p>
            <a:pPr marL="13970" marR="159385" indent="-1905">
              <a:lnSpc>
                <a:spcPct val="107600"/>
              </a:lnSpc>
              <a:spcBef>
                <a:spcPts val="195"/>
              </a:spcBef>
              <a:buFont typeface="Times New Roman"/>
              <a:buChar char="●"/>
              <a:tabLst>
                <a:tab pos="13970" algn="l"/>
                <a:tab pos="125730" algn="l"/>
              </a:tabLst>
            </a:pP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	Unfortunately,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expert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level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medical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resources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rare,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visually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identify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ECG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signal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is challenging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75" dirty="0">
                <a:solidFill>
                  <a:srgbClr val="34465C"/>
                </a:solidFill>
                <a:latin typeface="Trebuchet MS"/>
                <a:cs typeface="Trebuchet MS"/>
              </a:rPr>
              <a:t>time-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consuming.</a:t>
            </a:r>
            <a:endParaRPr sz="1050">
              <a:latin typeface="Trebuchet MS"/>
              <a:cs typeface="Trebuchet MS"/>
            </a:endParaRPr>
          </a:p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Times New Roman"/>
              <a:buChar char="●"/>
              <a:tabLst>
                <a:tab pos="126364" algn="l"/>
              </a:tabLst>
            </a:pP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advantages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proposed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60" dirty="0">
                <a:solidFill>
                  <a:srgbClr val="34465C"/>
                </a:solidFill>
                <a:latin typeface="Trebuchet MS"/>
                <a:cs typeface="Trebuchet MS"/>
              </a:rPr>
              <a:t>CNN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network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have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been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put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evidence.</a:t>
            </a:r>
            <a:endParaRPr sz="1050">
              <a:latin typeface="Trebuchet MS"/>
              <a:cs typeface="Trebuchet MS"/>
            </a:endParaRPr>
          </a:p>
          <a:p>
            <a:pPr marL="13970" marR="5080" indent="113664">
              <a:lnSpc>
                <a:spcPct val="118600"/>
              </a:lnSpc>
              <a:spcBef>
                <a:spcPts val="5"/>
              </a:spcBef>
              <a:buFont typeface="Times New Roman"/>
              <a:buChar char="●"/>
              <a:tabLst>
                <a:tab pos="127635" algn="l"/>
              </a:tabLst>
            </a:pP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It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endowed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with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ability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effectively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process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non-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ﬁltered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dataset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with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its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potential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anti-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noise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features.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Besides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that,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ten-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fold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cross-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validation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implemented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in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this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work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further demonstrate</a:t>
            </a:r>
            <a:r>
              <a:rPr sz="1050" spc="-1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robustness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network.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4434966"/>
            <a:ext cx="5858510" cy="1604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40" dirty="0">
                <a:solidFill>
                  <a:srgbClr val="1D57BD"/>
                </a:solidFill>
                <a:latin typeface="Trebuchet MS"/>
                <a:cs typeface="Trebuchet MS"/>
              </a:rPr>
              <a:t>Future</a:t>
            </a:r>
            <a:r>
              <a:rPr sz="2400" b="1" spc="-245" dirty="0">
                <a:solidFill>
                  <a:srgbClr val="1D57BD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1D57BD"/>
                </a:solidFill>
                <a:latin typeface="Trebuchet MS"/>
                <a:cs typeface="Trebuchet MS"/>
              </a:rPr>
              <a:t>Scope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8800"/>
              </a:lnSpc>
              <a:spcBef>
                <a:spcPts val="2060"/>
              </a:spcBef>
            </a:pP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For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future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work,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75" dirty="0">
                <a:solidFill>
                  <a:srgbClr val="34465C"/>
                </a:solidFill>
                <a:latin typeface="Trebuchet MS"/>
                <a:cs typeface="Trebuchet MS"/>
              </a:rPr>
              <a:t>it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would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be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interesting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explore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use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optimization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techniques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ﬁnd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a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feasible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design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solution.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limitation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our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study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is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that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have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yet</a:t>
            </a:r>
            <a:r>
              <a:rPr sz="1050" spc="-8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8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apply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any</a:t>
            </a:r>
            <a:r>
              <a:rPr sz="1050" spc="-7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optimization techniques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optimize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model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parameters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and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we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believe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that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with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implementation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5" dirty="0">
                <a:solidFill>
                  <a:srgbClr val="34465C"/>
                </a:solidFill>
                <a:latin typeface="Trebuchet MS"/>
                <a:cs typeface="Trebuchet MS"/>
              </a:rPr>
              <a:t>the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optimization,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60" dirty="0">
                <a:solidFill>
                  <a:srgbClr val="34465C"/>
                </a:solidFill>
                <a:latin typeface="Trebuchet MS"/>
                <a:cs typeface="Trebuchet MS"/>
              </a:rPr>
              <a:t>it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will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be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able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further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elevate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5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performance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of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proposed</a:t>
            </a:r>
            <a:r>
              <a:rPr sz="1050" spc="-5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solution</a:t>
            </a: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34465C"/>
                </a:solidFill>
                <a:latin typeface="Trebuchet MS"/>
                <a:cs typeface="Trebuchet MS"/>
              </a:rPr>
              <a:t>to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30" dirty="0">
                <a:solidFill>
                  <a:srgbClr val="34465C"/>
                </a:solidFill>
                <a:latin typeface="Trebuchet MS"/>
                <a:cs typeface="Trebuchet MS"/>
              </a:rPr>
              <a:t>the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next 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level.</a:t>
            </a:r>
            <a:endParaRPr sz="105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0354" y="62230"/>
            <a:ext cx="7047865" cy="9933940"/>
            <a:chOff x="300354" y="62230"/>
            <a:chExt cx="7047865" cy="9933940"/>
          </a:xfrm>
        </p:grpSpPr>
        <p:sp>
          <p:nvSpPr>
            <p:cNvPr id="3" name="object 3"/>
            <p:cNvSpPr/>
            <p:nvPr/>
          </p:nvSpPr>
          <p:spPr>
            <a:xfrm>
              <a:off x="914400" y="1362074"/>
              <a:ext cx="5943600" cy="2265680"/>
            </a:xfrm>
            <a:custGeom>
              <a:avLst/>
              <a:gdLst/>
              <a:ahLst/>
              <a:cxnLst/>
              <a:rect l="l" t="t" r="r" b="b"/>
              <a:pathLst>
                <a:path w="5943600" h="2265679">
                  <a:moveTo>
                    <a:pt x="5943600" y="2237105"/>
                  </a:moveTo>
                  <a:lnTo>
                    <a:pt x="0" y="2237105"/>
                  </a:lnTo>
                  <a:lnTo>
                    <a:pt x="0" y="2265680"/>
                  </a:lnTo>
                  <a:lnTo>
                    <a:pt x="5943600" y="2265680"/>
                  </a:lnTo>
                  <a:lnTo>
                    <a:pt x="5943600" y="2237105"/>
                  </a:lnTo>
                  <a:close/>
                </a:path>
                <a:path w="5943600" h="2265679">
                  <a:moveTo>
                    <a:pt x="59436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943600" y="2857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123A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399" y="6737985"/>
              <a:ext cx="5943600" cy="47625"/>
            </a:xfrm>
            <a:custGeom>
              <a:avLst/>
              <a:gdLst/>
              <a:ahLst/>
              <a:cxnLst/>
              <a:rect l="l" t="t" r="r" b="b"/>
              <a:pathLst>
                <a:path w="5943600" h="47625">
                  <a:moveTo>
                    <a:pt x="59436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5943600" y="4762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References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5176" y="1529232"/>
            <a:ext cx="5003800" cy="78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9075">
              <a:lnSpc>
                <a:spcPct val="119000"/>
              </a:lnSpc>
              <a:spcBef>
                <a:spcPts val="100"/>
              </a:spcBef>
            </a:pP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</a:rPr>
              <a:t>https:/</a:t>
            </a:r>
            <a:r>
              <a:rPr sz="1050" spc="-55" dirty="0">
                <a:solidFill>
                  <a:srgbClr val="34465C"/>
                </a:solidFill>
                <a:latin typeface="Trebuchet MS"/>
                <a:cs typeface="Trebuchet MS"/>
                <a:hlinkClick r:id="rId2"/>
              </a:rPr>
              <a:t>/www.analyticsvidhya.com/blog/2021/05/convolutional-</a:t>
            </a:r>
            <a:r>
              <a:rPr sz="1050" spc="-65" dirty="0">
                <a:solidFill>
                  <a:srgbClr val="34465C"/>
                </a:solidFill>
                <a:latin typeface="Trebuchet MS"/>
                <a:cs typeface="Trebuchet MS"/>
                <a:hlinkClick r:id="rId2"/>
              </a:rPr>
              <a:t>neural-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  <a:hlinkClick r:id="rId2"/>
              </a:rPr>
              <a:t>networks-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  <a:hlinkClick r:id="rId2"/>
              </a:rPr>
              <a:t>cnn/</a:t>
            </a:r>
            <a:r>
              <a:rPr sz="1050" spc="-20" dirty="0">
                <a:solidFill>
                  <a:srgbClr val="34465C"/>
                </a:solidFill>
                <a:latin typeface="Trebuchet MS"/>
                <a:cs typeface="Trebuchet MS"/>
              </a:rPr>
              <a:t> 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https:/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  <a:hlinkClick r:id="rId3"/>
              </a:rPr>
              <a:t>/www.mathworks.com/help/deeplearning/ref/nnet.cnn.la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</a:rPr>
              <a:t>y</a:t>
            </a:r>
            <a:r>
              <a:rPr sz="1050" spc="-45" dirty="0">
                <a:solidFill>
                  <a:srgbClr val="34465C"/>
                </a:solidFill>
                <a:latin typeface="Trebuchet MS"/>
                <a:cs typeface="Trebuchet MS"/>
                <a:hlinkClick r:id="rId3"/>
              </a:rPr>
              <a:t>er.convolution2dlay</a:t>
            </a:r>
            <a:endParaRPr sz="1050">
              <a:latin typeface="Trebuchet MS"/>
              <a:cs typeface="Trebuchet MS"/>
            </a:endParaRPr>
          </a:p>
          <a:p>
            <a:pPr marL="236220">
              <a:lnSpc>
                <a:spcPct val="100000"/>
              </a:lnSpc>
              <a:spcBef>
                <a:spcPts val="180"/>
              </a:spcBef>
            </a:pP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er.html;jsessionid=0a7e3bc26fabda07a5032030294b</a:t>
            </a:r>
            <a:endParaRPr sz="1050">
              <a:latin typeface="Trebuchet MS"/>
              <a:cs typeface="Trebuchet MS"/>
            </a:endParaRPr>
          </a:p>
          <a:p>
            <a:pPr marL="233045">
              <a:lnSpc>
                <a:spcPct val="100000"/>
              </a:lnSpc>
              <a:spcBef>
                <a:spcPts val="285"/>
              </a:spcBef>
            </a:pPr>
            <a:r>
              <a:rPr sz="1050" spc="-40" dirty="0">
                <a:solidFill>
                  <a:srgbClr val="34465C"/>
                </a:solidFill>
                <a:latin typeface="Trebuchet MS"/>
                <a:cs typeface="Trebuchet MS"/>
              </a:rPr>
              <a:t>https://smartinternz.com/externship_dyn/1/artiﬁcial-</a:t>
            </a:r>
            <a:r>
              <a:rPr sz="1050" spc="-10" dirty="0">
                <a:solidFill>
                  <a:srgbClr val="34465C"/>
                </a:solidFill>
                <a:latin typeface="Trebuchet MS"/>
                <a:cs typeface="Trebuchet MS"/>
              </a:rPr>
              <a:t>intelligence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004" y="3223386"/>
            <a:ext cx="5959475" cy="176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5" dirty="0">
                <a:solidFill>
                  <a:srgbClr val="1D57BD"/>
                </a:solidFill>
                <a:latin typeface="Trebuchet MS"/>
                <a:cs typeface="Trebuchet MS"/>
              </a:rPr>
              <a:t>Project</a:t>
            </a:r>
            <a:r>
              <a:rPr sz="1800" b="1" spc="-180" dirty="0">
                <a:solidFill>
                  <a:srgbClr val="1D57BD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1D57BD"/>
                </a:solidFill>
                <a:latin typeface="Trebuchet MS"/>
                <a:cs typeface="Trebuchet MS"/>
              </a:rPr>
              <a:t>Links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800">
              <a:latin typeface="Trebuchet MS"/>
              <a:cs typeface="Trebuchet MS"/>
            </a:endParaRPr>
          </a:p>
          <a:p>
            <a:pPr marL="466725" marR="5080">
              <a:lnSpc>
                <a:spcPct val="100400"/>
              </a:lnSpc>
            </a:pPr>
            <a:r>
              <a:rPr sz="1400" b="1" spc="-45" dirty="0">
                <a:solidFill>
                  <a:srgbClr val="123A7D"/>
                </a:solidFill>
                <a:latin typeface="Trebuchet MS"/>
                <a:cs typeface="Trebuchet MS"/>
              </a:rPr>
              <a:t>Github</a:t>
            </a:r>
            <a:r>
              <a:rPr sz="1400" b="1" spc="25" dirty="0">
                <a:solidFill>
                  <a:srgbClr val="123A7D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123A7D"/>
                </a:solidFill>
                <a:latin typeface="Trebuchet MS"/>
                <a:cs typeface="Trebuchet MS"/>
              </a:rPr>
              <a:t>Link</a:t>
            </a:r>
            <a:r>
              <a:rPr sz="1400" b="1" spc="40" dirty="0">
                <a:solidFill>
                  <a:srgbClr val="123A7D"/>
                </a:solidFill>
                <a:latin typeface="Trebuchet MS"/>
                <a:cs typeface="Trebuchet MS"/>
              </a:rPr>
              <a:t> </a:t>
            </a:r>
            <a:r>
              <a:rPr sz="1400" b="1" spc="-125" dirty="0">
                <a:solidFill>
                  <a:srgbClr val="123A7D"/>
                </a:solidFill>
                <a:latin typeface="Trebuchet MS"/>
                <a:cs typeface="Trebuchet MS"/>
              </a:rPr>
              <a:t>:</a:t>
            </a:r>
            <a:r>
              <a:rPr sz="1400" b="1" spc="80" dirty="0">
                <a:solidFill>
                  <a:srgbClr val="123A7D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123A7D"/>
                </a:solidFill>
                <a:latin typeface="Trebuchet MS"/>
                <a:cs typeface="Trebuchet MS"/>
              </a:rPr>
              <a:t>https://github.com/Dileep0509/Classification-</a:t>
            </a:r>
            <a:r>
              <a:rPr sz="1400" b="1" spc="-25" dirty="0">
                <a:solidFill>
                  <a:srgbClr val="123A7D"/>
                </a:solidFill>
                <a:latin typeface="Trebuchet MS"/>
                <a:cs typeface="Trebuchet MS"/>
              </a:rPr>
              <a:t>of- </a:t>
            </a:r>
            <a:r>
              <a:rPr sz="1400" b="1" spc="-40" dirty="0">
                <a:solidFill>
                  <a:srgbClr val="123A7D"/>
                </a:solidFill>
                <a:latin typeface="Trebuchet MS"/>
                <a:cs typeface="Trebuchet MS"/>
              </a:rPr>
              <a:t>Arrhythmia-</a:t>
            </a:r>
            <a:r>
              <a:rPr sz="1400" b="1" spc="-25" dirty="0">
                <a:solidFill>
                  <a:srgbClr val="123A7D"/>
                </a:solidFill>
                <a:latin typeface="Trebuchet MS"/>
                <a:cs typeface="Trebuchet MS"/>
              </a:rPr>
              <a:t>by-</a:t>
            </a:r>
            <a:r>
              <a:rPr sz="1400" b="1" dirty="0">
                <a:solidFill>
                  <a:srgbClr val="123A7D"/>
                </a:solidFill>
                <a:latin typeface="Trebuchet MS"/>
                <a:cs typeface="Trebuchet MS"/>
              </a:rPr>
              <a:t>Using-</a:t>
            </a:r>
            <a:r>
              <a:rPr sz="1400" b="1" spc="-25" dirty="0">
                <a:solidFill>
                  <a:srgbClr val="123A7D"/>
                </a:solidFill>
                <a:latin typeface="Trebuchet MS"/>
                <a:cs typeface="Trebuchet MS"/>
              </a:rPr>
              <a:t>Deep-</a:t>
            </a:r>
            <a:r>
              <a:rPr sz="1400" b="1" spc="-30" dirty="0">
                <a:solidFill>
                  <a:srgbClr val="123A7D"/>
                </a:solidFill>
                <a:latin typeface="Trebuchet MS"/>
                <a:cs typeface="Trebuchet MS"/>
              </a:rPr>
              <a:t>Learning-</a:t>
            </a:r>
            <a:r>
              <a:rPr sz="1400" b="1" spc="-50" dirty="0">
                <a:solidFill>
                  <a:srgbClr val="123A7D"/>
                </a:solidFill>
                <a:latin typeface="Trebuchet MS"/>
                <a:cs typeface="Trebuchet MS"/>
              </a:rPr>
              <a:t>with-</a:t>
            </a:r>
            <a:r>
              <a:rPr sz="1400" b="1" dirty="0">
                <a:solidFill>
                  <a:srgbClr val="123A7D"/>
                </a:solidFill>
                <a:latin typeface="Trebuchet MS"/>
                <a:cs typeface="Trebuchet MS"/>
              </a:rPr>
              <a:t>2-D-ECG-</a:t>
            </a:r>
            <a:r>
              <a:rPr sz="1400" b="1" spc="-20" dirty="0">
                <a:solidFill>
                  <a:srgbClr val="123A7D"/>
                </a:solidFill>
                <a:latin typeface="Trebuchet MS"/>
                <a:cs typeface="Trebuchet MS"/>
              </a:rPr>
              <a:t>Spectral-</a:t>
            </a:r>
            <a:r>
              <a:rPr sz="1400" b="1" spc="-10" dirty="0">
                <a:solidFill>
                  <a:srgbClr val="123A7D"/>
                </a:solidFill>
                <a:latin typeface="Trebuchet MS"/>
                <a:cs typeface="Trebuchet MS"/>
              </a:rPr>
              <a:t>Image- Representation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Trebuchet MS"/>
              <a:cs typeface="Trebuchet MS"/>
            </a:endParaRPr>
          </a:p>
          <a:p>
            <a:pPr marL="469265">
              <a:lnSpc>
                <a:spcPct val="100000"/>
              </a:lnSpc>
            </a:pPr>
            <a:r>
              <a:rPr sz="1400" b="1" spc="-20" dirty="0">
                <a:solidFill>
                  <a:srgbClr val="123A7D"/>
                </a:solidFill>
                <a:latin typeface="Trebuchet MS"/>
                <a:cs typeface="Trebuchet MS"/>
              </a:rPr>
              <a:t>Demo</a:t>
            </a:r>
            <a:r>
              <a:rPr sz="1400" b="1" spc="-85" dirty="0">
                <a:solidFill>
                  <a:srgbClr val="123A7D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123A7D"/>
                </a:solidFill>
                <a:latin typeface="Trebuchet MS"/>
                <a:cs typeface="Trebuchet MS"/>
              </a:rPr>
              <a:t>Link:</a:t>
            </a:r>
            <a:r>
              <a:rPr sz="1400" b="1" spc="-60" dirty="0">
                <a:solidFill>
                  <a:srgbClr val="123A7D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123A7D"/>
                </a:solidFill>
                <a:latin typeface="Trebuchet MS"/>
                <a:cs typeface="Trebuchet MS"/>
              </a:rPr>
              <a:t>https://youtu.be/u8bpsNchyxQ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0863" y="6039992"/>
            <a:ext cx="2096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305" dirty="0">
                <a:solidFill>
                  <a:srgbClr val="1D57BD"/>
                </a:solidFill>
                <a:latin typeface="Cambria"/>
                <a:cs typeface="Cambria"/>
              </a:rPr>
              <a:t>THE</a:t>
            </a:r>
            <a:r>
              <a:rPr sz="3600" spc="-60" dirty="0">
                <a:solidFill>
                  <a:srgbClr val="1D57BD"/>
                </a:solidFill>
                <a:latin typeface="Cambria"/>
                <a:cs typeface="Cambria"/>
              </a:rPr>
              <a:t> </a:t>
            </a:r>
            <a:r>
              <a:rPr sz="3600" spc="300" dirty="0">
                <a:solidFill>
                  <a:srgbClr val="1D57BD"/>
                </a:solidFill>
                <a:latin typeface="Cambria"/>
                <a:cs typeface="Cambria"/>
              </a:rPr>
              <a:t>END</a:t>
            </a:r>
            <a:endParaRPr sz="36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43000" y="1597405"/>
            <a:ext cx="5116195" cy="2441575"/>
            <a:chOff x="1143000" y="1597405"/>
            <a:chExt cx="5116195" cy="24415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7444" y="1597405"/>
              <a:ext cx="133350" cy="1333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5464" y="1597405"/>
              <a:ext cx="133350" cy="1333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7444" y="2174620"/>
              <a:ext cx="133350" cy="1333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53795" y="3959860"/>
              <a:ext cx="22860" cy="67945"/>
            </a:xfrm>
            <a:custGeom>
              <a:avLst/>
              <a:gdLst/>
              <a:ahLst/>
              <a:cxnLst/>
              <a:rect l="l" t="t" r="r" b="b"/>
              <a:pathLst>
                <a:path w="22859" h="67945">
                  <a:moveTo>
                    <a:pt x="22859" y="0"/>
                  </a:moveTo>
                  <a:lnTo>
                    <a:pt x="0" y="0"/>
                  </a:lnTo>
                  <a:lnTo>
                    <a:pt x="0" y="67945"/>
                  </a:lnTo>
                  <a:lnTo>
                    <a:pt x="22859" y="67945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F897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43000" y="3931285"/>
              <a:ext cx="180975" cy="107314"/>
            </a:xfrm>
            <a:custGeom>
              <a:avLst/>
              <a:gdLst/>
              <a:ahLst/>
              <a:cxnLst/>
              <a:rect l="l" t="t" r="r" b="b"/>
              <a:pathLst>
                <a:path w="180975" h="107314">
                  <a:moveTo>
                    <a:pt x="41275" y="17144"/>
                  </a:moveTo>
                  <a:lnTo>
                    <a:pt x="3809" y="17144"/>
                  </a:lnTo>
                  <a:lnTo>
                    <a:pt x="2540" y="17779"/>
                  </a:lnTo>
                  <a:lnTo>
                    <a:pt x="634" y="19685"/>
                  </a:lnTo>
                  <a:lnTo>
                    <a:pt x="0" y="20954"/>
                  </a:lnTo>
                  <a:lnTo>
                    <a:pt x="0" y="103504"/>
                  </a:lnTo>
                  <a:lnTo>
                    <a:pt x="634" y="104775"/>
                  </a:lnTo>
                  <a:lnTo>
                    <a:pt x="2540" y="106679"/>
                  </a:lnTo>
                  <a:lnTo>
                    <a:pt x="3809" y="107314"/>
                  </a:lnTo>
                  <a:lnTo>
                    <a:pt x="41275" y="107314"/>
                  </a:lnTo>
                  <a:lnTo>
                    <a:pt x="42544" y="106679"/>
                  </a:lnTo>
                  <a:lnTo>
                    <a:pt x="44450" y="104775"/>
                  </a:lnTo>
                  <a:lnTo>
                    <a:pt x="45084" y="103504"/>
                  </a:lnTo>
                  <a:lnTo>
                    <a:pt x="45084" y="101600"/>
                  </a:lnTo>
                  <a:lnTo>
                    <a:pt x="121919" y="101600"/>
                  </a:lnTo>
                  <a:lnTo>
                    <a:pt x="123190" y="99694"/>
                  </a:lnTo>
                  <a:lnTo>
                    <a:pt x="123825" y="97154"/>
                  </a:lnTo>
                  <a:lnTo>
                    <a:pt x="124459" y="95885"/>
                  </a:lnTo>
                  <a:lnTo>
                    <a:pt x="11430" y="95885"/>
                  </a:lnTo>
                  <a:lnTo>
                    <a:pt x="11430" y="27939"/>
                  </a:lnTo>
                  <a:lnTo>
                    <a:pt x="57150" y="27939"/>
                  </a:lnTo>
                  <a:lnTo>
                    <a:pt x="59690" y="24764"/>
                  </a:lnTo>
                  <a:lnTo>
                    <a:pt x="45084" y="24764"/>
                  </a:lnTo>
                  <a:lnTo>
                    <a:pt x="45084" y="20954"/>
                  </a:lnTo>
                  <a:lnTo>
                    <a:pt x="44450" y="19685"/>
                  </a:lnTo>
                  <a:lnTo>
                    <a:pt x="42544" y="17779"/>
                  </a:lnTo>
                  <a:lnTo>
                    <a:pt x="41275" y="17144"/>
                  </a:lnTo>
                  <a:close/>
                </a:path>
                <a:path w="180975" h="107314">
                  <a:moveTo>
                    <a:pt x="121919" y="101600"/>
                  </a:moveTo>
                  <a:lnTo>
                    <a:pt x="45084" y="101600"/>
                  </a:lnTo>
                  <a:lnTo>
                    <a:pt x="50165" y="105410"/>
                  </a:lnTo>
                  <a:lnTo>
                    <a:pt x="55880" y="107314"/>
                  </a:lnTo>
                  <a:lnTo>
                    <a:pt x="112394" y="107314"/>
                  </a:lnTo>
                  <a:lnTo>
                    <a:pt x="114934" y="106679"/>
                  </a:lnTo>
                  <a:lnTo>
                    <a:pt x="118744" y="104775"/>
                  </a:lnTo>
                  <a:lnTo>
                    <a:pt x="120650" y="103504"/>
                  </a:lnTo>
                  <a:lnTo>
                    <a:pt x="121919" y="101600"/>
                  </a:lnTo>
                  <a:close/>
                </a:path>
                <a:path w="180975" h="107314">
                  <a:moveTo>
                    <a:pt x="57150" y="27939"/>
                  </a:moveTo>
                  <a:lnTo>
                    <a:pt x="33655" y="27939"/>
                  </a:lnTo>
                  <a:lnTo>
                    <a:pt x="33655" y="95885"/>
                  </a:lnTo>
                  <a:lnTo>
                    <a:pt x="57784" y="95885"/>
                  </a:lnTo>
                  <a:lnTo>
                    <a:pt x="53340" y="93979"/>
                  </a:lnTo>
                  <a:lnTo>
                    <a:pt x="48894" y="89535"/>
                  </a:lnTo>
                  <a:lnTo>
                    <a:pt x="47625" y="87629"/>
                  </a:lnTo>
                  <a:lnTo>
                    <a:pt x="45719" y="83819"/>
                  </a:lnTo>
                  <a:lnTo>
                    <a:pt x="45719" y="83185"/>
                  </a:lnTo>
                  <a:lnTo>
                    <a:pt x="45084" y="81914"/>
                  </a:lnTo>
                  <a:lnTo>
                    <a:pt x="45084" y="39369"/>
                  </a:lnTo>
                  <a:lnTo>
                    <a:pt x="46990" y="39369"/>
                  </a:lnTo>
                  <a:lnTo>
                    <a:pt x="48259" y="38735"/>
                  </a:lnTo>
                  <a:lnTo>
                    <a:pt x="49530" y="37464"/>
                  </a:lnTo>
                  <a:lnTo>
                    <a:pt x="57150" y="27939"/>
                  </a:lnTo>
                  <a:close/>
                </a:path>
                <a:path w="180975" h="107314">
                  <a:moveTo>
                    <a:pt x="134619" y="50800"/>
                  </a:moveTo>
                  <a:lnTo>
                    <a:pt x="120015" y="50800"/>
                  </a:lnTo>
                  <a:lnTo>
                    <a:pt x="121919" y="51435"/>
                  </a:lnTo>
                  <a:lnTo>
                    <a:pt x="123825" y="53339"/>
                  </a:lnTo>
                  <a:lnTo>
                    <a:pt x="124459" y="55244"/>
                  </a:lnTo>
                  <a:lnTo>
                    <a:pt x="124459" y="57785"/>
                  </a:lnTo>
                  <a:lnTo>
                    <a:pt x="123825" y="59689"/>
                  </a:lnTo>
                  <a:lnTo>
                    <a:pt x="121919" y="61594"/>
                  </a:lnTo>
                  <a:lnTo>
                    <a:pt x="120015" y="62229"/>
                  </a:lnTo>
                  <a:lnTo>
                    <a:pt x="111759" y="62229"/>
                  </a:lnTo>
                  <a:lnTo>
                    <a:pt x="110490" y="62864"/>
                  </a:lnTo>
                  <a:lnTo>
                    <a:pt x="107950" y="64769"/>
                  </a:lnTo>
                  <a:lnTo>
                    <a:pt x="107315" y="66039"/>
                  </a:lnTo>
                  <a:lnTo>
                    <a:pt x="107315" y="69214"/>
                  </a:lnTo>
                  <a:lnTo>
                    <a:pt x="107950" y="70485"/>
                  </a:lnTo>
                  <a:lnTo>
                    <a:pt x="110490" y="73025"/>
                  </a:lnTo>
                  <a:lnTo>
                    <a:pt x="111759" y="73660"/>
                  </a:lnTo>
                  <a:lnTo>
                    <a:pt x="118109" y="73660"/>
                  </a:lnTo>
                  <a:lnTo>
                    <a:pt x="118744" y="74294"/>
                  </a:lnTo>
                  <a:lnTo>
                    <a:pt x="118744" y="78104"/>
                  </a:lnTo>
                  <a:lnTo>
                    <a:pt x="118109" y="79375"/>
                  </a:lnTo>
                  <a:lnTo>
                    <a:pt x="106044" y="79375"/>
                  </a:lnTo>
                  <a:lnTo>
                    <a:pt x="104775" y="80010"/>
                  </a:lnTo>
                  <a:lnTo>
                    <a:pt x="102234" y="81914"/>
                  </a:lnTo>
                  <a:lnTo>
                    <a:pt x="101600" y="83185"/>
                  </a:lnTo>
                  <a:lnTo>
                    <a:pt x="101600" y="86360"/>
                  </a:lnTo>
                  <a:lnTo>
                    <a:pt x="102234" y="87629"/>
                  </a:lnTo>
                  <a:lnTo>
                    <a:pt x="104775" y="90169"/>
                  </a:lnTo>
                  <a:lnTo>
                    <a:pt x="112394" y="90169"/>
                  </a:lnTo>
                  <a:lnTo>
                    <a:pt x="113030" y="91439"/>
                  </a:lnTo>
                  <a:lnTo>
                    <a:pt x="113030" y="95250"/>
                  </a:lnTo>
                  <a:lnTo>
                    <a:pt x="112394" y="95885"/>
                  </a:lnTo>
                  <a:lnTo>
                    <a:pt x="124459" y="95885"/>
                  </a:lnTo>
                  <a:lnTo>
                    <a:pt x="124459" y="90169"/>
                  </a:lnTo>
                  <a:lnTo>
                    <a:pt x="123190" y="88264"/>
                  </a:lnTo>
                  <a:lnTo>
                    <a:pt x="126365" y="86360"/>
                  </a:lnTo>
                  <a:lnTo>
                    <a:pt x="128269" y="83819"/>
                  </a:lnTo>
                  <a:lnTo>
                    <a:pt x="130809" y="76835"/>
                  </a:lnTo>
                  <a:lnTo>
                    <a:pt x="130175" y="73660"/>
                  </a:lnTo>
                  <a:lnTo>
                    <a:pt x="128905" y="70485"/>
                  </a:lnTo>
                  <a:lnTo>
                    <a:pt x="133984" y="65404"/>
                  </a:lnTo>
                  <a:lnTo>
                    <a:pt x="135890" y="57785"/>
                  </a:lnTo>
                  <a:lnTo>
                    <a:pt x="135890" y="54610"/>
                  </a:lnTo>
                  <a:lnTo>
                    <a:pt x="134619" y="50800"/>
                  </a:lnTo>
                  <a:close/>
                </a:path>
                <a:path w="180975" h="107314">
                  <a:moveTo>
                    <a:pt x="168275" y="17144"/>
                  </a:moveTo>
                  <a:lnTo>
                    <a:pt x="106044" y="17144"/>
                  </a:lnTo>
                  <a:lnTo>
                    <a:pt x="104775" y="17779"/>
                  </a:lnTo>
                  <a:lnTo>
                    <a:pt x="102234" y="19685"/>
                  </a:lnTo>
                  <a:lnTo>
                    <a:pt x="101600" y="20954"/>
                  </a:lnTo>
                  <a:lnTo>
                    <a:pt x="101600" y="24129"/>
                  </a:lnTo>
                  <a:lnTo>
                    <a:pt x="102234" y="25400"/>
                  </a:lnTo>
                  <a:lnTo>
                    <a:pt x="104775" y="27939"/>
                  </a:lnTo>
                  <a:lnTo>
                    <a:pt x="165734" y="27939"/>
                  </a:lnTo>
                  <a:lnTo>
                    <a:pt x="167005" y="28575"/>
                  </a:lnTo>
                  <a:lnTo>
                    <a:pt x="168909" y="31114"/>
                  </a:lnTo>
                  <a:lnTo>
                    <a:pt x="169544" y="32385"/>
                  </a:lnTo>
                  <a:lnTo>
                    <a:pt x="169544" y="35560"/>
                  </a:lnTo>
                  <a:lnTo>
                    <a:pt x="168909" y="36829"/>
                  </a:lnTo>
                  <a:lnTo>
                    <a:pt x="167005" y="38735"/>
                  </a:lnTo>
                  <a:lnTo>
                    <a:pt x="165734" y="39369"/>
                  </a:lnTo>
                  <a:lnTo>
                    <a:pt x="117475" y="39369"/>
                  </a:lnTo>
                  <a:lnTo>
                    <a:pt x="115569" y="40004"/>
                  </a:lnTo>
                  <a:lnTo>
                    <a:pt x="113665" y="42544"/>
                  </a:lnTo>
                  <a:lnTo>
                    <a:pt x="113030" y="43814"/>
                  </a:lnTo>
                  <a:lnTo>
                    <a:pt x="113030" y="46989"/>
                  </a:lnTo>
                  <a:lnTo>
                    <a:pt x="113665" y="48260"/>
                  </a:lnTo>
                  <a:lnTo>
                    <a:pt x="115569" y="50164"/>
                  </a:lnTo>
                  <a:lnTo>
                    <a:pt x="117475" y="50800"/>
                  </a:lnTo>
                  <a:lnTo>
                    <a:pt x="166369" y="50800"/>
                  </a:lnTo>
                  <a:lnTo>
                    <a:pt x="168275" y="50164"/>
                  </a:lnTo>
                  <a:lnTo>
                    <a:pt x="172719" y="48894"/>
                  </a:lnTo>
                  <a:lnTo>
                    <a:pt x="174625" y="47625"/>
                  </a:lnTo>
                  <a:lnTo>
                    <a:pt x="177800" y="44450"/>
                  </a:lnTo>
                  <a:lnTo>
                    <a:pt x="179069" y="42544"/>
                  </a:lnTo>
                  <a:lnTo>
                    <a:pt x="180340" y="38100"/>
                  </a:lnTo>
                  <a:lnTo>
                    <a:pt x="180975" y="36194"/>
                  </a:lnTo>
                  <a:lnTo>
                    <a:pt x="180975" y="31750"/>
                  </a:lnTo>
                  <a:lnTo>
                    <a:pt x="180340" y="29210"/>
                  </a:lnTo>
                  <a:lnTo>
                    <a:pt x="179069" y="25400"/>
                  </a:lnTo>
                  <a:lnTo>
                    <a:pt x="177800" y="23494"/>
                  </a:lnTo>
                  <a:lnTo>
                    <a:pt x="174625" y="20319"/>
                  </a:lnTo>
                  <a:lnTo>
                    <a:pt x="172719" y="19050"/>
                  </a:lnTo>
                  <a:lnTo>
                    <a:pt x="168275" y="17144"/>
                  </a:lnTo>
                  <a:close/>
                </a:path>
                <a:path w="180975" h="107314">
                  <a:moveTo>
                    <a:pt x="109855" y="0"/>
                  </a:moveTo>
                  <a:lnTo>
                    <a:pt x="78105" y="0"/>
                  </a:lnTo>
                  <a:lnTo>
                    <a:pt x="72390" y="1269"/>
                  </a:lnTo>
                  <a:lnTo>
                    <a:pt x="61594" y="6350"/>
                  </a:lnTo>
                  <a:lnTo>
                    <a:pt x="57150" y="10160"/>
                  </a:lnTo>
                  <a:lnTo>
                    <a:pt x="45084" y="24764"/>
                  </a:lnTo>
                  <a:lnTo>
                    <a:pt x="59690" y="24764"/>
                  </a:lnTo>
                  <a:lnTo>
                    <a:pt x="62230" y="22225"/>
                  </a:lnTo>
                  <a:lnTo>
                    <a:pt x="67944" y="14604"/>
                  </a:lnTo>
                  <a:lnTo>
                    <a:pt x="74930" y="11429"/>
                  </a:lnTo>
                  <a:lnTo>
                    <a:pt x="123190" y="11429"/>
                  </a:lnTo>
                  <a:lnTo>
                    <a:pt x="122555" y="8254"/>
                  </a:lnTo>
                  <a:lnTo>
                    <a:pt x="121284" y="6350"/>
                  </a:lnTo>
                  <a:lnTo>
                    <a:pt x="118109" y="3175"/>
                  </a:lnTo>
                  <a:lnTo>
                    <a:pt x="116205" y="1904"/>
                  </a:lnTo>
                  <a:lnTo>
                    <a:pt x="111759" y="635"/>
                  </a:lnTo>
                  <a:lnTo>
                    <a:pt x="109855" y="0"/>
                  </a:lnTo>
                  <a:close/>
                </a:path>
                <a:path w="180975" h="107314">
                  <a:moveTo>
                    <a:pt x="123190" y="11429"/>
                  </a:moveTo>
                  <a:lnTo>
                    <a:pt x="109219" y="11429"/>
                  </a:lnTo>
                  <a:lnTo>
                    <a:pt x="110490" y="12064"/>
                  </a:lnTo>
                  <a:lnTo>
                    <a:pt x="112394" y="13969"/>
                  </a:lnTo>
                  <a:lnTo>
                    <a:pt x="113030" y="15239"/>
                  </a:lnTo>
                  <a:lnTo>
                    <a:pt x="113030" y="17144"/>
                  </a:lnTo>
                  <a:lnTo>
                    <a:pt x="124459" y="17144"/>
                  </a:lnTo>
                  <a:lnTo>
                    <a:pt x="124459" y="14604"/>
                  </a:lnTo>
                  <a:lnTo>
                    <a:pt x="123825" y="12700"/>
                  </a:lnTo>
                  <a:lnTo>
                    <a:pt x="123190" y="11429"/>
                  </a:lnTo>
                  <a:close/>
                </a:path>
              </a:pathLst>
            </a:custGeom>
            <a:solidFill>
              <a:srgbClr val="A14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143000" y="4847590"/>
            <a:ext cx="152400" cy="90805"/>
            <a:chOff x="1143000" y="4847590"/>
            <a:chExt cx="152400" cy="90805"/>
          </a:xfrm>
        </p:grpSpPr>
        <p:sp>
          <p:nvSpPr>
            <p:cNvPr id="16" name="object 16"/>
            <p:cNvSpPr/>
            <p:nvPr/>
          </p:nvSpPr>
          <p:spPr>
            <a:xfrm>
              <a:off x="1152525" y="4871085"/>
              <a:ext cx="19050" cy="57150"/>
            </a:xfrm>
            <a:custGeom>
              <a:avLst/>
              <a:gdLst/>
              <a:ahLst/>
              <a:cxnLst/>
              <a:rect l="l" t="t" r="r" b="b"/>
              <a:pathLst>
                <a:path w="19050" h="57150">
                  <a:moveTo>
                    <a:pt x="19050" y="0"/>
                  </a:moveTo>
                  <a:lnTo>
                    <a:pt x="0" y="0"/>
                  </a:lnTo>
                  <a:lnTo>
                    <a:pt x="0" y="57150"/>
                  </a:lnTo>
                  <a:lnTo>
                    <a:pt x="19050" y="571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F897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43000" y="4847590"/>
              <a:ext cx="152400" cy="90805"/>
            </a:xfrm>
            <a:custGeom>
              <a:avLst/>
              <a:gdLst/>
              <a:ahLst/>
              <a:cxnLst/>
              <a:rect l="l" t="t" r="r" b="b"/>
              <a:pathLst>
                <a:path w="152400" h="90804">
                  <a:moveTo>
                    <a:pt x="34925" y="14605"/>
                  </a:moveTo>
                  <a:lnTo>
                    <a:pt x="3175" y="14605"/>
                  </a:lnTo>
                  <a:lnTo>
                    <a:pt x="0" y="17780"/>
                  </a:lnTo>
                  <a:lnTo>
                    <a:pt x="0" y="87630"/>
                  </a:lnTo>
                  <a:lnTo>
                    <a:pt x="3175" y="90805"/>
                  </a:lnTo>
                  <a:lnTo>
                    <a:pt x="34925" y="90805"/>
                  </a:lnTo>
                  <a:lnTo>
                    <a:pt x="38100" y="87630"/>
                  </a:lnTo>
                  <a:lnTo>
                    <a:pt x="38100" y="85725"/>
                  </a:lnTo>
                  <a:lnTo>
                    <a:pt x="102234" y="85725"/>
                  </a:lnTo>
                  <a:lnTo>
                    <a:pt x="104140" y="83820"/>
                  </a:lnTo>
                  <a:lnTo>
                    <a:pt x="104775" y="82550"/>
                  </a:lnTo>
                  <a:lnTo>
                    <a:pt x="104775" y="81280"/>
                  </a:lnTo>
                  <a:lnTo>
                    <a:pt x="9525" y="81280"/>
                  </a:lnTo>
                  <a:lnTo>
                    <a:pt x="9525" y="24130"/>
                  </a:lnTo>
                  <a:lnTo>
                    <a:pt x="48259" y="24130"/>
                  </a:lnTo>
                  <a:lnTo>
                    <a:pt x="50165" y="20955"/>
                  </a:lnTo>
                  <a:lnTo>
                    <a:pt x="38100" y="20955"/>
                  </a:lnTo>
                  <a:lnTo>
                    <a:pt x="38100" y="17780"/>
                  </a:lnTo>
                  <a:lnTo>
                    <a:pt x="34925" y="14605"/>
                  </a:lnTo>
                  <a:close/>
                </a:path>
                <a:path w="152400" h="90804">
                  <a:moveTo>
                    <a:pt x="102234" y="85725"/>
                  </a:moveTo>
                  <a:lnTo>
                    <a:pt x="38100" y="85725"/>
                  </a:lnTo>
                  <a:lnTo>
                    <a:pt x="42544" y="88900"/>
                  </a:lnTo>
                  <a:lnTo>
                    <a:pt x="46990" y="90805"/>
                  </a:lnTo>
                  <a:lnTo>
                    <a:pt x="94615" y="90805"/>
                  </a:lnTo>
                  <a:lnTo>
                    <a:pt x="96519" y="90170"/>
                  </a:lnTo>
                  <a:lnTo>
                    <a:pt x="100330" y="88264"/>
                  </a:lnTo>
                  <a:lnTo>
                    <a:pt x="101600" y="86995"/>
                  </a:lnTo>
                  <a:lnTo>
                    <a:pt x="102234" y="85725"/>
                  </a:lnTo>
                  <a:close/>
                </a:path>
                <a:path w="152400" h="90804">
                  <a:moveTo>
                    <a:pt x="48259" y="24130"/>
                  </a:moveTo>
                  <a:lnTo>
                    <a:pt x="28575" y="24130"/>
                  </a:lnTo>
                  <a:lnTo>
                    <a:pt x="28575" y="81280"/>
                  </a:lnTo>
                  <a:lnTo>
                    <a:pt x="50800" y="81280"/>
                  </a:lnTo>
                  <a:lnTo>
                    <a:pt x="45084" y="79375"/>
                  </a:lnTo>
                  <a:lnTo>
                    <a:pt x="43815" y="78739"/>
                  </a:lnTo>
                  <a:lnTo>
                    <a:pt x="40640" y="75564"/>
                  </a:lnTo>
                  <a:lnTo>
                    <a:pt x="40005" y="74295"/>
                  </a:lnTo>
                  <a:lnTo>
                    <a:pt x="38734" y="71120"/>
                  </a:lnTo>
                  <a:lnTo>
                    <a:pt x="38100" y="70485"/>
                  </a:lnTo>
                  <a:lnTo>
                    <a:pt x="38100" y="33655"/>
                  </a:lnTo>
                  <a:lnTo>
                    <a:pt x="39369" y="33655"/>
                  </a:lnTo>
                  <a:lnTo>
                    <a:pt x="40640" y="33020"/>
                  </a:lnTo>
                  <a:lnTo>
                    <a:pt x="41909" y="31750"/>
                  </a:lnTo>
                  <a:lnTo>
                    <a:pt x="48259" y="24130"/>
                  </a:lnTo>
                  <a:close/>
                </a:path>
                <a:path w="152400" h="90804">
                  <a:moveTo>
                    <a:pt x="113665" y="43180"/>
                  </a:moveTo>
                  <a:lnTo>
                    <a:pt x="101600" y="43180"/>
                  </a:lnTo>
                  <a:lnTo>
                    <a:pt x="104775" y="46355"/>
                  </a:lnTo>
                  <a:lnTo>
                    <a:pt x="104775" y="49530"/>
                  </a:lnTo>
                  <a:lnTo>
                    <a:pt x="101600" y="52705"/>
                  </a:lnTo>
                  <a:lnTo>
                    <a:pt x="93980" y="52705"/>
                  </a:lnTo>
                  <a:lnTo>
                    <a:pt x="92709" y="53339"/>
                  </a:lnTo>
                  <a:lnTo>
                    <a:pt x="90169" y="55880"/>
                  </a:lnTo>
                  <a:lnTo>
                    <a:pt x="90169" y="59055"/>
                  </a:lnTo>
                  <a:lnTo>
                    <a:pt x="92709" y="61595"/>
                  </a:lnTo>
                  <a:lnTo>
                    <a:pt x="93980" y="62230"/>
                  </a:lnTo>
                  <a:lnTo>
                    <a:pt x="99059" y="62230"/>
                  </a:lnTo>
                  <a:lnTo>
                    <a:pt x="99694" y="62864"/>
                  </a:lnTo>
                  <a:lnTo>
                    <a:pt x="99694" y="66039"/>
                  </a:lnTo>
                  <a:lnTo>
                    <a:pt x="99059" y="66675"/>
                  </a:lnTo>
                  <a:lnTo>
                    <a:pt x="88900" y="66675"/>
                  </a:lnTo>
                  <a:lnTo>
                    <a:pt x="86359" y="69214"/>
                  </a:lnTo>
                  <a:lnTo>
                    <a:pt x="85725" y="70485"/>
                  </a:lnTo>
                  <a:lnTo>
                    <a:pt x="85725" y="73025"/>
                  </a:lnTo>
                  <a:lnTo>
                    <a:pt x="86359" y="74295"/>
                  </a:lnTo>
                  <a:lnTo>
                    <a:pt x="88265" y="76200"/>
                  </a:lnTo>
                  <a:lnTo>
                    <a:pt x="94615" y="76200"/>
                  </a:lnTo>
                  <a:lnTo>
                    <a:pt x="95250" y="77470"/>
                  </a:lnTo>
                  <a:lnTo>
                    <a:pt x="95250" y="80645"/>
                  </a:lnTo>
                  <a:lnTo>
                    <a:pt x="94615" y="81280"/>
                  </a:lnTo>
                  <a:lnTo>
                    <a:pt x="104775" y="81280"/>
                  </a:lnTo>
                  <a:lnTo>
                    <a:pt x="104775" y="76200"/>
                  </a:lnTo>
                  <a:lnTo>
                    <a:pt x="104140" y="74930"/>
                  </a:lnTo>
                  <a:lnTo>
                    <a:pt x="106680" y="73025"/>
                  </a:lnTo>
                  <a:lnTo>
                    <a:pt x="107950" y="71120"/>
                  </a:lnTo>
                  <a:lnTo>
                    <a:pt x="109855" y="64770"/>
                  </a:lnTo>
                  <a:lnTo>
                    <a:pt x="109855" y="62230"/>
                  </a:lnTo>
                  <a:lnTo>
                    <a:pt x="108584" y="59689"/>
                  </a:lnTo>
                  <a:lnTo>
                    <a:pt x="111125" y="57785"/>
                  </a:lnTo>
                  <a:lnTo>
                    <a:pt x="113030" y="55245"/>
                  </a:lnTo>
                  <a:lnTo>
                    <a:pt x="114300" y="49530"/>
                  </a:lnTo>
                  <a:lnTo>
                    <a:pt x="114300" y="46355"/>
                  </a:lnTo>
                  <a:lnTo>
                    <a:pt x="113665" y="43180"/>
                  </a:lnTo>
                  <a:close/>
                </a:path>
                <a:path w="152400" h="90804">
                  <a:moveTo>
                    <a:pt x="139700" y="14605"/>
                  </a:moveTo>
                  <a:lnTo>
                    <a:pt x="88900" y="14605"/>
                  </a:lnTo>
                  <a:lnTo>
                    <a:pt x="85725" y="17780"/>
                  </a:lnTo>
                  <a:lnTo>
                    <a:pt x="85725" y="20955"/>
                  </a:lnTo>
                  <a:lnTo>
                    <a:pt x="88900" y="24130"/>
                  </a:lnTo>
                  <a:lnTo>
                    <a:pt x="139700" y="24130"/>
                  </a:lnTo>
                  <a:lnTo>
                    <a:pt x="142875" y="27305"/>
                  </a:lnTo>
                  <a:lnTo>
                    <a:pt x="142875" y="30480"/>
                  </a:lnTo>
                  <a:lnTo>
                    <a:pt x="139700" y="33655"/>
                  </a:lnTo>
                  <a:lnTo>
                    <a:pt x="98425" y="33655"/>
                  </a:lnTo>
                  <a:lnTo>
                    <a:pt x="95250" y="36830"/>
                  </a:lnTo>
                  <a:lnTo>
                    <a:pt x="95250" y="40005"/>
                  </a:lnTo>
                  <a:lnTo>
                    <a:pt x="98425" y="43180"/>
                  </a:lnTo>
                  <a:lnTo>
                    <a:pt x="139700" y="43180"/>
                  </a:lnTo>
                  <a:lnTo>
                    <a:pt x="145415" y="41275"/>
                  </a:lnTo>
                  <a:lnTo>
                    <a:pt x="146684" y="40639"/>
                  </a:lnTo>
                  <a:lnTo>
                    <a:pt x="149859" y="37464"/>
                  </a:lnTo>
                  <a:lnTo>
                    <a:pt x="150494" y="36195"/>
                  </a:lnTo>
                  <a:lnTo>
                    <a:pt x="151765" y="32385"/>
                  </a:lnTo>
                  <a:lnTo>
                    <a:pt x="152400" y="31750"/>
                  </a:lnTo>
                  <a:lnTo>
                    <a:pt x="152400" y="26670"/>
                  </a:lnTo>
                  <a:lnTo>
                    <a:pt x="151765" y="25400"/>
                  </a:lnTo>
                  <a:lnTo>
                    <a:pt x="150494" y="21589"/>
                  </a:lnTo>
                  <a:lnTo>
                    <a:pt x="149859" y="20320"/>
                  </a:lnTo>
                  <a:lnTo>
                    <a:pt x="146684" y="17145"/>
                  </a:lnTo>
                  <a:lnTo>
                    <a:pt x="145415" y="16510"/>
                  </a:lnTo>
                  <a:lnTo>
                    <a:pt x="139700" y="14605"/>
                  </a:lnTo>
                  <a:close/>
                </a:path>
                <a:path w="152400" h="90804">
                  <a:moveTo>
                    <a:pt x="92075" y="0"/>
                  </a:moveTo>
                  <a:lnTo>
                    <a:pt x="71119" y="0"/>
                  </a:lnTo>
                  <a:lnTo>
                    <a:pt x="63500" y="1270"/>
                  </a:lnTo>
                  <a:lnTo>
                    <a:pt x="56515" y="3175"/>
                  </a:lnTo>
                  <a:lnTo>
                    <a:pt x="50165" y="7620"/>
                  </a:lnTo>
                  <a:lnTo>
                    <a:pt x="45084" y="12700"/>
                  </a:lnTo>
                  <a:lnTo>
                    <a:pt x="38100" y="20955"/>
                  </a:lnTo>
                  <a:lnTo>
                    <a:pt x="50165" y="20955"/>
                  </a:lnTo>
                  <a:lnTo>
                    <a:pt x="52069" y="19050"/>
                  </a:lnTo>
                  <a:lnTo>
                    <a:pt x="57150" y="12700"/>
                  </a:lnTo>
                  <a:lnTo>
                    <a:pt x="63500" y="10160"/>
                  </a:lnTo>
                  <a:lnTo>
                    <a:pt x="71119" y="9525"/>
                  </a:lnTo>
                  <a:lnTo>
                    <a:pt x="104140" y="9525"/>
                  </a:lnTo>
                  <a:lnTo>
                    <a:pt x="102869" y="7620"/>
                  </a:lnTo>
                  <a:lnTo>
                    <a:pt x="102234" y="5714"/>
                  </a:lnTo>
                  <a:lnTo>
                    <a:pt x="99059" y="3175"/>
                  </a:lnTo>
                  <a:lnTo>
                    <a:pt x="97790" y="1905"/>
                  </a:lnTo>
                  <a:lnTo>
                    <a:pt x="92075" y="0"/>
                  </a:lnTo>
                  <a:close/>
                </a:path>
                <a:path w="152400" h="90804">
                  <a:moveTo>
                    <a:pt x="104140" y="9525"/>
                  </a:moveTo>
                  <a:lnTo>
                    <a:pt x="92075" y="9525"/>
                  </a:lnTo>
                  <a:lnTo>
                    <a:pt x="94615" y="12064"/>
                  </a:lnTo>
                  <a:lnTo>
                    <a:pt x="95250" y="13335"/>
                  </a:lnTo>
                  <a:lnTo>
                    <a:pt x="95250" y="14605"/>
                  </a:lnTo>
                  <a:lnTo>
                    <a:pt x="104775" y="14605"/>
                  </a:lnTo>
                  <a:lnTo>
                    <a:pt x="104775" y="12064"/>
                  </a:lnTo>
                  <a:lnTo>
                    <a:pt x="104140" y="10795"/>
                  </a:lnTo>
                  <a:lnTo>
                    <a:pt x="104140" y="9525"/>
                  </a:lnTo>
                  <a:close/>
                </a:path>
              </a:pathLst>
            </a:custGeom>
            <a:solidFill>
              <a:srgbClr val="A14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4465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5060</Words>
  <Application>Microsoft Office PowerPoint</Application>
  <PresentationFormat>Custom</PresentationFormat>
  <Paragraphs>532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Calibri</vt:lpstr>
      <vt:lpstr>Cambria</vt:lpstr>
      <vt:lpstr>Consolas</vt:lpstr>
      <vt:lpstr>Courier New</vt:lpstr>
      <vt:lpstr>Symbol</vt:lpstr>
      <vt:lpstr>Tahoma</vt:lpstr>
      <vt:lpstr>Times New Roman</vt:lpstr>
      <vt:lpstr>Trebuchet MS</vt:lpstr>
      <vt:lpstr>Verdana</vt:lpstr>
      <vt:lpstr>Office Theme</vt:lpstr>
      <vt:lpstr>SMARTINTERNZ</vt:lpstr>
      <vt:lpstr>PowerPoint Presentation</vt:lpstr>
      <vt:lpstr>Literature Review</vt:lpstr>
      <vt:lpstr>Role of Deep Learning</vt:lpstr>
      <vt:lpstr>PowerPoint Presentation</vt:lpstr>
      <vt:lpstr>Theoretical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html files and flask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of Flask App Development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Advantages, Disadvantages and Applications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SMARTINTERNZ</dc:title>
  <cp:lastModifiedBy>dileep reddy</cp:lastModifiedBy>
  <cp:revision>1</cp:revision>
  <dcterms:created xsi:type="dcterms:W3CDTF">2023-12-12T09:43:08Z</dcterms:created>
  <dcterms:modified xsi:type="dcterms:W3CDTF">2023-12-12T10:32:53Z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2023-08-08T00:00:00Z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2023-12-12T00:00:00Z</vt:filetime>
  </property>
  <property fmtid="{D5CDD505-2E9C-101B-9397-08002B2CF9AE}" pid="5" name="Producer">
    <vt:lpwstr>Microsoft® Word 2019</vt:lpwstr>
  </property>
</Properties>
</file>