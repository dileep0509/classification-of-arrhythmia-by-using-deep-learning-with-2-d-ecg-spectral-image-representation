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2" r:id="rId14"/>
    <p:sldId id="269" r:id="rId15"/>
    <p:sldId id="270" r:id="rId16"/>
    <p:sldId id="271" r:id="rId17"/>
    <p:sldId id="268"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286" autoAdjust="0"/>
    <p:restoredTop sz="94660"/>
  </p:normalViewPr>
  <p:slideViewPr>
    <p:cSldViewPr snapToGrid="0">
      <p:cViewPr varScale="1">
        <p:scale>
          <a:sx n="62" d="100"/>
          <a:sy n="62" d="100"/>
        </p:scale>
        <p:origin x="704" y="4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B9BF21B-8A85-4315-A13D-40B3D84177F0}" type="doc">
      <dgm:prSet loTypeId="urn:microsoft.com/office/officeart/2005/8/layout/process5" loCatId="process" qsTypeId="urn:microsoft.com/office/officeart/2005/8/quickstyle/simple1" qsCatId="simple" csTypeId="urn:microsoft.com/office/officeart/2005/8/colors/accent1_2" csCatId="accent1" phldr="1"/>
      <dgm:spPr/>
      <dgm:t>
        <a:bodyPr/>
        <a:lstStyle/>
        <a:p>
          <a:endParaRPr lang="en-IN"/>
        </a:p>
      </dgm:t>
    </dgm:pt>
    <dgm:pt modelId="{85FC4C92-11C2-4D57-BCFB-AFC36DFD698C}">
      <dgm:prSet phldrT="[Text]"/>
      <dgm:spPr/>
      <dgm:t>
        <a:bodyPr/>
        <a:lstStyle/>
        <a:p>
          <a:r>
            <a:rPr lang="en-US" dirty="0"/>
            <a:t>Data Collection</a:t>
          </a:r>
          <a:br>
            <a:rPr lang="en-US" dirty="0"/>
          </a:br>
          <a:endParaRPr lang="en-IN" dirty="0"/>
        </a:p>
      </dgm:t>
    </dgm:pt>
    <dgm:pt modelId="{7168BC99-6A4D-4786-B2E3-1B6BADD5049A}" type="parTrans" cxnId="{AA3B0F45-69FE-4310-A9BC-022CBBCB87BA}">
      <dgm:prSet/>
      <dgm:spPr/>
      <dgm:t>
        <a:bodyPr/>
        <a:lstStyle/>
        <a:p>
          <a:endParaRPr lang="en-IN"/>
        </a:p>
      </dgm:t>
    </dgm:pt>
    <dgm:pt modelId="{B0805466-B79D-4A0F-9DD9-59D520F35CBD}" type="sibTrans" cxnId="{AA3B0F45-69FE-4310-A9BC-022CBBCB87BA}">
      <dgm:prSet/>
      <dgm:spPr/>
      <dgm:t>
        <a:bodyPr/>
        <a:lstStyle/>
        <a:p>
          <a:endParaRPr lang="en-IN"/>
        </a:p>
      </dgm:t>
    </dgm:pt>
    <dgm:pt modelId="{321BD303-6315-42AA-BE30-3464ABDA8E66}">
      <dgm:prSet phldrT="[Text]"/>
      <dgm:spPr/>
      <dgm:t>
        <a:bodyPr/>
        <a:lstStyle/>
        <a:p>
          <a:r>
            <a:rPr lang="en-US" dirty="0"/>
            <a:t>Data Preprocessing</a:t>
          </a:r>
          <a:endParaRPr lang="en-IN" dirty="0"/>
        </a:p>
      </dgm:t>
    </dgm:pt>
    <dgm:pt modelId="{80D96124-CB7E-4C16-9D66-D16BD31F5454}" type="parTrans" cxnId="{5F754E1B-6012-405E-9899-E3CF5C1B1789}">
      <dgm:prSet/>
      <dgm:spPr/>
      <dgm:t>
        <a:bodyPr/>
        <a:lstStyle/>
        <a:p>
          <a:endParaRPr lang="en-IN"/>
        </a:p>
      </dgm:t>
    </dgm:pt>
    <dgm:pt modelId="{BBD932D6-5527-42A3-9FAD-E6F69907217F}" type="sibTrans" cxnId="{5F754E1B-6012-405E-9899-E3CF5C1B1789}">
      <dgm:prSet/>
      <dgm:spPr/>
      <dgm:t>
        <a:bodyPr/>
        <a:lstStyle/>
        <a:p>
          <a:endParaRPr lang="en-IN"/>
        </a:p>
      </dgm:t>
    </dgm:pt>
    <dgm:pt modelId="{177B89E9-7E3E-47D4-9351-9FA74F996C99}">
      <dgm:prSet phldrT="[Text]"/>
      <dgm:spPr/>
      <dgm:t>
        <a:bodyPr/>
        <a:lstStyle/>
        <a:p>
          <a:r>
            <a:rPr lang="en-US" dirty="0"/>
            <a:t>Model Building</a:t>
          </a:r>
          <a:endParaRPr lang="en-IN" dirty="0"/>
        </a:p>
      </dgm:t>
    </dgm:pt>
    <dgm:pt modelId="{E234C040-CE79-4C06-8AE7-8E22F6CC75CD}" type="parTrans" cxnId="{709CECD6-B03F-4999-A19F-7AAEF64B9DA8}">
      <dgm:prSet/>
      <dgm:spPr/>
      <dgm:t>
        <a:bodyPr/>
        <a:lstStyle/>
        <a:p>
          <a:endParaRPr lang="en-IN"/>
        </a:p>
      </dgm:t>
    </dgm:pt>
    <dgm:pt modelId="{033373DE-A6B6-4241-AA19-908FB28D2560}" type="sibTrans" cxnId="{709CECD6-B03F-4999-A19F-7AAEF64B9DA8}">
      <dgm:prSet/>
      <dgm:spPr/>
      <dgm:t>
        <a:bodyPr/>
        <a:lstStyle/>
        <a:p>
          <a:endParaRPr lang="en-IN"/>
        </a:p>
      </dgm:t>
    </dgm:pt>
    <dgm:pt modelId="{13C851FD-3C8F-4660-9717-0317CF06CD04}">
      <dgm:prSet phldrT="[Text]"/>
      <dgm:spPr/>
      <dgm:t>
        <a:bodyPr/>
        <a:lstStyle/>
        <a:p>
          <a:r>
            <a:rPr lang="en-US" dirty="0"/>
            <a:t>Application Building</a:t>
          </a:r>
          <a:endParaRPr lang="en-IN" dirty="0"/>
        </a:p>
      </dgm:t>
    </dgm:pt>
    <dgm:pt modelId="{BA7C62DF-11CA-4327-B5B2-0E684BCE8AFA}" type="parTrans" cxnId="{8F527ED0-B417-4DC9-A99F-32976574602D}">
      <dgm:prSet/>
      <dgm:spPr/>
      <dgm:t>
        <a:bodyPr/>
        <a:lstStyle/>
        <a:p>
          <a:endParaRPr lang="en-IN"/>
        </a:p>
      </dgm:t>
    </dgm:pt>
    <dgm:pt modelId="{76EB7B73-D93B-45D9-BA0A-23A18CF55BA2}" type="sibTrans" cxnId="{8F527ED0-B417-4DC9-A99F-32976574602D}">
      <dgm:prSet/>
      <dgm:spPr/>
      <dgm:t>
        <a:bodyPr/>
        <a:lstStyle/>
        <a:p>
          <a:endParaRPr lang="en-IN"/>
        </a:p>
      </dgm:t>
    </dgm:pt>
    <dgm:pt modelId="{20EB6569-2E99-4E9C-B0CC-2B8522F156EE}" type="pres">
      <dgm:prSet presAssocID="{3B9BF21B-8A85-4315-A13D-40B3D84177F0}" presName="diagram" presStyleCnt="0">
        <dgm:presLayoutVars>
          <dgm:dir/>
          <dgm:resizeHandles val="exact"/>
        </dgm:presLayoutVars>
      </dgm:prSet>
      <dgm:spPr/>
    </dgm:pt>
    <dgm:pt modelId="{000897F0-C571-4C24-B4AB-2166370AD0A7}" type="pres">
      <dgm:prSet presAssocID="{85FC4C92-11C2-4D57-BCFB-AFC36DFD698C}" presName="node" presStyleLbl="node1" presStyleIdx="0" presStyleCnt="4">
        <dgm:presLayoutVars>
          <dgm:bulletEnabled val="1"/>
        </dgm:presLayoutVars>
      </dgm:prSet>
      <dgm:spPr/>
    </dgm:pt>
    <dgm:pt modelId="{57010517-D349-43C1-BFD8-60A1EBA23379}" type="pres">
      <dgm:prSet presAssocID="{B0805466-B79D-4A0F-9DD9-59D520F35CBD}" presName="sibTrans" presStyleLbl="sibTrans2D1" presStyleIdx="0" presStyleCnt="3"/>
      <dgm:spPr/>
    </dgm:pt>
    <dgm:pt modelId="{E48E9347-2872-4C14-9980-56E61D10BE1A}" type="pres">
      <dgm:prSet presAssocID="{B0805466-B79D-4A0F-9DD9-59D520F35CBD}" presName="connectorText" presStyleLbl="sibTrans2D1" presStyleIdx="0" presStyleCnt="3"/>
      <dgm:spPr/>
    </dgm:pt>
    <dgm:pt modelId="{5F908346-C6BA-4BB3-8016-F0D2D639A0AC}" type="pres">
      <dgm:prSet presAssocID="{321BD303-6315-42AA-BE30-3464ABDA8E66}" presName="node" presStyleLbl="node1" presStyleIdx="1" presStyleCnt="4">
        <dgm:presLayoutVars>
          <dgm:bulletEnabled val="1"/>
        </dgm:presLayoutVars>
      </dgm:prSet>
      <dgm:spPr/>
    </dgm:pt>
    <dgm:pt modelId="{81BAB88B-313D-4106-B2AC-7447F9491591}" type="pres">
      <dgm:prSet presAssocID="{BBD932D6-5527-42A3-9FAD-E6F69907217F}" presName="sibTrans" presStyleLbl="sibTrans2D1" presStyleIdx="1" presStyleCnt="3"/>
      <dgm:spPr/>
    </dgm:pt>
    <dgm:pt modelId="{1FE0D84F-C6F0-411B-B694-AB282969DF4B}" type="pres">
      <dgm:prSet presAssocID="{BBD932D6-5527-42A3-9FAD-E6F69907217F}" presName="connectorText" presStyleLbl="sibTrans2D1" presStyleIdx="1" presStyleCnt="3"/>
      <dgm:spPr/>
    </dgm:pt>
    <dgm:pt modelId="{EDE25094-A074-44C2-942A-28E1E8D6DCEF}" type="pres">
      <dgm:prSet presAssocID="{177B89E9-7E3E-47D4-9351-9FA74F996C99}" presName="node" presStyleLbl="node1" presStyleIdx="2" presStyleCnt="4">
        <dgm:presLayoutVars>
          <dgm:bulletEnabled val="1"/>
        </dgm:presLayoutVars>
      </dgm:prSet>
      <dgm:spPr/>
    </dgm:pt>
    <dgm:pt modelId="{9AA301E2-0F5B-4F32-AABE-5CC142CBE013}" type="pres">
      <dgm:prSet presAssocID="{033373DE-A6B6-4241-AA19-908FB28D2560}" presName="sibTrans" presStyleLbl="sibTrans2D1" presStyleIdx="2" presStyleCnt="3"/>
      <dgm:spPr/>
    </dgm:pt>
    <dgm:pt modelId="{F9167A70-2767-40E9-A98E-04C09A38BFE4}" type="pres">
      <dgm:prSet presAssocID="{033373DE-A6B6-4241-AA19-908FB28D2560}" presName="connectorText" presStyleLbl="sibTrans2D1" presStyleIdx="2" presStyleCnt="3"/>
      <dgm:spPr/>
    </dgm:pt>
    <dgm:pt modelId="{8B5A3C02-A9ED-4FF7-A4B6-FD28787CB833}" type="pres">
      <dgm:prSet presAssocID="{13C851FD-3C8F-4660-9717-0317CF06CD04}" presName="node" presStyleLbl="node1" presStyleIdx="3" presStyleCnt="4">
        <dgm:presLayoutVars>
          <dgm:bulletEnabled val="1"/>
        </dgm:presLayoutVars>
      </dgm:prSet>
      <dgm:spPr/>
    </dgm:pt>
  </dgm:ptLst>
  <dgm:cxnLst>
    <dgm:cxn modelId="{8C332A0C-3AE6-4DCD-9181-22E930C03AAC}" type="presOf" srcId="{85FC4C92-11C2-4D57-BCFB-AFC36DFD698C}" destId="{000897F0-C571-4C24-B4AB-2166370AD0A7}" srcOrd="0" destOrd="0" presId="urn:microsoft.com/office/officeart/2005/8/layout/process5"/>
    <dgm:cxn modelId="{5F754E1B-6012-405E-9899-E3CF5C1B1789}" srcId="{3B9BF21B-8A85-4315-A13D-40B3D84177F0}" destId="{321BD303-6315-42AA-BE30-3464ABDA8E66}" srcOrd="1" destOrd="0" parTransId="{80D96124-CB7E-4C16-9D66-D16BD31F5454}" sibTransId="{BBD932D6-5527-42A3-9FAD-E6F69907217F}"/>
    <dgm:cxn modelId="{690FD520-A82F-45A4-95A0-E94D044A5B81}" type="presOf" srcId="{177B89E9-7E3E-47D4-9351-9FA74F996C99}" destId="{EDE25094-A074-44C2-942A-28E1E8D6DCEF}" srcOrd="0" destOrd="0" presId="urn:microsoft.com/office/officeart/2005/8/layout/process5"/>
    <dgm:cxn modelId="{D6529233-34AC-4A54-8E3E-433753FC7490}" type="presOf" srcId="{13C851FD-3C8F-4660-9717-0317CF06CD04}" destId="{8B5A3C02-A9ED-4FF7-A4B6-FD28787CB833}" srcOrd="0" destOrd="0" presId="urn:microsoft.com/office/officeart/2005/8/layout/process5"/>
    <dgm:cxn modelId="{AA3B0F45-69FE-4310-A9BC-022CBBCB87BA}" srcId="{3B9BF21B-8A85-4315-A13D-40B3D84177F0}" destId="{85FC4C92-11C2-4D57-BCFB-AFC36DFD698C}" srcOrd="0" destOrd="0" parTransId="{7168BC99-6A4D-4786-B2E3-1B6BADD5049A}" sibTransId="{B0805466-B79D-4A0F-9DD9-59D520F35CBD}"/>
    <dgm:cxn modelId="{7354724A-C1F8-40E2-BEC1-2C4FCF422091}" type="presOf" srcId="{321BD303-6315-42AA-BE30-3464ABDA8E66}" destId="{5F908346-C6BA-4BB3-8016-F0D2D639A0AC}" srcOrd="0" destOrd="0" presId="urn:microsoft.com/office/officeart/2005/8/layout/process5"/>
    <dgm:cxn modelId="{CDA23D75-006C-43EE-A1A1-0C0E006DD130}" type="presOf" srcId="{3B9BF21B-8A85-4315-A13D-40B3D84177F0}" destId="{20EB6569-2E99-4E9C-B0CC-2B8522F156EE}" srcOrd="0" destOrd="0" presId="urn:microsoft.com/office/officeart/2005/8/layout/process5"/>
    <dgm:cxn modelId="{C465C556-DEFC-41CD-9742-7304C45FFE7D}" type="presOf" srcId="{B0805466-B79D-4A0F-9DD9-59D520F35CBD}" destId="{57010517-D349-43C1-BFD8-60A1EBA23379}" srcOrd="0" destOrd="0" presId="urn:microsoft.com/office/officeart/2005/8/layout/process5"/>
    <dgm:cxn modelId="{4997BE7B-F968-4E84-995A-6993664C02B5}" type="presOf" srcId="{033373DE-A6B6-4241-AA19-908FB28D2560}" destId="{F9167A70-2767-40E9-A98E-04C09A38BFE4}" srcOrd="1" destOrd="0" presId="urn:microsoft.com/office/officeart/2005/8/layout/process5"/>
    <dgm:cxn modelId="{3D377685-57E8-4E56-8874-CA123810FA1F}" type="presOf" srcId="{BBD932D6-5527-42A3-9FAD-E6F69907217F}" destId="{1FE0D84F-C6F0-411B-B694-AB282969DF4B}" srcOrd="1" destOrd="0" presId="urn:microsoft.com/office/officeart/2005/8/layout/process5"/>
    <dgm:cxn modelId="{CA353392-6813-40DE-9D67-F4CB63FA7C16}" type="presOf" srcId="{033373DE-A6B6-4241-AA19-908FB28D2560}" destId="{9AA301E2-0F5B-4F32-AABE-5CC142CBE013}" srcOrd="0" destOrd="0" presId="urn:microsoft.com/office/officeart/2005/8/layout/process5"/>
    <dgm:cxn modelId="{8F527ED0-B417-4DC9-A99F-32976574602D}" srcId="{3B9BF21B-8A85-4315-A13D-40B3D84177F0}" destId="{13C851FD-3C8F-4660-9717-0317CF06CD04}" srcOrd="3" destOrd="0" parTransId="{BA7C62DF-11CA-4327-B5B2-0E684BCE8AFA}" sibTransId="{76EB7B73-D93B-45D9-BA0A-23A18CF55BA2}"/>
    <dgm:cxn modelId="{AB8E14D5-CA72-4633-8545-058E8BCFCC8D}" type="presOf" srcId="{BBD932D6-5527-42A3-9FAD-E6F69907217F}" destId="{81BAB88B-313D-4106-B2AC-7447F9491591}" srcOrd="0" destOrd="0" presId="urn:microsoft.com/office/officeart/2005/8/layout/process5"/>
    <dgm:cxn modelId="{709CECD6-B03F-4999-A19F-7AAEF64B9DA8}" srcId="{3B9BF21B-8A85-4315-A13D-40B3D84177F0}" destId="{177B89E9-7E3E-47D4-9351-9FA74F996C99}" srcOrd="2" destOrd="0" parTransId="{E234C040-CE79-4C06-8AE7-8E22F6CC75CD}" sibTransId="{033373DE-A6B6-4241-AA19-908FB28D2560}"/>
    <dgm:cxn modelId="{030224D7-1EE5-4F2D-A924-DCFD93527AAF}" type="presOf" srcId="{B0805466-B79D-4A0F-9DD9-59D520F35CBD}" destId="{E48E9347-2872-4C14-9980-56E61D10BE1A}" srcOrd="1" destOrd="0" presId="urn:microsoft.com/office/officeart/2005/8/layout/process5"/>
    <dgm:cxn modelId="{F871F941-0F02-49DE-9AF6-131D58FB1C73}" type="presParOf" srcId="{20EB6569-2E99-4E9C-B0CC-2B8522F156EE}" destId="{000897F0-C571-4C24-B4AB-2166370AD0A7}" srcOrd="0" destOrd="0" presId="urn:microsoft.com/office/officeart/2005/8/layout/process5"/>
    <dgm:cxn modelId="{ED6E4A8A-DEA7-4B42-98A3-34D74D124E47}" type="presParOf" srcId="{20EB6569-2E99-4E9C-B0CC-2B8522F156EE}" destId="{57010517-D349-43C1-BFD8-60A1EBA23379}" srcOrd="1" destOrd="0" presId="urn:microsoft.com/office/officeart/2005/8/layout/process5"/>
    <dgm:cxn modelId="{849918CC-1131-45AD-8AE8-AC5666548609}" type="presParOf" srcId="{57010517-D349-43C1-BFD8-60A1EBA23379}" destId="{E48E9347-2872-4C14-9980-56E61D10BE1A}" srcOrd="0" destOrd="0" presId="urn:microsoft.com/office/officeart/2005/8/layout/process5"/>
    <dgm:cxn modelId="{4176049A-9184-4132-9CDD-06261E2BBE91}" type="presParOf" srcId="{20EB6569-2E99-4E9C-B0CC-2B8522F156EE}" destId="{5F908346-C6BA-4BB3-8016-F0D2D639A0AC}" srcOrd="2" destOrd="0" presId="urn:microsoft.com/office/officeart/2005/8/layout/process5"/>
    <dgm:cxn modelId="{601E78D3-8187-4135-91BF-80D61076D664}" type="presParOf" srcId="{20EB6569-2E99-4E9C-B0CC-2B8522F156EE}" destId="{81BAB88B-313D-4106-B2AC-7447F9491591}" srcOrd="3" destOrd="0" presId="urn:microsoft.com/office/officeart/2005/8/layout/process5"/>
    <dgm:cxn modelId="{374D3044-030E-4A83-A0BC-566445D47D50}" type="presParOf" srcId="{81BAB88B-313D-4106-B2AC-7447F9491591}" destId="{1FE0D84F-C6F0-411B-B694-AB282969DF4B}" srcOrd="0" destOrd="0" presId="urn:microsoft.com/office/officeart/2005/8/layout/process5"/>
    <dgm:cxn modelId="{195EC695-6806-4F41-8D5F-B8F916C4C218}" type="presParOf" srcId="{20EB6569-2E99-4E9C-B0CC-2B8522F156EE}" destId="{EDE25094-A074-44C2-942A-28E1E8D6DCEF}" srcOrd="4" destOrd="0" presId="urn:microsoft.com/office/officeart/2005/8/layout/process5"/>
    <dgm:cxn modelId="{1CCB1F8F-B443-4DE1-85CE-F88D1CE9D00E}" type="presParOf" srcId="{20EB6569-2E99-4E9C-B0CC-2B8522F156EE}" destId="{9AA301E2-0F5B-4F32-AABE-5CC142CBE013}" srcOrd="5" destOrd="0" presId="urn:microsoft.com/office/officeart/2005/8/layout/process5"/>
    <dgm:cxn modelId="{916C7ABC-410E-433E-A9B2-46D16D396479}" type="presParOf" srcId="{9AA301E2-0F5B-4F32-AABE-5CC142CBE013}" destId="{F9167A70-2767-40E9-A98E-04C09A38BFE4}" srcOrd="0" destOrd="0" presId="urn:microsoft.com/office/officeart/2005/8/layout/process5"/>
    <dgm:cxn modelId="{D5F48AEA-1990-4A11-8768-EAE7F949B30F}" type="presParOf" srcId="{20EB6569-2E99-4E9C-B0CC-2B8522F156EE}" destId="{8B5A3C02-A9ED-4FF7-A4B6-FD28787CB833}" srcOrd="6"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0897F0-C571-4C24-B4AB-2166370AD0A7}">
      <dsp:nvSpPr>
        <dsp:cNvPr id="0" name=""/>
        <dsp:cNvSpPr/>
      </dsp:nvSpPr>
      <dsp:spPr>
        <a:xfrm>
          <a:off x="1383488" y="1575"/>
          <a:ext cx="2715300" cy="1629180"/>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dirty="0"/>
            <a:t>Data Collection</a:t>
          </a:r>
          <a:br>
            <a:rPr lang="en-US" sz="3000" kern="1200" dirty="0"/>
          </a:br>
          <a:endParaRPr lang="en-IN" sz="3000" kern="1200" dirty="0"/>
        </a:p>
      </dsp:txBody>
      <dsp:txXfrm>
        <a:off x="1431205" y="49292"/>
        <a:ext cx="2619866" cy="1533746"/>
      </dsp:txXfrm>
    </dsp:sp>
    <dsp:sp modelId="{57010517-D349-43C1-BFD8-60A1EBA23379}">
      <dsp:nvSpPr>
        <dsp:cNvPr id="0" name=""/>
        <dsp:cNvSpPr/>
      </dsp:nvSpPr>
      <dsp:spPr>
        <a:xfrm>
          <a:off x="4337736" y="479468"/>
          <a:ext cx="575643" cy="67339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endParaRPr lang="en-IN" sz="2400" kern="1200"/>
        </a:p>
      </dsp:txBody>
      <dsp:txXfrm>
        <a:off x="4337736" y="614147"/>
        <a:ext cx="402950" cy="404036"/>
      </dsp:txXfrm>
    </dsp:sp>
    <dsp:sp modelId="{5F908346-C6BA-4BB3-8016-F0D2D639A0AC}">
      <dsp:nvSpPr>
        <dsp:cNvPr id="0" name=""/>
        <dsp:cNvSpPr/>
      </dsp:nvSpPr>
      <dsp:spPr>
        <a:xfrm>
          <a:off x="5184910" y="1575"/>
          <a:ext cx="2715300" cy="1629180"/>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dirty="0"/>
            <a:t>Data Preprocessing</a:t>
          </a:r>
          <a:endParaRPr lang="en-IN" sz="3000" kern="1200" dirty="0"/>
        </a:p>
      </dsp:txBody>
      <dsp:txXfrm>
        <a:off x="5232627" y="49292"/>
        <a:ext cx="2619866" cy="1533746"/>
      </dsp:txXfrm>
    </dsp:sp>
    <dsp:sp modelId="{81BAB88B-313D-4106-B2AC-7447F9491591}">
      <dsp:nvSpPr>
        <dsp:cNvPr id="0" name=""/>
        <dsp:cNvSpPr/>
      </dsp:nvSpPr>
      <dsp:spPr>
        <a:xfrm rot="5400000">
          <a:off x="6254738" y="1820827"/>
          <a:ext cx="575643" cy="67339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endParaRPr lang="en-IN" sz="2400" kern="1200"/>
        </a:p>
      </dsp:txBody>
      <dsp:txXfrm rot="-5400000">
        <a:off x="6340542" y="1869703"/>
        <a:ext cx="404036" cy="402950"/>
      </dsp:txXfrm>
    </dsp:sp>
    <dsp:sp modelId="{EDE25094-A074-44C2-942A-28E1E8D6DCEF}">
      <dsp:nvSpPr>
        <dsp:cNvPr id="0" name=""/>
        <dsp:cNvSpPr/>
      </dsp:nvSpPr>
      <dsp:spPr>
        <a:xfrm>
          <a:off x="5184910" y="2716876"/>
          <a:ext cx="2715300" cy="1629180"/>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dirty="0"/>
            <a:t>Model Building</a:t>
          </a:r>
          <a:endParaRPr lang="en-IN" sz="3000" kern="1200" dirty="0"/>
        </a:p>
      </dsp:txBody>
      <dsp:txXfrm>
        <a:off x="5232627" y="2764593"/>
        <a:ext cx="2619866" cy="1533746"/>
      </dsp:txXfrm>
    </dsp:sp>
    <dsp:sp modelId="{9AA301E2-0F5B-4F32-AABE-5CC142CBE013}">
      <dsp:nvSpPr>
        <dsp:cNvPr id="0" name=""/>
        <dsp:cNvSpPr/>
      </dsp:nvSpPr>
      <dsp:spPr>
        <a:xfrm rot="10800000">
          <a:off x="4370319" y="3194769"/>
          <a:ext cx="575643" cy="67339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endParaRPr lang="en-IN" sz="2400" kern="1200"/>
        </a:p>
      </dsp:txBody>
      <dsp:txXfrm rot="10800000">
        <a:off x="4543012" y="3329448"/>
        <a:ext cx="402950" cy="404036"/>
      </dsp:txXfrm>
    </dsp:sp>
    <dsp:sp modelId="{8B5A3C02-A9ED-4FF7-A4B6-FD28787CB833}">
      <dsp:nvSpPr>
        <dsp:cNvPr id="0" name=""/>
        <dsp:cNvSpPr/>
      </dsp:nvSpPr>
      <dsp:spPr>
        <a:xfrm>
          <a:off x="1383488" y="2716876"/>
          <a:ext cx="2715300" cy="1629180"/>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dirty="0"/>
            <a:t>Application Building</a:t>
          </a:r>
          <a:endParaRPr lang="en-IN" sz="3000" kern="1200" dirty="0"/>
        </a:p>
      </dsp:txBody>
      <dsp:txXfrm>
        <a:off x="1431205" y="2764593"/>
        <a:ext cx="2619866" cy="1533746"/>
      </dsp:txXfrm>
    </dsp:sp>
  </dsp:spTree>
</dsp:drawing>
</file>

<file path=ppt/diagrams/layout1.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20BD64D-2350-4A43-B0BD-57C8CEAD9DA2}" type="datetimeFigureOut">
              <a:rPr lang="en-IN" smtClean="0"/>
              <a:t>04-01-2024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838B904-E7DF-4480-82F5-23AAD26DC177}" type="slidenum">
              <a:rPr lang="en-IN" smtClean="0"/>
              <a:t>‹#›</a:t>
            </a:fld>
            <a:endParaRPr lang="en-IN"/>
          </a:p>
        </p:txBody>
      </p:sp>
    </p:spTree>
    <p:extLst>
      <p:ext uri="{BB962C8B-B14F-4D97-AF65-F5344CB8AC3E}">
        <p14:creationId xmlns:p14="http://schemas.microsoft.com/office/powerpoint/2010/main" val="9849193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20BD64D-2350-4A43-B0BD-57C8CEAD9DA2}" type="datetimeFigureOut">
              <a:rPr lang="en-IN" smtClean="0"/>
              <a:t>04-01-2024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838B904-E7DF-4480-82F5-23AAD26DC177}" type="slidenum">
              <a:rPr lang="en-IN" smtClean="0"/>
              <a:t>‹#›</a:t>
            </a:fld>
            <a:endParaRPr lang="en-IN"/>
          </a:p>
        </p:txBody>
      </p:sp>
    </p:spTree>
    <p:extLst>
      <p:ext uri="{BB962C8B-B14F-4D97-AF65-F5344CB8AC3E}">
        <p14:creationId xmlns:p14="http://schemas.microsoft.com/office/powerpoint/2010/main" val="33885320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20BD64D-2350-4A43-B0BD-57C8CEAD9DA2}" type="datetimeFigureOut">
              <a:rPr lang="en-IN" smtClean="0"/>
              <a:t>04-01-2024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838B904-E7DF-4480-82F5-23AAD26DC177}" type="slidenum">
              <a:rPr lang="en-IN" smtClean="0"/>
              <a:t>‹#›</a:t>
            </a:fld>
            <a:endParaRPr lang="en-IN"/>
          </a:p>
        </p:txBody>
      </p:sp>
    </p:spTree>
    <p:extLst>
      <p:ext uri="{BB962C8B-B14F-4D97-AF65-F5344CB8AC3E}">
        <p14:creationId xmlns:p14="http://schemas.microsoft.com/office/powerpoint/2010/main" val="27284667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20BD64D-2350-4A43-B0BD-57C8CEAD9DA2}" type="datetimeFigureOut">
              <a:rPr lang="en-IN" smtClean="0"/>
              <a:t>04-01-2024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838B904-E7DF-4480-82F5-23AAD26DC177}" type="slidenum">
              <a:rPr lang="en-IN" smtClean="0"/>
              <a:t>‹#›</a:t>
            </a:fld>
            <a:endParaRPr lang="en-IN"/>
          </a:p>
        </p:txBody>
      </p:sp>
    </p:spTree>
    <p:extLst>
      <p:ext uri="{BB962C8B-B14F-4D97-AF65-F5344CB8AC3E}">
        <p14:creationId xmlns:p14="http://schemas.microsoft.com/office/powerpoint/2010/main" val="32309725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20BD64D-2350-4A43-B0BD-57C8CEAD9DA2}" type="datetimeFigureOut">
              <a:rPr lang="en-IN" smtClean="0"/>
              <a:t>04-01-2024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838B904-E7DF-4480-82F5-23AAD26DC177}" type="slidenum">
              <a:rPr lang="en-IN" smtClean="0"/>
              <a:t>‹#›</a:t>
            </a:fld>
            <a:endParaRPr lang="en-IN"/>
          </a:p>
        </p:txBody>
      </p:sp>
    </p:spTree>
    <p:extLst>
      <p:ext uri="{BB962C8B-B14F-4D97-AF65-F5344CB8AC3E}">
        <p14:creationId xmlns:p14="http://schemas.microsoft.com/office/powerpoint/2010/main" val="4940006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20BD64D-2350-4A43-B0BD-57C8CEAD9DA2}" type="datetimeFigureOut">
              <a:rPr lang="en-IN" smtClean="0"/>
              <a:t>04-01-2024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838B904-E7DF-4480-82F5-23AAD26DC177}" type="slidenum">
              <a:rPr lang="en-IN" smtClean="0"/>
              <a:t>‹#›</a:t>
            </a:fld>
            <a:endParaRPr lang="en-IN"/>
          </a:p>
        </p:txBody>
      </p:sp>
    </p:spTree>
    <p:extLst>
      <p:ext uri="{BB962C8B-B14F-4D97-AF65-F5344CB8AC3E}">
        <p14:creationId xmlns:p14="http://schemas.microsoft.com/office/powerpoint/2010/main" val="16708289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20BD64D-2350-4A43-B0BD-57C8CEAD9DA2}" type="datetimeFigureOut">
              <a:rPr lang="en-IN" smtClean="0"/>
              <a:t>04-01-2024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838B904-E7DF-4480-82F5-23AAD26DC177}" type="slidenum">
              <a:rPr lang="en-IN" smtClean="0"/>
              <a:t>‹#›</a:t>
            </a:fld>
            <a:endParaRPr lang="en-IN"/>
          </a:p>
        </p:txBody>
      </p:sp>
    </p:spTree>
    <p:extLst>
      <p:ext uri="{BB962C8B-B14F-4D97-AF65-F5344CB8AC3E}">
        <p14:creationId xmlns:p14="http://schemas.microsoft.com/office/powerpoint/2010/main" val="20371663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20BD64D-2350-4A43-B0BD-57C8CEAD9DA2}" type="datetimeFigureOut">
              <a:rPr lang="en-IN" smtClean="0"/>
              <a:t>04-01-2024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838B904-E7DF-4480-82F5-23AAD26DC177}" type="slidenum">
              <a:rPr lang="en-IN" smtClean="0"/>
              <a:t>‹#›</a:t>
            </a:fld>
            <a:endParaRPr lang="en-IN"/>
          </a:p>
        </p:txBody>
      </p:sp>
    </p:spTree>
    <p:extLst>
      <p:ext uri="{BB962C8B-B14F-4D97-AF65-F5344CB8AC3E}">
        <p14:creationId xmlns:p14="http://schemas.microsoft.com/office/powerpoint/2010/main" val="16331261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20BD64D-2350-4A43-B0BD-57C8CEAD9DA2}" type="datetimeFigureOut">
              <a:rPr lang="en-IN" smtClean="0"/>
              <a:t>04-01-2024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838B904-E7DF-4480-82F5-23AAD26DC177}" type="slidenum">
              <a:rPr lang="en-IN" smtClean="0"/>
              <a:t>‹#›</a:t>
            </a:fld>
            <a:endParaRPr lang="en-IN"/>
          </a:p>
        </p:txBody>
      </p:sp>
    </p:spTree>
    <p:extLst>
      <p:ext uri="{BB962C8B-B14F-4D97-AF65-F5344CB8AC3E}">
        <p14:creationId xmlns:p14="http://schemas.microsoft.com/office/powerpoint/2010/main" val="42726537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20BD64D-2350-4A43-B0BD-57C8CEAD9DA2}" type="datetimeFigureOut">
              <a:rPr lang="en-IN" smtClean="0"/>
              <a:t>04-01-2024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838B904-E7DF-4480-82F5-23AAD26DC177}" type="slidenum">
              <a:rPr lang="en-IN" smtClean="0"/>
              <a:t>‹#›</a:t>
            </a:fld>
            <a:endParaRPr lang="en-IN"/>
          </a:p>
        </p:txBody>
      </p:sp>
    </p:spTree>
    <p:extLst>
      <p:ext uri="{BB962C8B-B14F-4D97-AF65-F5344CB8AC3E}">
        <p14:creationId xmlns:p14="http://schemas.microsoft.com/office/powerpoint/2010/main" val="22178123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20BD64D-2350-4A43-B0BD-57C8CEAD9DA2}" type="datetimeFigureOut">
              <a:rPr lang="en-IN" smtClean="0"/>
              <a:t>04-01-2024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838B904-E7DF-4480-82F5-23AAD26DC177}"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9359555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20BD64D-2350-4A43-B0BD-57C8CEAD9DA2}" type="datetimeFigureOut">
              <a:rPr lang="en-IN" smtClean="0"/>
              <a:t>04-01-2024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838B904-E7DF-4480-82F5-23AAD26DC177}" type="slidenum">
              <a:rPr lang="en-IN" smtClean="0"/>
              <a:t>‹#›</a:t>
            </a:fld>
            <a:endParaRPr lang="en-IN"/>
          </a:p>
        </p:txBody>
      </p:sp>
    </p:spTree>
    <p:extLst>
      <p:ext uri="{BB962C8B-B14F-4D97-AF65-F5344CB8AC3E}">
        <p14:creationId xmlns:p14="http://schemas.microsoft.com/office/powerpoint/2010/main" val="1079203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20BD64D-2350-4A43-B0BD-57C8CEAD9DA2}" type="datetimeFigureOut">
              <a:rPr lang="en-IN" smtClean="0"/>
              <a:t>04-01-2024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838B904-E7DF-4480-82F5-23AAD26DC177}"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252835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20BD64D-2350-4A43-B0BD-57C8CEAD9DA2}" type="datetimeFigureOut">
              <a:rPr lang="en-IN" smtClean="0"/>
              <a:t>04-01-2024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838B904-E7DF-4480-82F5-23AAD26DC177}" type="slidenum">
              <a:rPr lang="en-IN" smtClean="0"/>
              <a:t>‹#›</a:t>
            </a:fld>
            <a:endParaRPr lang="en-IN"/>
          </a:p>
        </p:txBody>
      </p:sp>
    </p:spTree>
    <p:extLst>
      <p:ext uri="{BB962C8B-B14F-4D97-AF65-F5344CB8AC3E}">
        <p14:creationId xmlns:p14="http://schemas.microsoft.com/office/powerpoint/2010/main" val="32266252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20BD64D-2350-4A43-B0BD-57C8CEAD9DA2}" type="datetimeFigureOut">
              <a:rPr lang="en-IN" smtClean="0"/>
              <a:t>04-01-2024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838B904-E7DF-4480-82F5-23AAD26DC177}" type="slidenum">
              <a:rPr lang="en-IN" smtClean="0"/>
              <a:t>‹#›</a:t>
            </a:fld>
            <a:endParaRPr lang="en-IN"/>
          </a:p>
        </p:txBody>
      </p:sp>
    </p:spTree>
    <p:extLst>
      <p:ext uri="{BB962C8B-B14F-4D97-AF65-F5344CB8AC3E}">
        <p14:creationId xmlns:p14="http://schemas.microsoft.com/office/powerpoint/2010/main" val="27690971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20BD64D-2350-4A43-B0BD-57C8CEAD9DA2}" type="datetimeFigureOut">
              <a:rPr lang="en-IN" smtClean="0"/>
              <a:t>04-01-2024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838B904-E7DF-4480-82F5-23AAD26DC177}" type="slidenum">
              <a:rPr lang="en-IN" smtClean="0"/>
              <a:t>‹#›</a:t>
            </a:fld>
            <a:endParaRPr lang="en-IN"/>
          </a:p>
        </p:txBody>
      </p:sp>
    </p:spTree>
    <p:extLst>
      <p:ext uri="{BB962C8B-B14F-4D97-AF65-F5344CB8AC3E}">
        <p14:creationId xmlns:p14="http://schemas.microsoft.com/office/powerpoint/2010/main" val="17215922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20BD64D-2350-4A43-B0BD-57C8CEAD9DA2}" type="datetimeFigureOut">
              <a:rPr lang="en-IN" smtClean="0"/>
              <a:t>04-01-2024</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8838B904-E7DF-4480-82F5-23AAD26DC177}" type="slidenum">
              <a:rPr lang="en-IN" smtClean="0"/>
              <a:t>‹#›</a:t>
            </a:fld>
            <a:endParaRPr lang="en-IN"/>
          </a:p>
        </p:txBody>
      </p:sp>
    </p:spTree>
    <p:extLst>
      <p:ext uri="{BB962C8B-B14F-4D97-AF65-F5344CB8AC3E}">
        <p14:creationId xmlns:p14="http://schemas.microsoft.com/office/powerpoint/2010/main" val="1435333413"/>
      </p:ext>
    </p:extLst>
  </p:cSld>
  <p:clrMap bg1="lt1" tx1="dk1" bg2="lt2" tx2="dk2" accent1="accent1" accent2="accent2" accent3="accent3" accent4="accent4" accent5="accent5" accent6="accent6" hlink="hlink" folHlink="folHlink"/>
  <p:sldLayoutIdLst>
    <p:sldLayoutId id="2147483779" r:id="rId1"/>
    <p:sldLayoutId id="2147483780" r:id="rId2"/>
    <p:sldLayoutId id="2147483781" r:id="rId3"/>
    <p:sldLayoutId id="2147483782" r:id="rId4"/>
    <p:sldLayoutId id="2147483783" r:id="rId5"/>
    <p:sldLayoutId id="2147483784" r:id="rId6"/>
    <p:sldLayoutId id="2147483785" r:id="rId7"/>
    <p:sldLayoutId id="2147483786" r:id="rId8"/>
    <p:sldLayoutId id="2147483787" r:id="rId9"/>
    <p:sldLayoutId id="2147483788" r:id="rId10"/>
    <p:sldLayoutId id="2147483789" r:id="rId11"/>
    <p:sldLayoutId id="2147483790" r:id="rId12"/>
    <p:sldLayoutId id="2147483791" r:id="rId13"/>
    <p:sldLayoutId id="2147483792" r:id="rId14"/>
    <p:sldLayoutId id="2147483793" r:id="rId15"/>
    <p:sldLayoutId id="2147483794"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 Id="rId5"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2.xml"/><Relationship Id="rId6" Type="http://schemas.openxmlformats.org/officeDocument/2006/relationships/image" Target="../media/image15.jpg"/><Relationship Id="rId5" Type="http://schemas.openxmlformats.org/officeDocument/2006/relationships/image" Target="../media/image14.jpg"/><Relationship Id="rId4" Type="http://schemas.openxmlformats.org/officeDocument/2006/relationships/image" Target="../media/image1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github.com/Dileep0509/Classification-ofArrhythmia-by-Using-Deep-Learning-with-2-D-ECG-Spectral-ImageRepresentation"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F8A7FAFD-9BE9-3EFE-C6B6-628DD148F0E5}"/>
              </a:ext>
            </a:extLst>
          </p:cNvPr>
          <p:cNvSpPr>
            <a:spLocks noGrp="1"/>
          </p:cNvSpPr>
          <p:nvPr>
            <p:ph type="title"/>
          </p:nvPr>
        </p:nvSpPr>
        <p:spPr/>
        <p:txBody>
          <a:bodyPr/>
          <a:lstStyle/>
          <a:p>
            <a:r>
              <a:rPr lang="en-US" dirty="0"/>
              <a:t>          Department of Computer Science and Engineering</a:t>
            </a:r>
            <a:endParaRPr lang="en-IN" dirty="0"/>
          </a:p>
        </p:txBody>
      </p:sp>
      <p:pic>
        <p:nvPicPr>
          <p:cNvPr id="12" name="Picture Placeholder 11">
            <a:extLst>
              <a:ext uri="{FF2B5EF4-FFF2-40B4-BE49-F238E27FC236}">
                <a16:creationId xmlns:a16="http://schemas.microsoft.com/office/drawing/2014/main" id="{E3067020-B6B7-3172-FF80-DF5E3F1A2BF2}"/>
              </a:ext>
            </a:extLst>
          </p:cNvPr>
          <p:cNvPicPr>
            <a:picLocks noGrp="1" noChangeAspect="1"/>
          </p:cNvPicPr>
          <p:nvPr>
            <p:ph type="pic" idx="1"/>
          </p:nvPr>
        </p:nvPicPr>
        <p:blipFill rotWithShape="1">
          <a:blip r:embed="rId2">
            <a:extLst>
              <a:ext uri="{28A0092B-C50C-407E-A947-70E740481C1C}">
                <a14:useLocalDpi xmlns:a14="http://schemas.microsoft.com/office/drawing/2010/main" val="0"/>
              </a:ext>
            </a:extLst>
          </a:blip>
          <a:srcRect t="-45180" b="-45180"/>
          <a:stretch/>
        </p:blipFill>
        <p:spPr/>
      </p:pic>
      <p:sp>
        <p:nvSpPr>
          <p:cNvPr id="10" name="Text Placeholder 9">
            <a:extLst>
              <a:ext uri="{FF2B5EF4-FFF2-40B4-BE49-F238E27FC236}">
                <a16:creationId xmlns:a16="http://schemas.microsoft.com/office/drawing/2014/main" id="{3D3550E9-AB99-E79A-BEDA-A447401EBB77}"/>
              </a:ext>
            </a:extLst>
          </p:cNvPr>
          <p:cNvSpPr>
            <a:spLocks noGrp="1"/>
          </p:cNvSpPr>
          <p:nvPr>
            <p:ph type="body" sz="half" idx="2"/>
          </p:nvPr>
        </p:nvSpPr>
        <p:spPr/>
        <p:txBody>
          <a:bodyPr/>
          <a:lstStyle/>
          <a:p>
            <a:endParaRPr lang="en-IN" dirty="0"/>
          </a:p>
        </p:txBody>
      </p:sp>
    </p:spTree>
    <p:extLst>
      <p:ext uri="{BB962C8B-B14F-4D97-AF65-F5344CB8AC3E}">
        <p14:creationId xmlns:p14="http://schemas.microsoft.com/office/powerpoint/2010/main" val="5731378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260D4-8EB2-A2BA-4A30-DC1C72915F63}"/>
              </a:ext>
            </a:extLst>
          </p:cNvPr>
          <p:cNvSpPr>
            <a:spLocks noGrp="1"/>
          </p:cNvSpPr>
          <p:nvPr>
            <p:ph type="title"/>
          </p:nvPr>
        </p:nvSpPr>
        <p:spPr>
          <a:xfrm>
            <a:off x="533400" y="508000"/>
            <a:ext cx="8740603" cy="2336800"/>
          </a:xfrm>
        </p:spPr>
        <p:txBody>
          <a:bodyPr/>
          <a:lstStyle/>
          <a:p>
            <a:r>
              <a:rPr lang="en-US" dirty="0"/>
              <a:t>Classification Of Arrhythmia by using deep learning with 2-D ECG spectral Image Representation </a:t>
            </a:r>
            <a:endParaRPr lang="en-IN" dirty="0"/>
          </a:p>
        </p:txBody>
      </p:sp>
      <p:sp>
        <p:nvSpPr>
          <p:cNvPr id="3" name="Text Placeholder 2">
            <a:extLst>
              <a:ext uri="{FF2B5EF4-FFF2-40B4-BE49-F238E27FC236}">
                <a16:creationId xmlns:a16="http://schemas.microsoft.com/office/drawing/2014/main" id="{0AA41099-FBC7-3F8F-8D80-6C804D3602A4}"/>
              </a:ext>
            </a:extLst>
          </p:cNvPr>
          <p:cNvSpPr>
            <a:spLocks noGrp="1"/>
          </p:cNvSpPr>
          <p:nvPr>
            <p:ph type="body" idx="1"/>
          </p:nvPr>
        </p:nvSpPr>
        <p:spPr>
          <a:xfrm>
            <a:off x="571500" y="3314700"/>
            <a:ext cx="8702503" cy="3543300"/>
          </a:xfrm>
        </p:spPr>
        <p:txBody>
          <a:bodyPr/>
          <a:lstStyle/>
          <a:p>
            <a:r>
              <a:rPr lang="en-US" dirty="0"/>
              <a:t>Submitted by :</a:t>
            </a:r>
          </a:p>
          <a:p>
            <a:r>
              <a:rPr lang="en-US" dirty="0"/>
              <a:t>Ch Pradeep Kumar  (20Q71A05D8)</a:t>
            </a:r>
          </a:p>
          <a:p>
            <a:r>
              <a:rPr lang="en-US" dirty="0"/>
              <a:t>P Dileep Reddy       (20Q71A0597)</a:t>
            </a:r>
          </a:p>
          <a:p>
            <a:r>
              <a:rPr lang="en-US" dirty="0"/>
              <a:t>B Sai Kumar           (20Q71A05B5)</a:t>
            </a:r>
          </a:p>
          <a:p>
            <a:r>
              <a:rPr lang="en-US" dirty="0"/>
              <a:t>K Praveen Kumar   (20Q71A0579)</a:t>
            </a:r>
          </a:p>
          <a:p>
            <a:r>
              <a:rPr lang="en-US" dirty="0"/>
              <a:t>M Dhanush             (20Q71A0589)</a:t>
            </a:r>
          </a:p>
          <a:p>
            <a:endParaRPr lang="en-US" dirty="0"/>
          </a:p>
          <a:p>
            <a:r>
              <a:rPr lang="en-US" dirty="0"/>
              <a:t>Under the Faculty membership of </a:t>
            </a:r>
            <a:r>
              <a:rPr lang="en-US" dirty="0" err="1"/>
              <a:t>Mr</a:t>
            </a:r>
            <a:r>
              <a:rPr lang="en-US" dirty="0"/>
              <a:t> S </a:t>
            </a:r>
            <a:r>
              <a:rPr lang="en-US" dirty="0" err="1"/>
              <a:t>Kesava</a:t>
            </a:r>
            <a:r>
              <a:rPr lang="en-US" dirty="0"/>
              <a:t> Rao</a:t>
            </a:r>
          </a:p>
          <a:p>
            <a:endParaRPr lang="en-IN" dirty="0"/>
          </a:p>
        </p:txBody>
      </p:sp>
    </p:spTree>
    <p:extLst>
      <p:ext uri="{BB962C8B-B14F-4D97-AF65-F5344CB8AC3E}">
        <p14:creationId xmlns:p14="http://schemas.microsoft.com/office/powerpoint/2010/main" val="39466339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C7ABD-3B3B-CB28-A26C-6F130E49E3EE}"/>
              </a:ext>
            </a:extLst>
          </p:cNvPr>
          <p:cNvSpPr>
            <a:spLocks noGrp="1"/>
          </p:cNvSpPr>
          <p:nvPr>
            <p:ph type="title"/>
          </p:nvPr>
        </p:nvSpPr>
        <p:spPr/>
        <p:txBody>
          <a:bodyPr/>
          <a:lstStyle/>
          <a:p>
            <a:r>
              <a:rPr lang="en-US" dirty="0"/>
              <a:t>Project Description</a:t>
            </a:r>
            <a:endParaRPr lang="en-IN" dirty="0"/>
          </a:p>
        </p:txBody>
      </p:sp>
      <p:sp>
        <p:nvSpPr>
          <p:cNvPr id="3" name="Content Placeholder 2">
            <a:extLst>
              <a:ext uri="{FF2B5EF4-FFF2-40B4-BE49-F238E27FC236}">
                <a16:creationId xmlns:a16="http://schemas.microsoft.com/office/drawing/2014/main" id="{8F63F4ED-1BF8-9904-992D-458A4E77C719}"/>
              </a:ext>
            </a:extLst>
          </p:cNvPr>
          <p:cNvSpPr>
            <a:spLocks noGrp="1"/>
          </p:cNvSpPr>
          <p:nvPr>
            <p:ph idx="1"/>
          </p:nvPr>
        </p:nvSpPr>
        <p:spPr/>
        <p:txBody>
          <a:bodyPr>
            <a:normAutofit fontScale="92500"/>
          </a:bodyPr>
          <a:lstStyle/>
          <a:p>
            <a:r>
              <a:rPr lang="en-US" dirty="0"/>
              <a:t>According to the World Health Organization (WHO), cardiovascular diseases (CVDs) are the number one cause of death today.</a:t>
            </a:r>
          </a:p>
          <a:p>
            <a:r>
              <a:rPr lang="en-US" dirty="0"/>
              <a:t>Over 17.7 million people died from CVDs in the year 2017 all over the world which is about 31% of all deaths, and over 75% of these deaths occur in low and middle-income countries.</a:t>
            </a:r>
          </a:p>
          <a:p>
            <a:r>
              <a:rPr lang="en-US" dirty="0"/>
              <a:t>Arrhythmia is a representative type of CVD that refers to any irregular change from the normal heart rhythms. There are several types of arrhythmia including atrial fibrillation, premature contraction, ventricular fibrillation, and tachycardia.</a:t>
            </a:r>
          </a:p>
          <a:p>
            <a:r>
              <a:rPr lang="en-US" dirty="0"/>
              <a:t>In this project, we build an effective electrocardiogram (ECG) arrhythmia classification method using a convolutional neural network (CNN), in which we classify ECG into seven categories, one being normal and the other six being different types of arrhythmia using deep two-dimensional CNN with grayscale ECG images.</a:t>
            </a:r>
          </a:p>
          <a:p>
            <a:endParaRPr lang="en-IN" dirty="0"/>
          </a:p>
        </p:txBody>
      </p:sp>
    </p:spTree>
    <p:extLst>
      <p:ext uri="{BB962C8B-B14F-4D97-AF65-F5344CB8AC3E}">
        <p14:creationId xmlns:p14="http://schemas.microsoft.com/office/powerpoint/2010/main" val="13421290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C6D85-9651-E546-AD8D-EBE4BF1092F5}"/>
              </a:ext>
            </a:extLst>
          </p:cNvPr>
          <p:cNvSpPr>
            <a:spLocks noGrp="1"/>
          </p:cNvSpPr>
          <p:nvPr>
            <p:ph type="title"/>
          </p:nvPr>
        </p:nvSpPr>
        <p:spPr>
          <a:xfrm>
            <a:off x="330200" y="469900"/>
            <a:ext cx="4201662" cy="850900"/>
          </a:xfrm>
        </p:spPr>
        <p:txBody>
          <a:bodyPr/>
          <a:lstStyle/>
          <a:p>
            <a:r>
              <a:rPr lang="en-US" dirty="0"/>
              <a:t> Identified Problem</a:t>
            </a:r>
            <a:endParaRPr lang="en-IN" dirty="0"/>
          </a:p>
        </p:txBody>
      </p:sp>
      <p:pic>
        <p:nvPicPr>
          <p:cNvPr id="6" name="Content Placeholder 5">
            <a:extLst>
              <a:ext uri="{FF2B5EF4-FFF2-40B4-BE49-F238E27FC236}">
                <a16:creationId xmlns:a16="http://schemas.microsoft.com/office/drawing/2014/main" id="{1425654F-D355-429E-9FEC-942855DB010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760913" y="2088948"/>
            <a:ext cx="4513262" cy="2378479"/>
          </a:xfrm>
        </p:spPr>
      </p:pic>
      <p:sp>
        <p:nvSpPr>
          <p:cNvPr id="4" name="Text Placeholder 3">
            <a:extLst>
              <a:ext uri="{FF2B5EF4-FFF2-40B4-BE49-F238E27FC236}">
                <a16:creationId xmlns:a16="http://schemas.microsoft.com/office/drawing/2014/main" id="{0BC62525-CA45-70A2-ACE1-25EFA7CFD6C5}"/>
              </a:ext>
            </a:extLst>
          </p:cNvPr>
          <p:cNvSpPr>
            <a:spLocks noGrp="1"/>
          </p:cNvSpPr>
          <p:nvPr>
            <p:ph type="body" sz="half" idx="2"/>
          </p:nvPr>
        </p:nvSpPr>
        <p:spPr>
          <a:xfrm>
            <a:off x="355600" y="1612901"/>
            <a:ext cx="4176262" cy="3748618"/>
          </a:xfrm>
        </p:spPr>
        <p:txBody>
          <a:bodyPr/>
          <a:lstStyle/>
          <a:p>
            <a:pPr marL="285750" indent="-285750">
              <a:buFont typeface="Wingdings" panose="05000000000000000000" pitchFamily="2" charset="2"/>
              <a:buChar char="Ø"/>
            </a:pPr>
            <a:r>
              <a:rPr lang="en-US" dirty="0"/>
              <a:t>Cardiovascular diseases (CVDs) are the number one cause of death today.</a:t>
            </a:r>
          </a:p>
          <a:p>
            <a:pPr marL="285750" indent="-285750">
              <a:buFont typeface="Wingdings" panose="05000000000000000000" pitchFamily="2" charset="2"/>
              <a:buChar char="Ø"/>
            </a:pPr>
            <a:r>
              <a:rPr lang="en-US" dirty="0"/>
              <a:t>Over 17.7 million people died from CVDs in the year 2017 all over the world which is about 31% of all deaths, and over 75% of these deaths occur in low and middle-income countries.</a:t>
            </a:r>
          </a:p>
          <a:p>
            <a:pPr marL="285750" indent="-285750">
              <a:buFont typeface="Wingdings" panose="05000000000000000000" pitchFamily="2" charset="2"/>
              <a:buChar char="Ø"/>
            </a:pPr>
            <a:r>
              <a:rPr lang="en-US" dirty="0"/>
              <a:t>Arrhythmia is a representative type of CVD that refers to any irregular change from the normal heart rhythms. </a:t>
            </a:r>
          </a:p>
          <a:p>
            <a:pPr marL="285750" indent="-285750">
              <a:buFont typeface="Wingdings" panose="05000000000000000000" pitchFamily="2" charset="2"/>
              <a:buChar char="Ø"/>
            </a:pPr>
            <a:r>
              <a:rPr lang="en-US" dirty="0"/>
              <a:t>There are several types of arrhythmia including atrial fibrillation, premature contraction, ventricular fibrillation, and tachycardia.</a:t>
            </a:r>
          </a:p>
          <a:p>
            <a:endParaRPr lang="en-IN" dirty="0"/>
          </a:p>
        </p:txBody>
      </p:sp>
    </p:spTree>
    <p:extLst>
      <p:ext uri="{BB962C8B-B14F-4D97-AF65-F5344CB8AC3E}">
        <p14:creationId xmlns:p14="http://schemas.microsoft.com/office/powerpoint/2010/main" val="40634530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5A6CF-3B16-4D70-3F55-BE03F074845D}"/>
              </a:ext>
            </a:extLst>
          </p:cNvPr>
          <p:cNvSpPr>
            <a:spLocks noGrp="1"/>
          </p:cNvSpPr>
          <p:nvPr>
            <p:ph type="title"/>
          </p:nvPr>
        </p:nvSpPr>
        <p:spPr/>
        <p:txBody>
          <a:bodyPr/>
          <a:lstStyle/>
          <a:p>
            <a:r>
              <a:rPr lang="en-US" dirty="0"/>
              <a:t> Proposed Solution</a:t>
            </a:r>
            <a:endParaRPr lang="en-IN" dirty="0"/>
          </a:p>
        </p:txBody>
      </p:sp>
      <p:sp>
        <p:nvSpPr>
          <p:cNvPr id="3" name="Content Placeholder 2">
            <a:extLst>
              <a:ext uri="{FF2B5EF4-FFF2-40B4-BE49-F238E27FC236}">
                <a16:creationId xmlns:a16="http://schemas.microsoft.com/office/drawing/2014/main" id="{BB5D0AAB-4FFA-2F2C-5867-0A7427CA3665}"/>
              </a:ext>
            </a:extLst>
          </p:cNvPr>
          <p:cNvSpPr>
            <a:spLocks noGrp="1"/>
          </p:cNvSpPr>
          <p:nvPr>
            <p:ph idx="1"/>
          </p:nvPr>
        </p:nvSpPr>
        <p:spPr/>
        <p:txBody>
          <a:bodyPr/>
          <a:lstStyle/>
          <a:p>
            <a:r>
              <a:rPr lang="en-US" dirty="0"/>
              <a:t>An "ambulatory electrocardiogram" ( or an ECG) about the size of a postcard or digital camera that the patient will be using for 1 to 2 days, or up to 2 weeks.</a:t>
            </a:r>
          </a:p>
          <a:p>
            <a:r>
              <a:rPr lang="en-US" dirty="0"/>
              <a:t>The test measures the movement of electrical signals or waves through the heart.</a:t>
            </a:r>
          </a:p>
          <a:p>
            <a:r>
              <a:rPr lang="en-US" dirty="0"/>
              <a:t>These signals tell the heart to contract (squeeze) and pump blood.</a:t>
            </a:r>
          </a:p>
          <a:p>
            <a:r>
              <a:rPr lang="en-US" dirty="0"/>
              <a:t>The patient will have electrodes taped to your skin. It's painless, although some people have mild skin irritation from the tape used to attach the electrodes to the chest.</a:t>
            </a:r>
          </a:p>
          <a:p>
            <a:r>
              <a:rPr lang="en-US" dirty="0"/>
              <a:t>They can do everything but shower or bathe while wearing the electrodes.</a:t>
            </a:r>
          </a:p>
          <a:p>
            <a:r>
              <a:rPr lang="en-US" dirty="0"/>
              <a:t>After the test period, patient will go back to see your doctor.</a:t>
            </a:r>
            <a:endParaRPr lang="en-IN" dirty="0"/>
          </a:p>
        </p:txBody>
      </p:sp>
    </p:spTree>
    <p:extLst>
      <p:ext uri="{BB962C8B-B14F-4D97-AF65-F5344CB8AC3E}">
        <p14:creationId xmlns:p14="http://schemas.microsoft.com/office/powerpoint/2010/main" val="22359245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2A609-1386-FC18-7896-96AC7F6D3721}"/>
              </a:ext>
            </a:extLst>
          </p:cNvPr>
          <p:cNvSpPr>
            <a:spLocks noGrp="1"/>
          </p:cNvSpPr>
          <p:nvPr>
            <p:ph type="title"/>
          </p:nvPr>
        </p:nvSpPr>
        <p:spPr/>
        <p:txBody>
          <a:bodyPr/>
          <a:lstStyle/>
          <a:p>
            <a:r>
              <a:rPr lang="en-US" dirty="0"/>
              <a:t>Role of Deep Learning</a:t>
            </a:r>
            <a:endParaRPr lang="en-IN" dirty="0"/>
          </a:p>
        </p:txBody>
      </p:sp>
      <p:sp>
        <p:nvSpPr>
          <p:cNvPr id="4" name="Content Placeholder 3">
            <a:extLst>
              <a:ext uri="{FF2B5EF4-FFF2-40B4-BE49-F238E27FC236}">
                <a16:creationId xmlns:a16="http://schemas.microsoft.com/office/drawing/2014/main" id="{D9A46066-7BAB-DAC2-3991-095EEAE41D46}"/>
              </a:ext>
            </a:extLst>
          </p:cNvPr>
          <p:cNvSpPr>
            <a:spLocks noGrp="1"/>
          </p:cNvSpPr>
          <p:nvPr>
            <p:ph sz="half" idx="1"/>
          </p:nvPr>
        </p:nvSpPr>
        <p:spPr>
          <a:xfrm>
            <a:off x="596900" y="1524000"/>
            <a:ext cx="4394200" cy="4699000"/>
          </a:xfrm>
        </p:spPr>
        <p:txBody>
          <a:bodyPr>
            <a:normAutofit fontScale="92500" lnSpcReduction="10000"/>
          </a:bodyPr>
          <a:lstStyle/>
          <a:p>
            <a:r>
              <a:rPr lang="en-US" dirty="0"/>
              <a:t>Deep learning is a branch of machine learning which is completely based on artificial neural networks, as neural network is going to mimic the human brain so deep learning is also a kind of mimic of human brain.</a:t>
            </a:r>
          </a:p>
          <a:p>
            <a:r>
              <a:rPr lang="en-US" dirty="0"/>
              <a:t>In deep learning, we don’t need to explicitly program everything.</a:t>
            </a:r>
          </a:p>
          <a:p>
            <a:r>
              <a:rPr lang="en-US" dirty="0"/>
              <a:t>The concept of deep learning is not new. It has been around for a couple of years now. It’s on hype nowadays because earlier we did not have that much processing power and a lot of data.</a:t>
            </a:r>
          </a:p>
          <a:p>
            <a:r>
              <a:rPr lang="en-US" dirty="0"/>
              <a:t>As in the last 20 years, the processing power increases exponentially, deep learning and machine learning came in the picture. </a:t>
            </a:r>
            <a:endParaRPr lang="en-IN" dirty="0"/>
          </a:p>
        </p:txBody>
      </p:sp>
      <p:pic>
        <p:nvPicPr>
          <p:cNvPr id="7" name="Content Placeholder 6">
            <a:extLst>
              <a:ext uri="{FF2B5EF4-FFF2-40B4-BE49-F238E27FC236}">
                <a16:creationId xmlns:a16="http://schemas.microsoft.com/office/drawing/2014/main" id="{3EFB2008-46D8-FE0C-CA7F-2429F85E13AA}"/>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124450" y="2767806"/>
            <a:ext cx="4114800" cy="2667000"/>
          </a:xfrm>
        </p:spPr>
      </p:pic>
    </p:spTree>
    <p:extLst>
      <p:ext uri="{BB962C8B-B14F-4D97-AF65-F5344CB8AC3E}">
        <p14:creationId xmlns:p14="http://schemas.microsoft.com/office/powerpoint/2010/main" val="16109800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C078C6B-3B48-256F-4DF5-D2A224E403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4024" y="622301"/>
            <a:ext cx="8680021" cy="4543514"/>
          </a:xfrm>
          <a:prstGeom prst="rect">
            <a:avLst/>
          </a:prstGeom>
        </p:spPr>
      </p:pic>
    </p:spTree>
    <p:extLst>
      <p:ext uri="{BB962C8B-B14F-4D97-AF65-F5344CB8AC3E}">
        <p14:creationId xmlns:p14="http://schemas.microsoft.com/office/powerpoint/2010/main" val="7233396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4CC40-E639-3DFF-AB03-656A51A2BFBD}"/>
              </a:ext>
            </a:extLst>
          </p:cNvPr>
          <p:cNvSpPr>
            <a:spLocks noGrp="1"/>
          </p:cNvSpPr>
          <p:nvPr>
            <p:ph type="title"/>
          </p:nvPr>
        </p:nvSpPr>
        <p:spPr/>
        <p:txBody>
          <a:bodyPr/>
          <a:lstStyle/>
          <a:p>
            <a:r>
              <a:rPr lang="en-US" dirty="0"/>
              <a:t>Experimental Investigation</a:t>
            </a:r>
            <a:endParaRPr lang="en-IN" dirty="0"/>
          </a:p>
        </p:txBody>
      </p:sp>
      <p:sp>
        <p:nvSpPr>
          <p:cNvPr id="3" name="Text Placeholder 2">
            <a:extLst>
              <a:ext uri="{FF2B5EF4-FFF2-40B4-BE49-F238E27FC236}">
                <a16:creationId xmlns:a16="http://schemas.microsoft.com/office/drawing/2014/main" id="{18E0F9C4-DF2F-A348-0D15-A476322EBC1F}"/>
              </a:ext>
            </a:extLst>
          </p:cNvPr>
          <p:cNvSpPr>
            <a:spLocks noGrp="1"/>
          </p:cNvSpPr>
          <p:nvPr>
            <p:ph type="body" idx="1"/>
          </p:nvPr>
        </p:nvSpPr>
        <p:spPr>
          <a:xfrm>
            <a:off x="469901" y="1612901"/>
            <a:ext cx="4391468" cy="558800"/>
          </a:xfrm>
        </p:spPr>
        <p:txBody>
          <a:bodyPr/>
          <a:lstStyle/>
          <a:p>
            <a:r>
              <a:rPr lang="en-US" dirty="0"/>
              <a:t>Conventional Neural Network(CNN)</a:t>
            </a:r>
            <a:endParaRPr lang="en-IN" dirty="0"/>
          </a:p>
        </p:txBody>
      </p:sp>
      <p:sp>
        <p:nvSpPr>
          <p:cNvPr id="4" name="Content Placeholder 3">
            <a:extLst>
              <a:ext uri="{FF2B5EF4-FFF2-40B4-BE49-F238E27FC236}">
                <a16:creationId xmlns:a16="http://schemas.microsoft.com/office/drawing/2014/main" id="{73EB05CD-DC09-B1AF-494F-234AAA4746D0}"/>
              </a:ext>
            </a:extLst>
          </p:cNvPr>
          <p:cNvSpPr>
            <a:spLocks noGrp="1"/>
          </p:cNvSpPr>
          <p:nvPr>
            <p:ph sz="half" idx="2"/>
          </p:nvPr>
        </p:nvSpPr>
        <p:spPr>
          <a:xfrm>
            <a:off x="368301" y="2324101"/>
            <a:ext cx="4493068" cy="3717262"/>
          </a:xfrm>
        </p:spPr>
        <p:txBody>
          <a:bodyPr>
            <a:normAutofit fontScale="92500" lnSpcReduction="20000"/>
          </a:bodyPr>
          <a:lstStyle/>
          <a:p>
            <a:r>
              <a:rPr lang="en-US" dirty="0"/>
              <a:t>Convolutional Layer 2-D : A 2-D convolutional layer applies sliding convolutional filters to 2-D input.</a:t>
            </a:r>
          </a:p>
          <a:p>
            <a:r>
              <a:rPr lang="en-IN" dirty="0"/>
              <a:t>Pooling Layer </a:t>
            </a:r>
            <a:r>
              <a:rPr lang="en-US" dirty="0"/>
              <a:t>: Pooling layers are used to reduce the dimensions of the feature maps.</a:t>
            </a:r>
          </a:p>
          <a:p>
            <a:r>
              <a:rPr lang="en-IN" dirty="0"/>
              <a:t>Fully-Connected layer</a:t>
            </a:r>
            <a:r>
              <a:rPr lang="en-US" dirty="0"/>
              <a:t> : After extracting features from multiple convolution layers and pooling layers, the fully-connected layer is used to expand the connection of all features</a:t>
            </a:r>
          </a:p>
          <a:p>
            <a:r>
              <a:rPr lang="en-IN" dirty="0"/>
              <a:t>Dropout Layer : </a:t>
            </a:r>
            <a:r>
              <a:rPr lang="en-US" dirty="0"/>
              <a:t>The dropout layer will temporarily disconnect some neurons from the network.</a:t>
            </a:r>
          </a:p>
          <a:p>
            <a:endParaRPr lang="en-IN" dirty="0"/>
          </a:p>
        </p:txBody>
      </p:sp>
      <p:sp>
        <p:nvSpPr>
          <p:cNvPr id="5" name="Text Placeholder 4">
            <a:extLst>
              <a:ext uri="{FF2B5EF4-FFF2-40B4-BE49-F238E27FC236}">
                <a16:creationId xmlns:a16="http://schemas.microsoft.com/office/drawing/2014/main" id="{2736778C-C592-23B0-2B9D-68C4476360DC}"/>
              </a:ext>
            </a:extLst>
          </p:cNvPr>
          <p:cNvSpPr>
            <a:spLocks noGrp="1"/>
          </p:cNvSpPr>
          <p:nvPr>
            <p:ph type="body" sz="quarter" idx="3"/>
          </p:nvPr>
        </p:nvSpPr>
        <p:spPr/>
        <p:txBody>
          <a:bodyPr/>
          <a:lstStyle/>
          <a:p>
            <a:endParaRPr lang="en-IN" dirty="0"/>
          </a:p>
        </p:txBody>
      </p:sp>
      <p:pic>
        <p:nvPicPr>
          <p:cNvPr id="8" name="Content Placeholder 7">
            <a:extLst>
              <a:ext uri="{FF2B5EF4-FFF2-40B4-BE49-F238E27FC236}">
                <a16:creationId xmlns:a16="http://schemas.microsoft.com/office/drawing/2014/main" id="{DFD96789-E753-E051-6EAF-99432E2B2C4D}"/>
              </a:ext>
            </a:extLst>
          </p:cNvPr>
          <p:cNvPicPr>
            <a:picLocks noGrp="1" noChangeAspect="1"/>
          </p:cNvPicPr>
          <p:nvPr>
            <p:ph sz="quarter" idx="4"/>
          </p:nvPr>
        </p:nvPicPr>
        <p:blipFill>
          <a:blip r:embed="rId2">
            <a:extLst>
              <a:ext uri="{28A0092B-C50C-407E-A947-70E740481C1C}">
                <a14:useLocalDpi xmlns:a14="http://schemas.microsoft.com/office/drawing/2010/main" val="0"/>
              </a:ext>
            </a:extLst>
          </a:blip>
          <a:stretch>
            <a:fillRect/>
          </a:stretch>
        </p:blipFill>
        <p:spPr>
          <a:xfrm>
            <a:off x="5087938" y="3342878"/>
            <a:ext cx="4186237" cy="2093118"/>
          </a:xfrm>
        </p:spPr>
      </p:pic>
    </p:spTree>
    <p:extLst>
      <p:ext uri="{BB962C8B-B14F-4D97-AF65-F5344CB8AC3E}">
        <p14:creationId xmlns:p14="http://schemas.microsoft.com/office/powerpoint/2010/main" val="1854947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9F14DBB-280B-7D50-AC65-471A001313EA}"/>
              </a:ext>
            </a:extLst>
          </p:cNvPr>
          <p:cNvSpPr>
            <a:spLocks noGrp="1"/>
          </p:cNvSpPr>
          <p:nvPr>
            <p:ph type="title"/>
          </p:nvPr>
        </p:nvSpPr>
        <p:spPr/>
        <p:txBody>
          <a:bodyPr/>
          <a:lstStyle/>
          <a:p>
            <a:r>
              <a:rPr lang="en-US" dirty="0"/>
              <a:t>Project Flow</a:t>
            </a:r>
            <a:endParaRPr lang="en-IN" dirty="0"/>
          </a:p>
        </p:txBody>
      </p:sp>
      <p:graphicFrame>
        <p:nvGraphicFramePr>
          <p:cNvPr id="6" name="Diagram 5">
            <a:extLst>
              <a:ext uri="{FF2B5EF4-FFF2-40B4-BE49-F238E27FC236}">
                <a16:creationId xmlns:a16="http://schemas.microsoft.com/office/drawing/2014/main" id="{132138D9-EC33-3A31-7530-DFEB2ABBFF35}"/>
              </a:ext>
            </a:extLst>
          </p:cNvPr>
          <p:cNvGraphicFramePr/>
          <p:nvPr>
            <p:extLst>
              <p:ext uri="{D42A27DB-BD31-4B8C-83A1-F6EECF244321}">
                <p14:modId xmlns:p14="http://schemas.microsoft.com/office/powerpoint/2010/main" val="3266905809"/>
              </p:ext>
            </p:extLst>
          </p:nvPr>
        </p:nvGraphicFramePr>
        <p:xfrm>
          <a:off x="876300" y="1790700"/>
          <a:ext cx="9283700" cy="43476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04735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1EC12-B575-32B1-E875-0035920DD9DA}"/>
              </a:ext>
            </a:extLst>
          </p:cNvPr>
          <p:cNvSpPr>
            <a:spLocks noGrp="1"/>
          </p:cNvSpPr>
          <p:nvPr>
            <p:ph type="title"/>
          </p:nvPr>
        </p:nvSpPr>
        <p:spPr/>
        <p:txBody>
          <a:bodyPr/>
          <a:lstStyle/>
          <a:p>
            <a:r>
              <a:rPr lang="en-US" dirty="0"/>
              <a:t>Project Structure</a:t>
            </a:r>
            <a:endParaRPr lang="en-IN" dirty="0"/>
          </a:p>
        </p:txBody>
      </p:sp>
      <p:pic>
        <p:nvPicPr>
          <p:cNvPr id="5" name="Content Placeholder 4">
            <a:extLst>
              <a:ext uri="{FF2B5EF4-FFF2-40B4-BE49-F238E27FC236}">
                <a16:creationId xmlns:a16="http://schemas.microsoft.com/office/drawing/2014/main" id="{65496F24-51C5-FCD4-DAF0-A755D86F2B5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378200" y="1350832"/>
            <a:ext cx="2725230" cy="4691194"/>
          </a:xfrm>
        </p:spPr>
      </p:pic>
    </p:spTree>
    <p:extLst>
      <p:ext uri="{BB962C8B-B14F-4D97-AF65-F5344CB8AC3E}">
        <p14:creationId xmlns:p14="http://schemas.microsoft.com/office/powerpoint/2010/main" val="14204208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C1A14-F879-6E3A-686B-8EC4639E38F9}"/>
              </a:ext>
            </a:extLst>
          </p:cNvPr>
          <p:cNvSpPr>
            <a:spLocks noGrp="1"/>
          </p:cNvSpPr>
          <p:nvPr>
            <p:ph type="title"/>
          </p:nvPr>
        </p:nvSpPr>
        <p:spPr/>
        <p:txBody>
          <a:bodyPr/>
          <a:lstStyle/>
          <a:p>
            <a:r>
              <a:rPr lang="en-US" dirty="0"/>
              <a:t>Project Output</a:t>
            </a:r>
            <a:endParaRPr lang="en-IN" dirty="0"/>
          </a:p>
        </p:txBody>
      </p:sp>
      <p:pic>
        <p:nvPicPr>
          <p:cNvPr id="6" name="Content Placeholder 5">
            <a:extLst>
              <a:ext uri="{FF2B5EF4-FFF2-40B4-BE49-F238E27FC236}">
                <a16:creationId xmlns:a16="http://schemas.microsoft.com/office/drawing/2014/main" id="{AF3A8952-7207-8E0F-B21D-89D8D27527F4}"/>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89671" y="1691421"/>
            <a:ext cx="3803845" cy="2355971"/>
          </a:xfrm>
        </p:spPr>
      </p:pic>
      <p:pic>
        <p:nvPicPr>
          <p:cNvPr id="8" name="Content Placeholder 7">
            <a:extLst>
              <a:ext uri="{FF2B5EF4-FFF2-40B4-BE49-F238E27FC236}">
                <a16:creationId xmlns:a16="http://schemas.microsoft.com/office/drawing/2014/main" id="{CFFC2905-9B8A-BA4A-D520-802190579443}"/>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5470426" y="1653329"/>
            <a:ext cx="3854648" cy="2051155"/>
          </a:xfrm>
        </p:spPr>
      </p:pic>
      <p:pic>
        <p:nvPicPr>
          <p:cNvPr id="10" name="Picture 9">
            <a:extLst>
              <a:ext uri="{FF2B5EF4-FFF2-40B4-BE49-F238E27FC236}">
                <a16:creationId xmlns:a16="http://schemas.microsoft.com/office/drawing/2014/main" id="{1905954C-1E14-B158-A05A-0C9B64FC643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7833" y="4406901"/>
            <a:ext cx="3837967" cy="1917744"/>
          </a:xfrm>
          <a:prstGeom prst="rect">
            <a:avLst/>
          </a:prstGeom>
        </p:spPr>
      </p:pic>
      <p:pic>
        <p:nvPicPr>
          <p:cNvPr id="12" name="Picture 11">
            <a:extLst>
              <a:ext uri="{FF2B5EF4-FFF2-40B4-BE49-F238E27FC236}">
                <a16:creationId xmlns:a16="http://schemas.microsoft.com/office/drawing/2014/main" id="{F63B2191-32E8-0F08-E393-E4E94C20604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62601" y="4359124"/>
            <a:ext cx="3673560" cy="1924246"/>
          </a:xfrm>
          <a:prstGeom prst="rect">
            <a:avLst/>
          </a:prstGeom>
        </p:spPr>
      </p:pic>
    </p:spTree>
    <p:extLst>
      <p:ext uri="{BB962C8B-B14F-4D97-AF65-F5344CB8AC3E}">
        <p14:creationId xmlns:p14="http://schemas.microsoft.com/office/powerpoint/2010/main" val="40843585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5AE50-35E8-C2D9-8B7D-655B28DFBEA0}"/>
              </a:ext>
            </a:extLst>
          </p:cNvPr>
          <p:cNvSpPr>
            <a:spLocks noGrp="1"/>
          </p:cNvSpPr>
          <p:nvPr>
            <p:ph type="title"/>
          </p:nvPr>
        </p:nvSpPr>
        <p:spPr/>
        <p:txBody>
          <a:bodyPr/>
          <a:lstStyle/>
          <a:p>
            <a:endParaRPr lang="en-IN" dirty="0"/>
          </a:p>
        </p:txBody>
      </p:sp>
      <p:sp>
        <p:nvSpPr>
          <p:cNvPr id="3" name="Text Placeholder 2">
            <a:extLst>
              <a:ext uri="{FF2B5EF4-FFF2-40B4-BE49-F238E27FC236}">
                <a16:creationId xmlns:a16="http://schemas.microsoft.com/office/drawing/2014/main" id="{1F6B98B1-A9E1-EA87-E63B-FD1E162028D4}"/>
              </a:ext>
            </a:extLst>
          </p:cNvPr>
          <p:cNvSpPr>
            <a:spLocks noGrp="1"/>
          </p:cNvSpPr>
          <p:nvPr>
            <p:ph type="body" idx="1"/>
          </p:nvPr>
        </p:nvSpPr>
        <p:spPr/>
        <p:txBody>
          <a:bodyPr/>
          <a:lstStyle/>
          <a:p>
            <a:r>
              <a:rPr lang="en-US" dirty="0"/>
              <a:t>Advantages</a:t>
            </a:r>
            <a:endParaRPr lang="en-IN" dirty="0"/>
          </a:p>
        </p:txBody>
      </p:sp>
      <p:sp>
        <p:nvSpPr>
          <p:cNvPr id="4" name="Content Placeholder 3">
            <a:extLst>
              <a:ext uri="{FF2B5EF4-FFF2-40B4-BE49-F238E27FC236}">
                <a16:creationId xmlns:a16="http://schemas.microsoft.com/office/drawing/2014/main" id="{7C3BC160-5C0D-E527-763A-BF36FDD4DA3F}"/>
              </a:ext>
            </a:extLst>
          </p:cNvPr>
          <p:cNvSpPr>
            <a:spLocks noGrp="1"/>
          </p:cNvSpPr>
          <p:nvPr>
            <p:ph sz="half" idx="2"/>
          </p:nvPr>
        </p:nvSpPr>
        <p:spPr/>
        <p:txBody>
          <a:bodyPr/>
          <a:lstStyle/>
          <a:p>
            <a:r>
              <a:rPr lang="en-US" dirty="0"/>
              <a:t>The proposed model predicts Arrhythmia in images with a high accuracy rate of nearly 98%.</a:t>
            </a:r>
          </a:p>
          <a:p>
            <a:r>
              <a:rPr lang="en-US" dirty="0"/>
              <a:t>The early detection of Arrhythmia gives better understanding of disease causes, initiates therapeutic interventions and enables developing appropriate treatments. </a:t>
            </a:r>
            <a:endParaRPr lang="en-IN" dirty="0"/>
          </a:p>
        </p:txBody>
      </p:sp>
      <p:sp>
        <p:nvSpPr>
          <p:cNvPr id="5" name="Text Placeholder 4">
            <a:extLst>
              <a:ext uri="{FF2B5EF4-FFF2-40B4-BE49-F238E27FC236}">
                <a16:creationId xmlns:a16="http://schemas.microsoft.com/office/drawing/2014/main" id="{1D1F2AC9-B38B-C88A-BA6A-B781B62815F7}"/>
              </a:ext>
            </a:extLst>
          </p:cNvPr>
          <p:cNvSpPr>
            <a:spLocks noGrp="1"/>
          </p:cNvSpPr>
          <p:nvPr>
            <p:ph type="body" sz="quarter" idx="3"/>
          </p:nvPr>
        </p:nvSpPr>
        <p:spPr/>
        <p:txBody>
          <a:bodyPr/>
          <a:lstStyle/>
          <a:p>
            <a:r>
              <a:rPr lang="en-US" dirty="0"/>
              <a:t>Disadvantages</a:t>
            </a:r>
            <a:endParaRPr lang="en-IN" dirty="0"/>
          </a:p>
        </p:txBody>
      </p:sp>
      <p:sp>
        <p:nvSpPr>
          <p:cNvPr id="6" name="Content Placeholder 5">
            <a:extLst>
              <a:ext uri="{FF2B5EF4-FFF2-40B4-BE49-F238E27FC236}">
                <a16:creationId xmlns:a16="http://schemas.microsoft.com/office/drawing/2014/main" id="{9350E6CA-0826-792E-C966-B0638EB9FB59}"/>
              </a:ext>
            </a:extLst>
          </p:cNvPr>
          <p:cNvSpPr>
            <a:spLocks noGrp="1"/>
          </p:cNvSpPr>
          <p:nvPr>
            <p:ph sz="quarter" idx="4"/>
          </p:nvPr>
        </p:nvSpPr>
        <p:spPr/>
        <p:txBody>
          <a:bodyPr/>
          <a:lstStyle/>
          <a:p>
            <a:r>
              <a:rPr lang="en-US" dirty="0"/>
              <a:t> Not useful for identifying the different stages of Arrhythmia disease.</a:t>
            </a:r>
          </a:p>
          <a:p>
            <a:r>
              <a:rPr lang="en-US" dirty="0"/>
              <a:t> Not useful in monitoring motor symptoms.</a:t>
            </a:r>
            <a:endParaRPr lang="en-IN" dirty="0"/>
          </a:p>
        </p:txBody>
      </p:sp>
    </p:spTree>
    <p:extLst>
      <p:ext uri="{BB962C8B-B14F-4D97-AF65-F5344CB8AC3E}">
        <p14:creationId xmlns:p14="http://schemas.microsoft.com/office/powerpoint/2010/main" val="31582906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02A895-326A-C9D1-9CE2-A6F3D9567B65}"/>
              </a:ext>
            </a:extLst>
          </p:cNvPr>
          <p:cNvSpPr>
            <a:spLocks noGrp="1"/>
          </p:cNvSpPr>
          <p:nvPr>
            <p:ph type="title"/>
          </p:nvPr>
        </p:nvSpPr>
        <p:spPr/>
        <p:txBody>
          <a:bodyPr/>
          <a:lstStyle/>
          <a:p>
            <a:r>
              <a:rPr lang="en-US" dirty="0"/>
              <a:t>Virtual Internship Certificate</a:t>
            </a:r>
            <a:endParaRPr lang="en-IN" dirty="0"/>
          </a:p>
        </p:txBody>
      </p:sp>
      <p:pic>
        <p:nvPicPr>
          <p:cNvPr id="12" name="Content Placeholder 11">
            <a:extLst>
              <a:ext uri="{FF2B5EF4-FFF2-40B4-BE49-F238E27FC236}">
                <a16:creationId xmlns:a16="http://schemas.microsoft.com/office/drawing/2014/main" id="{2B42CD61-9F92-9A92-18F4-10556CEACF8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7200" y="1576389"/>
            <a:ext cx="2737000" cy="2563812"/>
          </a:xfrm>
        </p:spPr>
      </p:pic>
      <p:pic>
        <p:nvPicPr>
          <p:cNvPr id="14" name="Picture 13">
            <a:extLst>
              <a:ext uri="{FF2B5EF4-FFF2-40B4-BE49-F238E27FC236}">
                <a16:creationId xmlns:a16="http://schemas.microsoft.com/office/drawing/2014/main" id="{115B5D5E-73EC-8E26-A6A7-2289A7222A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78200" y="1739900"/>
            <a:ext cx="2832100" cy="2463800"/>
          </a:xfrm>
          <a:prstGeom prst="rect">
            <a:avLst/>
          </a:prstGeom>
        </p:spPr>
      </p:pic>
      <p:pic>
        <p:nvPicPr>
          <p:cNvPr id="16" name="Picture 15">
            <a:extLst>
              <a:ext uri="{FF2B5EF4-FFF2-40B4-BE49-F238E27FC236}">
                <a16:creationId xmlns:a16="http://schemas.microsoft.com/office/drawing/2014/main" id="{DA85AFDB-61B8-C0B7-49B8-DE973B29C12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04000" y="1828800"/>
            <a:ext cx="2501900" cy="2514600"/>
          </a:xfrm>
          <a:prstGeom prst="rect">
            <a:avLst/>
          </a:prstGeom>
        </p:spPr>
      </p:pic>
      <p:pic>
        <p:nvPicPr>
          <p:cNvPr id="18" name="Picture 17">
            <a:extLst>
              <a:ext uri="{FF2B5EF4-FFF2-40B4-BE49-F238E27FC236}">
                <a16:creationId xmlns:a16="http://schemas.microsoft.com/office/drawing/2014/main" id="{08FBD00D-0BA2-D033-BBB3-AB9F28E88E5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2600" y="4241800"/>
            <a:ext cx="2743200" cy="2400300"/>
          </a:xfrm>
          <a:prstGeom prst="rect">
            <a:avLst/>
          </a:prstGeom>
        </p:spPr>
      </p:pic>
      <p:pic>
        <p:nvPicPr>
          <p:cNvPr id="20" name="Picture 19">
            <a:extLst>
              <a:ext uri="{FF2B5EF4-FFF2-40B4-BE49-F238E27FC236}">
                <a16:creationId xmlns:a16="http://schemas.microsoft.com/office/drawing/2014/main" id="{5D8D7EA6-F4B5-BB9F-8C39-34F800AED63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454399" y="4292600"/>
            <a:ext cx="2895601" cy="2451100"/>
          </a:xfrm>
          <a:prstGeom prst="rect">
            <a:avLst/>
          </a:prstGeom>
        </p:spPr>
      </p:pic>
    </p:spTree>
    <p:extLst>
      <p:ext uri="{BB962C8B-B14F-4D97-AF65-F5344CB8AC3E}">
        <p14:creationId xmlns:p14="http://schemas.microsoft.com/office/powerpoint/2010/main" val="5070409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734B6-2595-34B4-B8FA-1381272A591F}"/>
              </a:ext>
            </a:extLst>
          </p:cNvPr>
          <p:cNvSpPr>
            <a:spLocks noGrp="1"/>
          </p:cNvSpPr>
          <p:nvPr>
            <p:ph type="title"/>
          </p:nvPr>
        </p:nvSpPr>
        <p:spPr/>
        <p:txBody>
          <a:bodyPr/>
          <a:lstStyle/>
          <a:p>
            <a:r>
              <a:rPr lang="en-US" dirty="0"/>
              <a:t>Future Scope</a:t>
            </a:r>
            <a:endParaRPr lang="en-IN" dirty="0"/>
          </a:p>
        </p:txBody>
      </p:sp>
      <p:sp>
        <p:nvSpPr>
          <p:cNvPr id="3" name="Content Placeholder 2">
            <a:extLst>
              <a:ext uri="{FF2B5EF4-FFF2-40B4-BE49-F238E27FC236}">
                <a16:creationId xmlns:a16="http://schemas.microsoft.com/office/drawing/2014/main" id="{F8310F6B-4CBA-652F-DF5A-F0D0600982BE}"/>
              </a:ext>
            </a:extLst>
          </p:cNvPr>
          <p:cNvSpPr>
            <a:spLocks noGrp="1"/>
          </p:cNvSpPr>
          <p:nvPr>
            <p:ph idx="1"/>
          </p:nvPr>
        </p:nvSpPr>
        <p:spPr/>
        <p:txBody>
          <a:bodyPr/>
          <a:lstStyle/>
          <a:p>
            <a:r>
              <a:rPr lang="en-US" dirty="0"/>
              <a:t>For future work, it would be interesting to explore the use of optimization techniques to find a feasible design and solution. The limitation of our study is that we have yet to apply any optimization techniques to optimize the model parameters and we believe that with the implementation of the optimization, it will be able to further elevate the performance of the proposed solution to the next level.</a:t>
            </a:r>
            <a:endParaRPr lang="en-IN" dirty="0"/>
          </a:p>
        </p:txBody>
      </p:sp>
    </p:spTree>
    <p:extLst>
      <p:ext uri="{BB962C8B-B14F-4D97-AF65-F5344CB8AC3E}">
        <p14:creationId xmlns:p14="http://schemas.microsoft.com/office/powerpoint/2010/main" val="9135995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BD46D-D7AE-0B73-082B-2254F7A5CC31}"/>
              </a:ext>
            </a:extLst>
          </p:cNvPr>
          <p:cNvSpPr>
            <a:spLocks noGrp="1"/>
          </p:cNvSpPr>
          <p:nvPr>
            <p:ph type="title"/>
          </p:nvPr>
        </p:nvSpPr>
        <p:spPr/>
        <p:txBody>
          <a:bodyPr/>
          <a:lstStyle/>
          <a:p>
            <a:r>
              <a:rPr lang="en-US" dirty="0"/>
              <a:t>References</a:t>
            </a:r>
            <a:endParaRPr lang="en-IN" dirty="0"/>
          </a:p>
        </p:txBody>
      </p:sp>
      <p:sp>
        <p:nvSpPr>
          <p:cNvPr id="3" name="Content Placeholder 2">
            <a:extLst>
              <a:ext uri="{FF2B5EF4-FFF2-40B4-BE49-F238E27FC236}">
                <a16:creationId xmlns:a16="http://schemas.microsoft.com/office/drawing/2014/main" id="{D89557F3-7DE7-2FA5-1E9F-17428D0E0FF8}"/>
              </a:ext>
            </a:extLst>
          </p:cNvPr>
          <p:cNvSpPr>
            <a:spLocks noGrp="1"/>
          </p:cNvSpPr>
          <p:nvPr>
            <p:ph idx="1"/>
          </p:nvPr>
        </p:nvSpPr>
        <p:spPr/>
        <p:txBody>
          <a:bodyPr/>
          <a:lstStyle/>
          <a:p>
            <a:r>
              <a:rPr lang="en-IN" dirty="0"/>
              <a:t>https://www.analyticsvidhya.com/blog/2021/05/convolutional-neural-networks-cnn/ https://www.mathworks.com/help/deeplearning/ref/nnet.cnn.layer.convolution2dlay </a:t>
            </a:r>
            <a:r>
              <a:rPr lang="en-IN" dirty="0" err="1"/>
              <a:t>er.html;jsessionid</a:t>
            </a:r>
            <a:r>
              <a:rPr lang="en-IN" dirty="0"/>
              <a:t>=0a7e3bc26fabda07a5032030294b</a:t>
            </a:r>
          </a:p>
          <a:p>
            <a:r>
              <a:rPr lang="en-IN" dirty="0"/>
              <a:t>https://smartinternz.com/externship_dyn/1/artificial-intelligence</a:t>
            </a:r>
          </a:p>
        </p:txBody>
      </p:sp>
    </p:spTree>
    <p:extLst>
      <p:ext uri="{BB962C8B-B14F-4D97-AF65-F5344CB8AC3E}">
        <p14:creationId xmlns:p14="http://schemas.microsoft.com/office/powerpoint/2010/main" val="1879792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EFEB0-BEC5-D208-E42F-F0A67F3B4162}"/>
              </a:ext>
            </a:extLst>
          </p:cNvPr>
          <p:cNvSpPr>
            <a:spLocks noGrp="1"/>
          </p:cNvSpPr>
          <p:nvPr>
            <p:ph type="title"/>
          </p:nvPr>
        </p:nvSpPr>
        <p:spPr/>
        <p:txBody>
          <a:bodyPr/>
          <a:lstStyle/>
          <a:p>
            <a:r>
              <a:rPr lang="en-US" dirty="0"/>
              <a:t>Project Links</a:t>
            </a:r>
            <a:endParaRPr lang="en-IN" dirty="0"/>
          </a:p>
        </p:txBody>
      </p:sp>
      <p:sp>
        <p:nvSpPr>
          <p:cNvPr id="3" name="Content Placeholder 2">
            <a:extLst>
              <a:ext uri="{FF2B5EF4-FFF2-40B4-BE49-F238E27FC236}">
                <a16:creationId xmlns:a16="http://schemas.microsoft.com/office/drawing/2014/main" id="{E143DAF0-5DEF-7C73-5F72-8032B4F26287}"/>
              </a:ext>
            </a:extLst>
          </p:cNvPr>
          <p:cNvSpPr>
            <a:spLocks noGrp="1"/>
          </p:cNvSpPr>
          <p:nvPr>
            <p:ph idx="1"/>
          </p:nvPr>
        </p:nvSpPr>
        <p:spPr/>
        <p:txBody>
          <a:bodyPr/>
          <a:lstStyle/>
          <a:p>
            <a:r>
              <a:rPr lang="en-US" dirty="0" err="1"/>
              <a:t>Github</a:t>
            </a:r>
            <a:r>
              <a:rPr lang="en-US" dirty="0"/>
              <a:t> Link : </a:t>
            </a:r>
            <a:r>
              <a:rPr lang="en-US" dirty="0">
                <a:hlinkClick r:id="rId2"/>
              </a:rPr>
              <a:t>https://github.com/Dileep0509/Classification-ofArrhythmia-by-Using-Deep-Learning-with-2-D-ECG-Spectral-ImageRepresentation</a:t>
            </a:r>
            <a:endParaRPr lang="en-US" dirty="0"/>
          </a:p>
          <a:p>
            <a:r>
              <a:rPr lang="pt-BR" dirty="0"/>
              <a:t>Demo Link: https://youtu.be/u8bpsNchyxQ </a:t>
            </a:r>
            <a:endParaRPr lang="en-IN" dirty="0"/>
          </a:p>
        </p:txBody>
      </p:sp>
    </p:spTree>
    <p:extLst>
      <p:ext uri="{BB962C8B-B14F-4D97-AF65-F5344CB8AC3E}">
        <p14:creationId xmlns:p14="http://schemas.microsoft.com/office/powerpoint/2010/main" val="17685985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A06A4-1741-038D-9BE4-3621098E735C}"/>
              </a:ext>
            </a:extLst>
          </p:cNvPr>
          <p:cNvSpPr>
            <a:spLocks noGrp="1"/>
          </p:cNvSpPr>
          <p:nvPr>
            <p:ph type="title"/>
          </p:nvPr>
        </p:nvSpPr>
        <p:spPr/>
        <p:txBody>
          <a:bodyPr/>
          <a:lstStyle/>
          <a:p>
            <a:r>
              <a:rPr lang="en-US" dirty="0"/>
              <a:t>Conclusion</a:t>
            </a:r>
            <a:endParaRPr lang="en-IN" dirty="0"/>
          </a:p>
        </p:txBody>
      </p:sp>
      <p:sp>
        <p:nvSpPr>
          <p:cNvPr id="3" name="Content Placeholder 2">
            <a:extLst>
              <a:ext uri="{FF2B5EF4-FFF2-40B4-BE49-F238E27FC236}">
                <a16:creationId xmlns:a16="http://schemas.microsoft.com/office/drawing/2014/main" id="{8FFB2B0E-B137-D607-E586-99D29C9778E0}"/>
              </a:ext>
            </a:extLst>
          </p:cNvPr>
          <p:cNvSpPr>
            <a:spLocks noGrp="1"/>
          </p:cNvSpPr>
          <p:nvPr>
            <p:ph idx="1"/>
          </p:nvPr>
        </p:nvSpPr>
        <p:spPr/>
        <p:txBody>
          <a:bodyPr/>
          <a:lstStyle/>
          <a:p>
            <a:r>
              <a:rPr lang="en-US" dirty="0"/>
              <a:t>Cardiovascular disease is a major health problem in today's world. The early diagnosis of cardiac arrhythmia highly relies on the ECG.</a:t>
            </a:r>
          </a:p>
          <a:p>
            <a:r>
              <a:rPr lang="en-US" dirty="0"/>
              <a:t> Unfortunately, the expert level of medical resources is rare, visually identify the ECG signal is challenging and time-consuming.</a:t>
            </a:r>
          </a:p>
          <a:p>
            <a:r>
              <a:rPr lang="en-US" dirty="0"/>
              <a:t>The advantages of the proposed CNN network have been put to evidence.</a:t>
            </a:r>
          </a:p>
          <a:p>
            <a:r>
              <a:rPr lang="en-US" dirty="0"/>
              <a:t> It is endowed with an ability to effectively process the non-filtered dataset with its potential anti-noise features. Besides that, ten-fold cross-validation is implemented in this work to further demonstrate the robustness of the network.</a:t>
            </a:r>
          </a:p>
          <a:p>
            <a:endParaRPr lang="en-IN" dirty="0"/>
          </a:p>
        </p:txBody>
      </p:sp>
    </p:spTree>
    <p:extLst>
      <p:ext uri="{BB962C8B-B14F-4D97-AF65-F5344CB8AC3E}">
        <p14:creationId xmlns:p14="http://schemas.microsoft.com/office/powerpoint/2010/main" val="38495358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25AE478-7536-A320-3A49-685FEF9162A6}"/>
              </a:ext>
            </a:extLst>
          </p:cNvPr>
          <p:cNvSpPr>
            <a:spLocks noGrp="1"/>
          </p:cNvSpPr>
          <p:nvPr>
            <p:ph type="title"/>
          </p:nvPr>
        </p:nvSpPr>
        <p:spPr>
          <a:xfrm>
            <a:off x="842481" y="698644"/>
            <a:ext cx="8431522" cy="2650732"/>
          </a:xfrm>
        </p:spPr>
        <p:txBody>
          <a:bodyPr/>
          <a:lstStyle/>
          <a:p>
            <a:r>
              <a:rPr lang="en-US" dirty="0"/>
              <a:t>                 Thank You</a:t>
            </a:r>
            <a:endParaRPr lang="en-IN" dirty="0"/>
          </a:p>
        </p:txBody>
      </p:sp>
      <p:sp>
        <p:nvSpPr>
          <p:cNvPr id="9" name="Text Placeholder 8">
            <a:extLst>
              <a:ext uri="{FF2B5EF4-FFF2-40B4-BE49-F238E27FC236}">
                <a16:creationId xmlns:a16="http://schemas.microsoft.com/office/drawing/2014/main" id="{34687B71-CAE3-EFE4-D20B-F36A6931748E}"/>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385636512"/>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189</TotalTime>
  <Words>966</Words>
  <Application>Microsoft Office PowerPoint</Application>
  <PresentationFormat>Widescreen</PresentationFormat>
  <Paragraphs>66</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Trebuchet MS</vt:lpstr>
      <vt:lpstr>Wingdings</vt:lpstr>
      <vt:lpstr>Wingdings 3</vt:lpstr>
      <vt:lpstr>Facet</vt:lpstr>
      <vt:lpstr>          Department of Computer Science and Engineering</vt:lpstr>
      <vt:lpstr>Classification Of Arrhythmia by using deep learning with 2-D ECG spectral Image Representation </vt:lpstr>
      <vt:lpstr>Project Description</vt:lpstr>
      <vt:lpstr> Identified Problem</vt:lpstr>
      <vt:lpstr> Proposed Solution</vt:lpstr>
      <vt:lpstr>Role of Deep Learning</vt:lpstr>
      <vt:lpstr>PowerPoint Presentation</vt:lpstr>
      <vt:lpstr>Experimental Investigation</vt:lpstr>
      <vt:lpstr>Project Flow</vt:lpstr>
      <vt:lpstr>Project Structure</vt:lpstr>
      <vt:lpstr>Project Output</vt:lpstr>
      <vt:lpstr>PowerPoint Presentation</vt:lpstr>
      <vt:lpstr>Virtual Internship Certificate</vt:lpstr>
      <vt:lpstr>Future Scope</vt:lpstr>
      <vt:lpstr>References</vt:lpstr>
      <vt:lpstr>Project Links</vt:lpstr>
      <vt:lpstr>Conclusion</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Department of Computer Science and Engineering</dc:title>
  <dc:creator>dileep reddy</dc:creator>
  <cp:lastModifiedBy>dileep reddy</cp:lastModifiedBy>
  <cp:revision>6</cp:revision>
  <dcterms:created xsi:type="dcterms:W3CDTF">2024-01-03T13:05:23Z</dcterms:created>
  <dcterms:modified xsi:type="dcterms:W3CDTF">2024-01-04T02:11:05Z</dcterms:modified>
</cp:coreProperties>
</file>